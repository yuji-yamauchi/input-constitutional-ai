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6858000" cy="9144000"/>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1828800"/>
            <a:ext cx="5760720" cy="2011680"/>
          </a:xfrm>
          <a:prstGeom prst="rect">
            <a:avLst/>
          </a:prstGeom>
          <a:noFill/>
          <a:ln/>
        </p:spPr>
        <p:txBody>
          <a:bodyPr wrap="square" rtlCol="0" anchor="t"/>
          <a:lstStyle/>
          <a:p>
            <a:pPr algn="l" indent="0" marL="0">
              <a:lnSpc>
                <a:spcPct val="130000"/>
              </a:lnSpc>
              <a:buNone/>
            </a:pPr>
            <a:r>
              <a:rPr lang="en-US" sz="3200" b="1" dirty="0">
                <a:solidFill>
                  <a:srgbClr val="FFFFFF"/>
                </a:solidFill>
                <a:latin typeface="Calibri" pitchFamily="34" charset="0"/>
                <a:ea typeface="Calibri" pitchFamily="34" charset="-122"/>
                <a:cs typeface="Calibri" pitchFamily="34" charset="-120"/>
              </a:rPr>
              <a:t>困難性の発生メカニズム</a:t>
            </a:r>
            <a:endParaRPr lang="en-US" sz="3200" dirty="0"/>
          </a:p>
          <a:p>
            <a:pPr algn="l" indent="0" marL="0">
              <a:lnSpc>
                <a:spcPct val="130000"/>
              </a:lnSpc>
              <a:buNone/>
            </a:pPr>
            <a:r>
              <a:rPr lang="en-US" sz="3200" b="1" dirty="0">
                <a:solidFill>
                  <a:srgbClr val="FFFFFF"/>
                </a:solidFill>
                <a:latin typeface="Calibri" pitchFamily="34" charset="0"/>
                <a:ea typeface="Calibri" pitchFamily="34" charset="-122"/>
                <a:cs typeface="Calibri" pitchFamily="34" charset="-120"/>
              </a:rPr>
              <a:t>4分類仮説</a:t>
            </a:r>
            <a:endParaRPr lang="en-US" sz="3200" dirty="0"/>
          </a:p>
        </p:txBody>
      </p:sp>
      <p:sp>
        <p:nvSpPr>
          <p:cNvPr id="4" name="Text 2"/>
          <p:cNvSpPr/>
          <p:nvPr/>
        </p:nvSpPr>
        <p:spPr>
          <a:xfrm>
            <a:off x="548640" y="3931920"/>
            <a:ext cx="5760720" cy="457200"/>
          </a:xfrm>
          <a:prstGeom prst="rect">
            <a:avLst/>
          </a:prstGeom>
          <a:noFill/>
          <a:ln/>
        </p:spPr>
        <p:txBody>
          <a:bodyPr wrap="square" rtlCol="0" anchor="ctr"/>
          <a:lstStyle/>
          <a:p>
            <a:pPr indent="0" marL="0">
              <a:buNone/>
            </a:pPr>
            <a:r>
              <a:rPr lang="en-US" sz="1300" i="1" dirty="0">
                <a:solidFill>
                  <a:srgbClr val="2CB5C4"/>
                </a:solidFill>
                <a:latin typeface="Calibri" pitchFamily="34" charset="0"/>
                <a:ea typeface="Calibri" pitchFamily="34" charset="-122"/>
                <a:cs typeface="Calibri" pitchFamily="34" charset="-120"/>
              </a:rPr>
              <a:t>— エビデンス・反証・リサーチギャップの統合的整理 —</a:t>
            </a:r>
            <a:endParaRPr lang="en-US" sz="1300" dirty="0"/>
          </a:p>
        </p:txBody>
      </p:sp>
      <p:sp>
        <p:nvSpPr>
          <p:cNvPr id="5" name="Shape 3"/>
          <p:cNvSpPr/>
          <p:nvPr/>
        </p:nvSpPr>
        <p:spPr>
          <a:xfrm>
            <a:off x="548640" y="4754880"/>
            <a:ext cx="2286000" cy="27432"/>
          </a:xfrm>
          <a:prstGeom prst="rect">
            <a:avLst/>
          </a:prstGeom>
          <a:solidFill>
            <a:srgbClr val="2196A4"/>
          </a:solidFill>
          <a:ln/>
        </p:spPr>
      </p:sp>
      <p:sp>
        <p:nvSpPr>
          <p:cNvPr id="6" name="Text 4"/>
          <p:cNvSpPr/>
          <p:nvPr/>
        </p:nvSpPr>
        <p:spPr>
          <a:xfrm>
            <a:off x="548640" y="5120640"/>
            <a:ext cx="5760720" cy="365760"/>
          </a:xfrm>
          <a:prstGeom prst="rect">
            <a:avLst/>
          </a:prstGeom>
          <a:noFill/>
          <a:ln/>
        </p:spPr>
        <p:txBody>
          <a:bodyPr wrap="square" rtlCol="0" anchor="ctr"/>
          <a:lstStyle/>
          <a:p>
            <a:pPr indent="0" marL="0">
              <a:buNone/>
            </a:pPr>
            <a:r>
              <a:rPr lang="en-US" sz="1400" b="1" dirty="0">
                <a:solidFill>
                  <a:srgbClr val="D0D8E8"/>
                </a:solidFill>
                <a:latin typeface="Calibri" pitchFamily="34" charset="0"/>
                <a:ea typeface="Calibri" pitchFamily="34" charset="-122"/>
                <a:cs typeface="Calibri" pitchFamily="34" charset="-120"/>
              </a:rPr>
              <a:t>Yuji Yamauchi (Puu)</a:t>
            </a:r>
            <a:endParaRPr lang="en-US" sz="1400" dirty="0"/>
          </a:p>
        </p:txBody>
      </p:sp>
      <p:sp>
        <p:nvSpPr>
          <p:cNvPr id="7" name="Text 5"/>
          <p:cNvSpPr/>
          <p:nvPr/>
        </p:nvSpPr>
        <p:spPr>
          <a:xfrm>
            <a:off x="548640" y="5486400"/>
            <a:ext cx="5760720" cy="320040"/>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障害福祉（就労支援）実務者 ／ 修士・博士課程準備中</a:t>
            </a:r>
            <a:endParaRPr lang="en-US" sz="1100" dirty="0"/>
          </a:p>
        </p:txBody>
      </p:sp>
      <p:sp>
        <p:nvSpPr>
          <p:cNvPr id="8" name="Text 6"/>
          <p:cNvSpPr/>
          <p:nvPr/>
        </p:nvSpPr>
        <p:spPr>
          <a:xfrm>
            <a:off x="548640" y="6035040"/>
            <a:ext cx="5760720" cy="548640"/>
          </a:xfrm>
          <a:prstGeom prst="rect">
            <a:avLst/>
          </a:prstGeom>
          <a:noFill/>
          <a:ln/>
        </p:spPr>
        <p:txBody>
          <a:bodyPr wrap="square" rtlCol="0" anchor="ctr"/>
          <a:lstStyle/>
          <a:p>
            <a:pPr indent="0" marL="0">
              <a:lnSpc>
                <a:spcPct val="140000"/>
              </a:lnSpc>
              <a:buNone/>
            </a:pPr>
            <a:r>
              <a:rPr lang="en-US" sz="900" dirty="0">
                <a:solidFill>
                  <a:srgbClr val="8899AA"/>
                </a:solidFill>
                <a:latin typeface="Calibri" pitchFamily="34" charset="0"/>
                <a:ea typeface="Calibri" pitchFamily="34" charset="-122"/>
                <a:cs typeface="Calibri" pitchFamily="34" charset="-120"/>
              </a:rPr>
              <a:t>文献レビュー統合版：Claude Opus / Gemini Deep Research / ChatGPT Deep Research</a:t>
            </a:r>
            <a:endParaRPr lang="en-US" sz="900" dirty="0"/>
          </a:p>
          <a:p>
            <a:pPr indent="0" marL="0">
              <a:lnSpc>
                <a:spcPct val="140000"/>
              </a:lnSpc>
              <a:buNone/>
            </a:pPr>
            <a:r>
              <a:rPr lang="en-US" sz="900" dirty="0">
                <a:solidFill>
                  <a:srgbClr val="8899AA"/>
                </a:solidFill>
                <a:latin typeface="Calibri" pitchFamily="34" charset="0"/>
                <a:ea typeface="Calibri" pitchFamily="34" charset="-122"/>
                <a:cs typeface="Calibri" pitchFamily="34" charset="-120"/>
              </a:rPr>
              <a:t>ハルシネーションチェック済み｜2025-03-06</a:t>
            </a:r>
            <a:endParaRPr lang="en-US" sz="900" dirty="0"/>
          </a:p>
        </p:txBody>
      </p:sp>
      <p:sp>
        <p:nvSpPr>
          <p:cNvPr id="9" name="Shape 7"/>
          <p:cNvSpPr/>
          <p:nvPr/>
        </p:nvSpPr>
        <p:spPr>
          <a:xfrm>
            <a:off x="0" y="9089136"/>
            <a:ext cx="6858000" cy="54864"/>
          </a:xfrm>
          <a:prstGeom prst="rect">
            <a:avLst/>
          </a:prstGeom>
          <a:solidFill>
            <a:srgbClr val="2196A4"/>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74320"/>
            <a:ext cx="57607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困難性の発生メカニズム 4分類</a:t>
            </a:r>
            <a:endParaRPr lang="en-US" sz="2200" dirty="0"/>
          </a:p>
        </p:txBody>
      </p:sp>
      <p:sp>
        <p:nvSpPr>
          <p:cNvPr id="4" name="Shape 2"/>
          <p:cNvSpPr/>
          <p:nvPr/>
        </p:nvSpPr>
        <p:spPr>
          <a:xfrm>
            <a:off x="548640" y="868680"/>
            <a:ext cx="1645920" cy="22860"/>
          </a:xfrm>
          <a:prstGeom prst="rect">
            <a:avLst/>
          </a:prstGeom>
          <a:solidFill>
            <a:srgbClr val="2196A4"/>
          </a:solidFill>
          <a:ln/>
        </p:spPr>
      </p:sp>
      <p:sp>
        <p:nvSpPr>
          <p:cNvPr id="5" name="Shape 3"/>
          <p:cNvSpPr/>
          <p:nvPr/>
        </p:nvSpPr>
        <p:spPr>
          <a:xfrm>
            <a:off x="548640" y="1188720"/>
            <a:ext cx="5760720" cy="100584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6" name="Text 4"/>
          <p:cNvSpPr/>
          <p:nvPr/>
        </p:nvSpPr>
        <p:spPr>
          <a:xfrm>
            <a:off x="731520" y="1280160"/>
            <a:ext cx="5394960" cy="822960"/>
          </a:xfrm>
          <a:prstGeom prst="rect">
            <a:avLst/>
          </a:prstGeom>
          <a:noFill/>
          <a:ln/>
        </p:spPr>
        <p:txBody>
          <a:bodyPr wrap="square" rtlCol="0" anchor="ctr"/>
          <a:lstStyle/>
          <a:p>
            <a:pPr indent="0" marL="0">
              <a:lnSpc>
                <a:spcPct val="150000"/>
              </a:lnSpc>
              <a:buNone/>
            </a:pPr>
            <a:r>
              <a:rPr lang="en-US" sz="1100" dirty="0">
                <a:solidFill>
                  <a:srgbClr val="D0D8E8"/>
                </a:solidFill>
                <a:latin typeface="Calibri" pitchFamily="34" charset="0"/>
                <a:ea typeface="Calibri" pitchFamily="34" charset="-122"/>
                <a:cs typeface="Calibri" pitchFamily="34" charset="-120"/>
              </a:rPr>
              <a:t>中核仮説：当事者の「困難性」は診断名から想定される単一の病因ではなく、複数の発生メカニズムが絡み合って表出している。現行制度は発生メカニズムの違いに応じた介入分岐を組み込んでいない。</a:t>
            </a:r>
            <a:endParaRPr lang="en-US" sz="1100" dirty="0"/>
          </a:p>
        </p:txBody>
      </p:sp>
      <p:sp>
        <p:nvSpPr>
          <p:cNvPr id="7" name="Shape 5"/>
          <p:cNvSpPr/>
          <p:nvPr/>
        </p:nvSpPr>
        <p:spPr>
          <a:xfrm>
            <a:off x="548640" y="256032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8" name="Shape 6"/>
          <p:cNvSpPr/>
          <p:nvPr/>
        </p:nvSpPr>
        <p:spPr>
          <a:xfrm>
            <a:off x="548640" y="2560320"/>
            <a:ext cx="64008" cy="1097280"/>
          </a:xfrm>
          <a:prstGeom prst="rect">
            <a:avLst/>
          </a:prstGeom>
          <a:solidFill>
            <a:srgbClr val="1565C0"/>
          </a:solidFill>
          <a:ln/>
        </p:spPr>
      </p:sp>
      <p:sp>
        <p:nvSpPr>
          <p:cNvPr id="9" name="Shape 7"/>
          <p:cNvSpPr/>
          <p:nvPr/>
        </p:nvSpPr>
        <p:spPr>
          <a:xfrm>
            <a:off x="822960" y="2697480"/>
            <a:ext cx="502920" cy="502920"/>
          </a:xfrm>
          <a:prstGeom prst="ellipse">
            <a:avLst/>
          </a:prstGeom>
          <a:solidFill>
            <a:srgbClr val="1565C0"/>
          </a:solidFill>
          <a:ln/>
        </p:spPr>
      </p:sp>
      <p:sp>
        <p:nvSpPr>
          <p:cNvPr id="10" name="Text 8"/>
          <p:cNvSpPr/>
          <p:nvPr/>
        </p:nvSpPr>
        <p:spPr>
          <a:xfrm>
            <a:off x="822960" y="2697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①</a:t>
            </a:r>
            <a:endParaRPr lang="en-US" sz="1600" dirty="0"/>
          </a:p>
        </p:txBody>
      </p:sp>
      <p:sp>
        <p:nvSpPr>
          <p:cNvPr id="11" name="Text 9"/>
          <p:cNvSpPr/>
          <p:nvPr/>
        </p:nvSpPr>
        <p:spPr>
          <a:xfrm>
            <a:off x="1508760" y="2651760"/>
            <a:ext cx="46177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先天的器質的困難性</a:t>
            </a:r>
            <a:endParaRPr lang="en-US" sz="1400" dirty="0"/>
          </a:p>
        </p:txBody>
      </p:sp>
      <p:sp>
        <p:nvSpPr>
          <p:cNvPr id="12" name="Text 10"/>
          <p:cNvSpPr/>
          <p:nvPr/>
        </p:nvSpPr>
        <p:spPr>
          <a:xfrm>
            <a:off x="1508760" y="3017520"/>
            <a:ext cx="4617720" cy="548640"/>
          </a:xfrm>
          <a:prstGeom prst="rect">
            <a:avLst/>
          </a:prstGeom>
          <a:noFill/>
          <a:ln/>
        </p:spPr>
        <p:txBody>
          <a:bodyPr wrap="square" lIns="0" tIns="0" rIns="0" bIns="0" rtlCol="0" anchor="ctr"/>
          <a:lstStyle/>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遺伝的・生物学的基盤に由来する困難性</a:t>
            </a:r>
            <a:endParaRPr lang="en-US" sz="1000" dirty="0"/>
          </a:p>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（神経発達特性、知的能力の偏り）</a:t>
            </a:r>
            <a:endParaRPr lang="en-US" sz="1000" dirty="0"/>
          </a:p>
        </p:txBody>
      </p:sp>
      <p:sp>
        <p:nvSpPr>
          <p:cNvPr id="13" name="Shape 11"/>
          <p:cNvSpPr/>
          <p:nvPr/>
        </p:nvSpPr>
        <p:spPr>
          <a:xfrm>
            <a:off x="548640" y="393192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4" name="Shape 12"/>
          <p:cNvSpPr/>
          <p:nvPr/>
        </p:nvSpPr>
        <p:spPr>
          <a:xfrm>
            <a:off x="548640" y="3931920"/>
            <a:ext cx="64008" cy="1097280"/>
          </a:xfrm>
          <a:prstGeom prst="rect">
            <a:avLst/>
          </a:prstGeom>
          <a:solidFill>
            <a:srgbClr val="2E7D32"/>
          </a:solidFill>
          <a:ln/>
        </p:spPr>
      </p:sp>
      <p:sp>
        <p:nvSpPr>
          <p:cNvPr id="15" name="Shape 13"/>
          <p:cNvSpPr/>
          <p:nvPr/>
        </p:nvSpPr>
        <p:spPr>
          <a:xfrm>
            <a:off x="822960" y="4069080"/>
            <a:ext cx="502920" cy="502920"/>
          </a:xfrm>
          <a:prstGeom prst="ellipse">
            <a:avLst/>
          </a:prstGeom>
          <a:solidFill>
            <a:srgbClr val="2E7D32"/>
          </a:solidFill>
          <a:ln/>
        </p:spPr>
      </p:sp>
      <p:sp>
        <p:nvSpPr>
          <p:cNvPr id="16" name="Text 14"/>
          <p:cNvSpPr/>
          <p:nvPr/>
        </p:nvSpPr>
        <p:spPr>
          <a:xfrm>
            <a:off x="82296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②</a:t>
            </a:r>
            <a:endParaRPr lang="en-US" sz="1600" dirty="0"/>
          </a:p>
        </p:txBody>
      </p:sp>
      <p:sp>
        <p:nvSpPr>
          <p:cNvPr id="17" name="Text 15"/>
          <p:cNvSpPr/>
          <p:nvPr/>
        </p:nvSpPr>
        <p:spPr>
          <a:xfrm>
            <a:off x="1508760" y="4023360"/>
            <a:ext cx="46177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ACEs等の環境による困難性</a:t>
            </a:r>
            <a:endParaRPr lang="en-US" sz="1400" dirty="0"/>
          </a:p>
        </p:txBody>
      </p:sp>
      <p:sp>
        <p:nvSpPr>
          <p:cNvPr id="18" name="Text 16"/>
          <p:cNvSpPr/>
          <p:nvPr/>
        </p:nvSpPr>
        <p:spPr>
          <a:xfrm>
            <a:off x="1508760" y="4389120"/>
            <a:ext cx="4617720" cy="548640"/>
          </a:xfrm>
          <a:prstGeom prst="rect">
            <a:avLst/>
          </a:prstGeom>
          <a:noFill/>
          <a:ln/>
        </p:spPr>
        <p:txBody>
          <a:bodyPr wrap="square" lIns="0" tIns="0" rIns="0" bIns="0" rtlCol="0" anchor="ctr"/>
          <a:lstStyle/>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逆境的小児期体験など</a:t>
            </a:r>
            <a:endParaRPr lang="en-US" sz="1000" dirty="0"/>
          </a:p>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環境側から直接生じた困難性</a:t>
            </a:r>
            <a:endParaRPr lang="en-US" sz="1000" dirty="0"/>
          </a:p>
        </p:txBody>
      </p:sp>
      <p:sp>
        <p:nvSpPr>
          <p:cNvPr id="19" name="Shape 17"/>
          <p:cNvSpPr/>
          <p:nvPr/>
        </p:nvSpPr>
        <p:spPr>
          <a:xfrm>
            <a:off x="548640" y="530352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20" name="Shape 18"/>
          <p:cNvSpPr/>
          <p:nvPr/>
        </p:nvSpPr>
        <p:spPr>
          <a:xfrm>
            <a:off x="548640" y="5303520"/>
            <a:ext cx="64008" cy="1097280"/>
          </a:xfrm>
          <a:prstGeom prst="rect">
            <a:avLst/>
          </a:prstGeom>
          <a:solidFill>
            <a:srgbClr val="E65100"/>
          </a:solidFill>
          <a:ln/>
        </p:spPr>
      </p:sp>
      <p:sp>
        <p:nvSpPr>
          <p:cNvPr id="21" name="Shape 19"/>
          <p:cNvSpPr/>
          <p:nvPr/>
        </p:nvSpPr>
        <p:spPr>
          <a:xfrm>
            <a:off x="822960" y="5440680"/>
            <a:ext cx="502920" cy="502920"/>
          </a:xfrm>
          <a:prstGeom prst="ellipse">
            <a:avLst/>
          </a:prstGeom>
          <a:solidFill>
            <a:srgbClr val="E65100"/>
          </a:solidFill>
          <a:ln/>
        </p:spPr>
      </p:sp>
      <p:sp>
        <p:nvSpPr>
          <p:cNvPr id="22" name="Text 20"/>
          <p:cNvSpPr/>
          <p:nvPr/>
        </p:nvSpPr>
        <p:spPr>
          <a:xfrm>
            <a:off x="822960" y="5440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③</a:t>
            </a:r>
            <a:endParaRPr lang="en-US" sz="1600" dirty="0"/>
          </a:p>
        </p:txBody>
      </p:sp>
      <p:sp>
        <p:nvSpPr>
          <p:cNvPr id="23" name="Text 21"/>
          <p:cNvSpPr/>
          <p:nvPr/>
        </p:nvSpPr>
        <p:spPr>
          <a:xfrm>
            <a:off x="1508760" y="5394960"/>
            <a:ext cx="46177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器質×環境の相互作用による困難性</a:t>
            </a:r>
            <a:endParaRPr lang="en-US" sz="1400" dirty="0"/>
          </a:p>
        </p:txBody>
      </p:sp>
      <p:sp>
        <p:nvSpPr>
          <p:cNvPr id="24" name="Text 22"/>
          <p:cNvSpPr/>
          <p:nvPr/>
        </p:nvSpPr>
        <p:spPr>
          <a:xfrm>
            <a:off x="1508760" y="5760720"/>
            <a:ext cx="4617720" cy="548640"/>
          </a:xfrm>
          <a:prstGeom prst="rect">
            <a:avLst/>
          </a:prstGeom>
          <a:noFill/>
          <a:ln/>
        </p:spPr>
        <p:txBody>
          <a:bodyPr wrap="square" lIns="0" tIns="0" rIns="0" bIns="0" rtlCol="0" anchor="ctr"/>
          <a:lstStyle/>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軽微な先天的特性が環境刺激の主観的インパクトを増幅</a:t>
            </a:r>
            <a:endParaRPr lang="en-US" sz="1000" dirty="0"/>
          </a:p>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 客観的に問題ない環境でもACEs相当の困難性が蓄積</a:t>
            </a:r>
            <a:endParaRPr lang="en-US" sz="1000" dirty="0"/>
          </a:p>
        </p:txBody>
      </p:sp>
      <p:sp>
        <p:nvSpPr>
          <p:cNvPr id="25" name="Shape 23"/>
          <p:cNvSpPr/>
          <p:nvPr/>
        </p:nvSpPr>
        <p:spPr>
          <a:xfrm>
            <a:off x="548640" y="667512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26" name="Shape 24"/>
          <p:cNvSpPr/>
          <p:nvPr/>
        </p:nvSpPr>
        <p:spPr>
          <a:xfrm>
            <a:off x="548640" y="6675120"/>
            <a:ext cx="64008" cy="1097280"/>
          </a:xfrm>
          <a:prstGeom prst="rect">
            <a:avLst/>
          </a:prstGeom>
          <a:solidFill>
            <a:srgbClr val="6A1B9A"/>
          </a:solidFill>
          <a:ln/>
        </p:spPr>
      </p:sp>
      <p:sp>
        <p:nvSpPr>
          <p:cNvPr id="27" name="Shape 25"/>
          <p:cNvSpPr/>
          <p:nvPr/>
        </p:nvSpPr>
        <p:spPr>
          <a:xfrm>
            <a:off x="822960" y="6812280"/>
            <a:ext cx="502920" cy="502920"/>
          </a:xfrm>
          <a:prstGeom prst="ellipse">
            <a:avLst/>
          </a:prstGeom>
          <a:solidFill>
            <a:srgbClr val="6A1B9A"/>
          </a:solidFill>
          <a:ln/>
        </p:spPr>
      </p:sp>
      <p:sp>
        <p:nvSpPr>
          <p:cNvPr id="28" name="Text 26"/>
          <p:cNvSpPr/>
          <p:nvPr/>
        </p:nvSpPr>
        <p:spPr>
          <a:xfrm>
            <a:off x="822960" y="6812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④</a:t>
            </a:r>
            <a:endParaRPr lang="en-US" sz="1600" dirty="0"/>
          </a:p>
        </p:txBody>
      </p:sp>
      <p:sp>
        <p:nvSpPr>
          <p:cNvPr id="29" name="Text 27"/>
          <p:cNvSpPr/>
          <p:nvPr/>
        </p:nvSpPr>
        <p:spPr>
          <a:xfrm>
            <a:off x="1508760" y="6766560"/>
            <a:ext cx="46177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医原性困難性</a:t>
            </a:r>
            <a:endParaRPr lang="en-US" sz="1400" dirty="0"/>
          </a:p>
        </p:txBody>
      </p:sp>
      <p:sp>
        <p:nvSpPr>
          <p:cNvPr id="30" name="Text 28"/>
          <p:cNvSpPr/>
          <p:nvPr/>
        </p:nvSpPr>
        <p:spPr>
          <a:xfrm>
            <a:off x="1508760" y="7132320"/>
            <a:ext cx="4617720" cy="548640"/>
          </a:xfrm>
          <a:prstGeom prst="rect">
            <a:avLst/>
          </a:prstGeom>
          <a:noFill/>
          <a:ln/>
        </p:spPr>
        <p:txBody>
          <a:bodyPr wrap="square" lIns="0" tIns="0" rIns="0" bIns="0" rtlCol="0" anchor="ctr"/>
          <a:lstStyle/>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処方薬の副作用、誤帰属に基づく不適切な治療</a:t>
            </a:r>
            <a:endParaRPr lang="en-US" sz="1000" dirty="0"/>
          </a:p>
          <a:p>
            <a:pPr indent="0" marL="0">
              <a:lnSpc>
                <a:spcPct val="140000"/>
              </a:lnSpc>
              <a:buNone/>
            </a:pPr>
            <a:r>
              <a:rPr lang="en-US" sz="1000" dirty="0">
                <a:solidFill>
                  <a:srgbClr val="8899AA"/>
                </a:solidFill>
                <a:latin typeface="Calibri" pitchFamily="34" charset="0"/>
                <a:ea typeface="Calibri" pitchFamily="34" charset="-122"/>
                <a:cs typeface="Calibri" pitchFamily="34" charset="-120"/>
              </a:rPr>
              <a:t>によって生成された困難性</a:t>
            </a:r>
            <a:endParaRPr lang="en-US" sz="1000" dirty="0"/>
          </a:p>
        </p:txBody>
      </p:sp>
      <p:sp>
        <p:nvSpPr>
          <p:cNvPr id="31" name="Text 29"/>
          <p:cNvSpPr/>
          <p:nvPr/>
        </p:nvSpPr>
        <p:spPr>
          <a:xfrm>
            <a:off x="548640" y="8046720"/>
            <a:ext cx="5760720" cy="457200"/>
          </a:xfrm>
          <a:prstGeom prst="rect">
            <a:avLst/>
          </a:prstGeom>
          <a:noFill/>
          <a:ln/>
        </p:spPr>
        <p:txBody>
          <a:bodyPr wrap="square" rtlCol="0" anchor="ctr"/>
          <a:lstStyle/>
          <a:p>
            <a:pPr indent="0" marL="0">
              <a:buNone/>
            </a:pPr>
            <a:r>
              <a:rPr lang="en-US" sz="900" i="1" dirty="0">
                <a:solidFill>
                  <a:srgbClr val="E8915A"/>
                </a:solidFill>
                <a:latin typeface="Calibri" pitchFamily="34" charset="0"/>
                <a:ea typeface="Calibri" pitchFamily="34" charset="-122"/>
                <a:cs typeface="Calibri" pitchFamily="34" charset="-120"/>
              </a:rPr>
              <a:t>※ ③が本研究の最重要仮説。統一的構成概念としての操作化は未達成（最大のリサーチギャップ）</a:t>
            </a:r>
            <a:endParaRPr lang="en-US" sz="900" dirty="0"/>
          </a:p>
        </p:txBody>
      </p:sp>
      <p:sp>
        <p:nvSpPr>
          <p:cNvPr id="32" name="Shape 30"/>
          <p:cNvSpPr/>
          <p:nvPr/>
        </p:nvSpPr>
        <p:spPr>
          <a:xfrm>
            <a:off x="0" y="9089136"/>
            <a:ext cx="6858000" cy="54864"/>
          </a:xfrm>
          <a:prstGeom prst="rect">
            <a:avLst/>
          </a:prstGeom>
          <a:solidFill>
            <a:srgbClr val="2196A4"/>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914400" cy="320040"/>
          </a:xfrm>
          <a:prstGeom prst="rect">
            <a:avLst/>
          </a:prstGeom>
          <a:solidFill>
            <a:srgbClr val="2196A4"/>
          </a:solid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領域A</a:t>
            </a:r>
            <a:endParaRPr lang="en-US" sz="1200" dirty="0"/>
          </a:p>
        </p:txBody>
      </p:sp>
      <p:sp>
        <p:nvSpPr>
          <p:cNvPr id="4" name="Text 2"/>
          <p:cNvSpPr/>
          <p:nvPr/>
        </p:nvSpPr>
        <p:spPr>
          <a:xfrm>
            <a:off x="1645920" y="182880"/>
            <a:ext cx="46634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診断体系はメカニズムではなく記述によって分類している</a:t>
            </a:r>
            <a:endParaRPr lang="en-US" sz="1600" dirty="0"/>
          </a:p>
        </p:txBody>
      </p:sp>
      <p:sp>
        <p:nvSpPr>
          <p:cNvPr id="5" name="Shape 3"/>
          <p:cNvSpPr/>
          <p:nvPr/>
        </p:nvSpPr>
        <p:spPr>
          <a:xfrm>
            <a:off x="548640" y="685800"/>
            <a:ext cx="1645920" cy="22860"/>
          </a:xfrm>
          <a:prstGeom prst="rect">
            <a:avLst/>
          </a:prstGeom>
          <a:solidFill>
            <a:srgbClr val="2196A4"/>
          </a:solidFill>
          <a:ln/>
        </p:spPr>
      </p:sp>
      <p:sp>
        <p:nvSpPr>
          <p:cNvPr id="6" name="Shape 4"/>
          <p:cNvSpPr/>
          <p:nvPr/>
        </p:nvSpPr>
        <p:spPr>
          <a:xfrm>
            <a:off x="548640" y="1005840"/>
            <a:ext cx="5760720" cy="29260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7" name="Shape 5"/>
          <p:cNvSpPr/>
          <p:nvPr/>
        </p:nvSpPr>
        <p:spPr>
          <a:xfrm>
            <a:off x="548640" y="1005840"/>
            <a:ext cx="64008" cy="2926080"/>
          </a:xfrm>
          <a:prstGeom prst="rect">
            <a:avLst/>
          </a:prstGeom>
          <a:solidFill>
            <a:srgbClr val="4CAF7D"/>
          </a:solidFill>
          <a:ln/>
        </p:spPr>
      </p:sp>
      <p:sp>
        <p:nvSpPr>
          <p:cNvPr id="8" name="Text 6"/>
          <p:cNvSpPr/>
          <p:nvPr/>
        </p:nvSpPr>
        <p:spPr>
          <a:xfrm>
            <a:off x="822960" y="1051560"/>
            <a:ext cx="2743200" cy="320040"/>
          </a:xfrm>
          <a:prstGeom prst="rect">
            <a:avLst/>
          </a:prstGeom>
          <a:noFill/>
          <a:ln/>
        </p:spPr>
        <p:txBody>
          <a:bodyPr wrap="square" lIns="0" tIns="0" rIns="0" bIns="0" rtlCol="0" anchor="ctr"/>
          <a:lstStyle/>
          <a:p>
            <a:pPr indent="0" marL="0">
              <a:buNone/>
            </a:pPr>
            <a:r>
              <a:rPr lang="en-US" sz="1300" b="1" dirty="0">
                <a:solidFill>
                  <a:srgbClr val="4CAF7D"/>
                </a:solidFill>
                <a:latin typeface="Calibri" pitchFamily="34" charset="0"/>
                <a:ea typeface="Calibri" pitchFamily="34" charset="-122"/>
                <a:cs typeface="Calibri" pitchFamily="34" charset="-120"/>
              </a:rPr>
              <a:t>支持するエビデンス</a:t>
            </a:r>
            <a:endParaRPr lang="en-US" sz="1300" dirty="0"/>
          </a:p>
        </p:txBody>
      </p:sp>
      <p:sp>
        <p:nvSpPr>
          <p:cNvPr id="9" name="Text 7"/>
          <p:cNvSpPr/>
          <p:nvPr/>
        </p:nvSpPr>
        <p:spPr>
          <a:xfrm>
            <a:off x="822960" y="1417320"/>
            <a:ext cx="5303520" cy="2423160"/>
          </a:xfrm>
          <a:prstGeom prst="rect">
            <a:avLst/>
          </a:prstGeom>
          <a:noFill/>
          <a:ln/>
        </p:spPr>
        <p:txBody>
          <a:bodyPr wrap="square" rtlCol="0" anchor="t"/>
          <a:lstStyle/>
          <a:p>
            <a:pPr indent="0" marL="0">
              <a:lnSpc>
                <a:spcPct val="120000"/>
              </a:lnSpc>
              <a:buNone/>
            </a:pPr>
            <a:r>
              <a:rPr lang="en-US" sz="1000" b="1" dirty="0">
                <a:solidFill>
                  <a:srgbClr val="000000"/>
                </a:solidFill>
              </a:rPr>
              <a:t>等結果性・多結果性 </a:t>
            </a:r>
            <a:pPr indent="0" marL="0">
              <a:lnSpc>
                <a:spcPct val="120000"/>
              </a:lnSpc>
              <a:buNone/>
            </a:pPr>
            <a:r>
              <a:rPr lang="en-US" sz="900" dirty="0">
                <a:solidFill>
                  <a:srgbClr val="8899AA"/>
                </a:solidFill>
              </a:rPr>
              <a:t>(Cicchetti &amp; Rogosch, 1996)</a:t>
            </a:r>
            <a:endParaRPr lang="en-US" sz="1000" dirty="0"/>
          </a:p>
          <a:p>
            <a:pPr indent="0" marL="0">
              <a:lnSpc>
                <a:spcPct val="120000"/>
              </a:lnSpc>
              <a:buNone/>
            </a:pPr>
            <a:r>
              <a:rPr lang="en-US" sz="1000" dirty="0">
                <a:solidFill>
                  <a:srgbClr val="D0D8E8"/>
                </a:solidFill>
              </a:rPr>
              <a:t>異なる経路から同一の結果、同一条件から異なる結果が生じうる</a:t>
            </a:r>
            <a:endParaRPr lang="en-US" sz="1000" dirty="0"/>
          </a:p>
          <a:p>
            <a:pPr indent="0" marL="0">
              <a:lnSpc>
                <a:spcPct val="120000"/>
              </a:lnSpc>
              <a:buNone/>
            </a:pPr>
            <a:endParaRPr lang="en-US" sz="1000" dirty="0"/>
          </a:p>
          <a:p>
            <a:pPr indent="0" marL="0">
              <a:lnSpc>
                <a:spcPct val="120000"/>
              </a:lnSpc>
              <a:buNone/>
            </a:pPr>
            <a:r>
              <a:rPr lang="en-US" sz="1000" b="1" dirty="0">
                <a:solidFill>
                  <a:srgbClr val="000000"/>
                </a:solidFill>
              </a:rPr>
              <a:t>MDD内の1,030固有プロファイル </a:t>
            </a:r>
            <a:pPr indent="0" marL="0">
              <a:lnSpc>
                <a:spcPct val="120000"/>
              </a:lnSpc>
              <a:buNone/>
            </a:pPr>
            <a:r>
              <a:rPr lang="en-US" sz="900" dirty="0">
                <a:solidFill>
                  <a:srgbClr val="8899AA"/>
                </a:solidFill>
              </a:rPr>
              <a:t>(Fried &amp; Nesse, 2015, STAR*D n=3,703)</a:t>
            </a:r>
            <a:endParaRPr lang="en-US" sz="1000" dirty="0"/>
          </a:p>
          <a:p>
            <a:pPr indent="0" marL="0">
              <a:lnSpc>
                <a:spcPct val="120000"/>
              </a:lnSpc>
              <a:buNone/>
            </a:pPr>
            <a:r>
              <a:rPr lang="en-US" sz="1000" dirty="0">
                <a:solidFill>
                  <a:srgbClr val="D0D8E8"/>
                </a:solidFill>
              </a:rPr>
              <a:t>同一診断でも症状を1つも共有しない可能性</a:t>
            </a:r>
            <a:endParaRPr lang="en-US" sz="1000" dirty="0"/>
          </a:p>
          <a:p>
            <a:pPr indent="0" marL="0">
              <a:lnSpc>
                <a:spcPct val="120000"/>
              </a:lnSpc>
              <a:buNone/>
            </a:pPr>
            <a:endParaRPr lang="en-US" sz="1000" dirty="0"/>
          </a:p>
          <a:p>
            <a:pPr indent="0" marL="0">
              <a:lnSpc>
                <a:spcPct val="120000"/>
              </a:lnSpc>
              <a:buNone/>
            </a:pPr>
            <a:r>
              <a:rPr lang="en-US" sz="1000" b="1" dirty="0">
                <a:solidFill>
                  <a:srgbClr val="000000"/>
                </a:solidFill>
              </a:rPr>
              <a:t>PGCゲノム研究 </a:t>
            </a:r>
            <a:pPr indent="0" marL="0">
              <a:lnSpc>
                <a:spcPct val="120000"/>
              </a:lnSpc>
              <a:buNone/>
            </a:pPr>
            <a:r>
              <a:rPr lang="en-US" sz="900" dirty="0">
                <a:solidFill>
                  <a:srgbClr val="8899AA"/>
                </a:solidFill>
              </a:rPr>
              <a:t>(2013/2024, Lancet/Nature)</a:t>
            </a:r>
            <a:endParaRPr lang="en-US" sz="1000" dirty="0"/>
          </a:p>
          <a:p>
            <a:pPr indent="0" marL="0">
              <a:lnSpc>
                <a:spcPct val="120000"/>
              </a:lnSpc>
              <a:buNone/>
            </a:pPr>
            <a:r>
              <a:rPr lang="en-US" sz="1000" dirty="0">
                <a:solidFill>
                  <a:srgbClr val="D0D8E8"/>
                </a:solidFill>
              </a:rPr>
              <a:t>5障害横断の遺伝的相関、238多面発現的座位、90%が診断横断</a:t>
            </a:r>
            <a:endParaRPr lang="en-US" sz="1000" dirty="0"/>
          </a:p>
          <a:p>
            <a:pPr indent="0" marL="0">
              <a:lnSpc>
                <a:spcPct val="120000"/>
              </a:lnSpc>
              <a:buNone/>
            </a:pPr>
            <a:endParaRPr lang="en-US" sz="1000" dirty="0"/>
          </a:p>
          <a:p>
            <a:pPr indent="0" marL="0">
              <a:lnSpc>
                <a:spcPct val="120000"/>
              </a:lnSpc>
              <a:buNone/>
            </a:pPr>
            <a:r>
              <a:rPr lang="en-US" sz="1000" b="1" dirty="0">
                <a:solidFill>
                  <a:srgbClr val="000000"/>
                </a:solidFill>
              </a:rPr>
              <a:t>p因子 </a:t>
            </a:r>
            <a:pPr indent="0" marL="0">
              <a:lnSpc>
                <a:spcPct val="120000"/>
              </a:lnSpc>
              <a:buNone/>
            </a:pPr>
            <a:r>
              <a:rPr lang="en-US" sz="900" dirty="0">
                <a:solidFill>
                  <a:srgbClr val="8899AA"/>
                </a:solidFill>
              </a:rPr>
              <a:t>(Caspi et al., 2014, ダニーデン研究)</a:t>
            </a:r>
            <a:endParaRPr lang="en-US" sz="1000" dirty="0"/>
          </a:p>
          <a:p>
            <a:pPr indent="0" marL="0">
              <a:lnSpc>
                <a:spcPct val="120000"/>
              </a:lnSpc>
              <a:buNone/>
            </a:pPr>
            <a:r>
              <a:rPr lang="en-US" sz="1000" dirty="0">
                <a:solidFill>
                  <a:srgbClr val="D0D8E8"/>
                </a:solidFill>
              </a:rPr>
              <a:t>一般精神病理学次元。50%の法則：ある障害基準を満たす人の半数が別の障害も該当</a:t>
            </a:r>
            <a:endParaRPr lang="en-US" sz="1000" dirty="0"/>
          </a:p>
          <a:p>
            <a:pPr indent="0" marL="0">
              <a:lnSpc>
                <a:spcPct val="120000"/>
              </a:lnSpc>
              <a:buNone/>
            </a:pPr>
            <a:endParaRPr lang="en-US" sz="1000" dirty="0"/>
          </a:p>
          <a:p>
            <a:pPr indent="0" marL="0">
              <a:lnSpc>
                <a:spcPct val="120000"/>
              </a:lnSpc>
              <a:buNone/>
            </a:pPr>
            <a:r>
              <a:rPr lang="en-US" sz="1000" b="1" dirty="0">
                <a:solidFill>
                  <a:srgbClr val="000000"/>
                </a:solidFill>
              </a:rPr>
              <a:t>DSMの実体化 </a:t>
            </a:r>
            <a:pPr indent="0" marL="0">
              <a:lnSpc>
                <a:spcPct val="120000"/>
              </a:lnSpc>
              <a:buNone/>
            </a:pPr>
            <a:r>
              <a:rPr lang="en-US" sz="900" dirty="0">
                <a:solidFill>
                  <a:srgbClr val="8899AA"/>
                </a:solidFill>
              </a:rPr>
              <a:t>(Hyman, 2010; Kendell &amp; Jablensky, 2003)</a:t>
            </a:r>
            <a:endParaRPr lang="en-US" sz="1000" dirty="0"/>
          </a:p>
          <a:p>
            <a:pPr indent="0" marL="0">
              <a:lnSpc>
                <a:spcPct val="120000"/>
              </a:lnSpc>
              <a:buNone/>
            </a:pPr>
            <a:r>
              <a:rPr lang="en-US" sz="1000" dirty="0">
                <a:solidFill>
                  <a:srgbClr val="D0D8E8"/>
                </a:solidFill>
              </a:rPr>
              <a:t>操作的基準が疾患実体と混同。妥当性と有用性の区別の重要性</a:t>
            </a:r>
            <a:endParaRPr lang="en-US" sz="1000" dirty="0"/>
          </a:p>
        </p:txBody>
      </p:sp>
      <p:sp>
        <p:nvSpPr>
          <p:cNvPr id="10" name="Shape 8"/>
          <p:cNvSpPr/>
          <p:nvPr/>
        </p:nvSpPr>
        <p:spPr>
          <a:xfrm>
            <a:off x="548640" y="4206240"/>
            <a:ext cx="5760720" cy="128016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1" name="Shape 9"/>
          <p:cNvSpPr/>
          <p:nvPr/>
        </p:nvSpPr>
        <p:spPr>
          <a:xfrm>
            <a:off x="548640" y="4206240"/>
            <a:ext cx="64008" cy="1280160"/>
          </a:xfrm>
          <a:prstGeom prst="rect">
            <a:avLst/>
          </a:prstGeom>
          <a:solidFill>
            <a:srgbClr val="2CB5C4"/>
          </a:solidFill>
          <a:ln/>
        </p:spPr>
      </p:sp>
      <p:sp>
        <p:nvSpPr>
          <p:cNvPr id="12" name="Text 10"/>
          <p:cNvSpPr/>
          <p:nvPr/>
        </p:nvSpPr>
        <p:spPr>
          <a:xfrm>
            <a:off x="822960" y="4251960"/>
            <a:ext cx="2743200" cy="320040"/>
          </a:xfrm>
          <a:prstGeom prst="rect">
            <a:avLst/>
          </a:prstGeom>
          <a:noFill/>
          <a:ln/>
        </p:spPr>
        <p:txBody>
          <a:bodyPr wrap="square" lIns="0" tIns="0" rIns="0" bIns="0" rtlCol="0" anchor="ctr"/>
          <a:lstStyle/>
          <a:p>
            <a:pPr indent="0" marL="0">
              <a:buNone/>
            </a:pPr>
            <a:r>
              <a:rPr lang="en-US" sz="1300" b="1" dirty="0">
                <a:solidFill>
                  <a:srgbClr val="2CB5C4"/>
                </a:solidFill>
                <a:latin typeface="Calibri" pitchFamily="34" charset="0"/>
                <a:ea typeface="Calibri" pitchFamily="34" charset="-122"/>
                <a:cs typeface="Calibri" pitchFamily="34" charset="-120"/>
              </a:rPr>
              <a:t>メカニズム代替案</a:t>
            </a:r>
            <a:endParaRPr lang="en-US" sz="1300" dirty="0"/>
          </a:p>
        </p:txBody>
      </p:sp>
      <p:sp>
        <p:nvSpPr>
          <p:cNvPr id="13" name="Text 11"/>
          <p:cNvSpPr/>
          <p:nvPr/>
        </p:nvSpPr>
        <p:spPr>
          <a:xfrm>
            <a:off x="822960" y="4617720"/>
            <a:ext cx="5303520" cy="777240"/>
          </a:xfrm>
          <a:prstGeom prst="rect">
            <a:avLst/>
          </a:prstGeom>
          <a:noFill/>
          <a:ln/>
        </p:spPr>
        <p:txBody>
          <a:bodyPr wrap="square" rtlCol="0" anchor="t"/>
          <a:lstStyle/>
          <a:p>
            <a:pPr indent="0" marL="0">
              <a:lnSpc>
                <a:spcPct val="130000"/>
              </a:lnSpc>
              <a:buNone/>
            </a:pPr>
            <a:r>
              <a:rPr lang="en-US" sz="1000" b="1" dirty="0">
                <a:solidFill>
                  <a:srgbClr val="000000"/>
                </a:solidFill>
              </a:rPr>
              <a:t>RDoC </a:t>
            </a:r>
            <a:pPr indent="0" marL="0">
              <a:lnSpc>
                <a:spcPct val="130000"/>
              </a:lnSpc>
              <a:buNone/>
            </a:pPr>
            <a:r>
              <a:rPr lang="en-US" sz="900" dirty="0">
                <a:solidFill>
                  <a:srgbClr val="8899AA"/>
                </a:solidFill>
              </a:rPr>
              <a:t>(Insel et al., 2010): </a:t>
            </a:r>
            <a:pPr indent="0" marL="0">
              <a:lnSpc>
                <a:spcPct val="130000"/>
              </a:lnSpc>
              <a:buNone/>
            </a:pPr>
            <a:r>
              <a:rPr lang="en-US" sz="1000" dirty="0">
                <a:solidFill>
                  <a:srgbClr val="D0D8E8"/>
                </a:solidFill>
              </a:rPr>
              <a:t>次元的構成概念（負の価値体系、認知等）×分析単位。~500助成金</a:t>
            </a:r>
            <a:endParaRPr lang="en-US" sz="1000" dirty="0"/>
          </a:p>
          <a:p>
            <a:pPr indent="0" marL="0">
              <a:lnSpc>
                <a:spcPct val="130000"/>
              </a:lnSpc>
              <a:buNone/>
            </a:pPr>
            <a:r>
              <a:rPr lang="en-US" sz="1000" b="1" dirty="0">
                <a:solidFill>
                  <a:srgbClr val="000000"/>
                </a:solidFill>
              </a:rPr>
              <a:t>HiTOP </a:t>
            </a:r>
            <a:pPr indent="0" marL="0">
              <a:lnSpc>
                <a:spcPct val="130000"/>
              </a:lnSpc>
              <a:buNone/>
            </a:pPr>
            <a:r>
              <a:rPr lang="en-US" sz="900" dirty="0">
                <a:solidFill>
                  <a:srgbClr val="8899AA"/>
                </a:solidFill>
              </a:rPr>
              <a:t>(Kotov et al., 2017): </a:t>
            </a:r>
            <a:pPr indent="0" marL="0">
              <a:lnSpc>
                <a:spcPct val="130000"/>
              </a:lnSpc>
              <a:buNone/>
            </a:pPr>
            <a:r>
              <a:rPr lang="en-US" sz="1000" dirty="0">
                <a:solidFill>
                  <a:srgbClr val="D0D8E8"/>
                </a:solidFill>
              </a:rPr>
              <a:t>次元的スペクトラム。「離散クラスが確認された精神病理は存在しない」</a:t>
            </a:r>
            <a:endParaRPr lang="en-US" sz="1000" dirty="0"/>
          </a:p>
        </p:txBody>
      </p:sp>
      <p:sp>
        <p:nvSpPr>
          <p:cNvPr id="14" name="Shape 12"/>
          <p:cNvSpPr/>
          <p:nvPr/>
        </p:nvSpPr>
        <p:spPr>
          <a:xfrm>
            <a:off x="548640" y="576072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5" name="Shape 13"/>
          <p:cNvSpPr/>
          <p:nvPr/>
        </p:nvSpPr>
        <p:spPr>
          <a:xfrm>
            <a:off x="548640" y="5760720"/>
            <a:ext cx="64008" cy="1097280"/>
          </a:xfrm>
          <a:prstGeom prst="rect">
            <a:avLst/>
          </a:prstGeom>
          <a:solidFill>
            <a:srgbClr val="E8915A"/>
          </a:solidFill>
          <a:ln/>
        </p:spPr>
      </p:sp>
      <p:sp>
        <p:nvSpPr>
          <p:cNvPr id="16" name="Text 14"/>
          <p:cNvSpPr/>
          <p:nvPr/>
        </p:nvSpPr>
        <p:spPr>
          <a:xfrm>
            <a:off x="822960" y="5806440"/>
            <a:ext cx="2743200" cy="320040"/>
          </a:xfrm>
          <a:prstGeom prst="rect">
            <a:avLst/>
          </a:prstGeom>
          <a:noFill/>
          <a:ln/>
        </p:spPr>
        <p:txBody>
          <a:bodyPr wrap="square" lIns="0" tIns="0" rIns="0" bIns="0" rtlCol="0" anchor="ctr"/>
          <a:lstStyle/>
          <a:p>
            <a:pPr indent="0" marL="0">
              <a:buNone/>
            </a:pPr>
            <a:r>
              <a:rPr lang="en-US" sz="1300" b="1" dirty="0">
                <a:solidFill>
                  <a:srgbClr val="E8915A"/>
                </a:solidFill>
                <a:latin typeface="Calibri" pitchFamily="34" charset="0"/>
                <a:ea typeface="Calibri" pitchFamily="34" charset="-122"/>
                <a:cs typeface="Calibri" pitchFamily="34" charset="-120"/>
              </a:rPr>
              <a:t>反証エビデンス</a:t>
            </a:r>
            <a:endParaRPr lang="en-US" sz="1300" dirty="0"/>
          </a:p>
        </p:txBody>
      </p:sp>
      <p:sp>
        <p:nvSpPr>
          <p:cNvPr id="17" name="Text 15"/>
          <p:cNvSpPr/>
          <p:nvPr/>
        </p:nvSpPr>
        <p:spPr>
          <a:xfrm>
            <a:off x="822960" y="6172200"/>
            <a:ext cx="5303520" cy="640080"/>
          </a:xfrm>
          <a:prstGeom prst="rect">
            <a:avLst/>
          </a:prstGeom>
          <a:noFill/>
          <a:ln/>
        </p:spPr>
        <p:txBody>
          <a:bodyPr wrap="square" rtlCol="0" anchor="t"/>
          <a:lstStyle/>
          <a:p>
            <a:pPr indent="0" marL="0">
              <a:lnSpc>
                <a:spcPct val="130000"/>
              </a:lnSpc>
              <a:buNone/>
            </a:pPr>
            <a:r>
              <a:rPr lang="en-US" sz="1000" dirty="0">
                <a:solidFill>
                  <a:srgbClr val="D0D8E8"/>
                </a:solidFill>
              </a:rPr>
              <a:t>鑑別的治療反応（Li双極、刺激薬ADHD）→ カテゴリ間に意味ある区別</a:t>
            </a:r>
            <a:endParaRPr lang="en-US" sz="1000" dirty="0"/>
          </a:p>
          <a:p>
            <a:pPr indent="0" marL="0">
              <a:lnSpc>
                <a:spcPct val="130000"/>
              </a:lnSpc>
              <a:buNone/>
            </a:pPr>
            <a:r>
              <a:rPr lang="en-US" sz="1000" dirty="0">
                <a:solidFill>
                  <a:srgbClr val="D0D8E8"/>
                </a:solidFill>
              </a:rPr>
              <a:t>高い遺伝率推定値（ADHD≒0.74, ASD≒0.80, SZ≒0.80）</a:t>
            </a:r>
            <a:endParaRPr lang="en-US" sz="1000" dirty="0"/>
          </a:p>
          <a:p>
            <a:pPr indent="0" marL="0">
              <a:lnSpc>
                <a:spcPct val="130000"/>
              </a:lnSpc>
              <a:buNone/>
            </a:pPr>
            <a:r>
              <a:rPr lang="en-US" sz="1000" dirty="0">
                <a:solidFill>
                  <a:srgbClr val="D0D8E8"/>
                </a:solidFill>
              </a:rPr>
              <a:t>PGCは共有シグナルとともに障害特異的シグナルも示した</a:t>
            </a:r>
            <a:endParaRPr lang="en-US" sz="1000" dirty="0"/>
          </a:p>
        </p:txBody>
      </p:sp>
      <p:sp>
        <p:nvSpPr>
          <p:cNvPr id="18" name="Shape 16"/>
          <p:cNvSpPr/>
          <p:nvPr/>
        </p:nvSpPr>
        <p:spPr>
          <a:xfrm>
            <a:off x="548640" y="7132320"/>
            <a:ext cx="5760720" cy="91440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9" name="Shape 17"/>
          <p:cNvSpPr/>
          <p:nvPr/>
        </p:nvSpPr>
        <p:spPr>
          <a:xfrm>
            <a:off x="548640" y="7132320"/>
            <a:ext cx="64008" cy="914400"/>
          </a:xfrm>
          <a:prstGeom prst="rect">
            <a:avLst/>
          </a:prstGeom>
          <a:solidFill>
            <a:srgbClr val="7B68C4"/>
          </a:solidFill>
          <a:ln/>
        </p:spPr>
      </p:sp>
      <p:sp>
        <p:nvSpPr>
          <p:cNvPr id="20" name="Text 18"/>
          <p:cNvSpPr/>
          <p:nvPr/>
        </p:nvSpPr>
        <p:spPr>
          <a:xfrm>
            <a:off x="822960" y="7178040"/>
            <a:ext cx="2743200" cy="320040"/>
          </a:xfrm>
          <a:prstGeom prst="rect">
            <a:avLst/>
          </a:prstGeom>
          <a:noFill/>
          <a:ln/>
        </p:spPr>
        <p:txBody>
          <a:bodyPr wrap="square" lIns="0" tIns="0" rIns="0" bIns="0" rtlCol="0" anchor="ctr"/>
          <a:lstStyle/>
          <a:p>
            <a:pPr indent="0" marL="0">
              <a:buNone/>
            </a:pPr>
            <a:r>
              <a:rPr lang="en-US" sz="1300" b="1" dirty="0">
                <a:solidFill>
                  <a:srgbClr val="7B68C4"/>
                </a:solidFill>
                <a:latin typeface="Calibri" pitchFamily="34" charset="0"/>
                <a:ea typeface="Calibri" pitchFamily="34" charset="-122"/>
                <a:cs typeface="Calibri" pitchFamily="34" charset="-120"/>
              </a:rPr>
              <a:t>リサーチギャップ</a:t>
            </a:r>
            <a:endParaRPr lang="en-US" sz="1300" dirty="0"/>
          </a:p>
        </p:txBody>
      </p:sp>
      <p:sp>
        <p:nvSpPr>
          <p:cNvPr id="21" name="Text 19"/>
          <p:cNvSpPr/>
          <p:nvPr/>
        </p:nvSpPr>
        <p:spPr>
          <a:xfrm>
            <a:off x="822960" y="7543800"/>
            <a:ext cx="5303520" cy="457200"/>
          </a:xfrm>
          <a:prstGeom prst="rect">
            <a:avLst/>
          </a:prstGeom>
          <a:noFill/>
          <a:ln/>
        </p:spPr>
        <p:txBody>
          <a:bodyPr wrap="square" rtlCol="0" anchor="t"/>
          <a:lstStyle/>
          <a:p>
            <a:pPr indent="0" marL="0">
              <a:lnSpc>
                <a:spcPct val="130000"/>
              </a:lnSpc>
              <a:buNone/>
            </a:pPr>
            <a:r>
              <a:rPr lang="en-US" sz="1000" dirty="0">
                <a:solidFill>
                  <a:srgbClr val="D0D8E8"/>
                </a:solidFill>
              </a:rPr>
              <a:t>診断的異質性が就労支援アウトカムにどう影響するか → 未検討</a:t>
            </a:r>
            <a:endParaRPr lang="en-US" sz="1000" dirty="0"/>
          </a:p>
          <a:p>
            <a:pPr indent="0" marL="0">
              <a:lnSpc>
                <a:spcPct val="130000"/>
              </a:lnSpc>
              <a:buNone/>
            </a:pPr>
            <a:r>
              <a:rPr lang="en-US" sz="1000" dirty="0">
                <a:solidFill>
                  <a:srgbClr val="D0D8E8"/>
                </a:solidFill>
              </a:rPr>
              <a:t>日本集団におけるRDoC/HiTOPの文化横断的妥当性検証 → 欠如</a:t>
            </a:r>
            <a:endParaRPr lang="en-US" sz="1000" dirty="0"/>
          </a:p>
        </p:txBody>
      </p:sp>
      <p:sp>
        <p:nvSpPr>
          <p:cNvPr id="22" name="Shape 20"/>
          <p:cNvSpPr/>
          <p:nvPr/>
        </p:nvSpPr>
        <p:spPr>
          <a:xfrm>
            <a:off x="0" y="9089136"/>
            <a:ext cx="6858000" cy="54864"/>
          </a:xfrm>
          <a:prstGeom prst="rect">
            <a:avLst/>
          </a:prstGeom>
          <a:solidFill>
            <a:srgbClr val="2196A4"/>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914400" cy="320040"/>
          </a:xfrm>
          <a:prstGeom prst="rect">
            <a:avLst/>
          </a:prstGeom>
          <a:solidFill>
            <a:srgbClr val="E65100"/>
          </a:solid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領域B</a:t>
            </a:r>
            <a:endParaRPr lang="en-US" sz="1200" dirty="0"/>
          </a:p>
        </p:txBody>
      </p:sp>
      <p:sp>
        <p:nvSpPr>
          <p:cNvPr id="4" name="Text 2"/>
          <p:cNvSpPr/>
          <p:nvPr/>
        </p:nvSpPr>
        <p:spPr>
          <a:xfrm>
            <a:off x="1645920" y="182880"/>
            <a:ext cx="46634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器質×環境の相互作用：③メカニズムの検証</a:t>
            </a:r>
            <a:endParaRPr lang="en-US" sz="1600" dirty="0"/>
          </a:p>
        </p:txBody>
      </p:sp>
      <p:sp>
        <p:nvSpPr>
          <p:cNvPr id="5" name="Shape 3"/>
          <p:cNvSpPr/>
          <p:nvPr/>
        </p:nvSpPr>
        <p:spPr>
          <a:xfrm>
            <a:off x="548640" y="685800"/>
            <a:ext cx="1645920" cy="22860"/>
          </a:xfrm>
          <a:prstGeom prst="rect">
            <a:avLst/>
          </a:prstGeom>
          <a:solidFill>
            <a:srgbClr val="E65100"/>
          </a:solidFill>
          <a:ln/>
        </p:spPr>
      </p:sp>
      <p:sp>
        <p:nvSpPr>
          <p:cNvPr id="6" name="Shape 4"/>
          <p:cNvSpPr/>
          <p:nvPr/>
        </p:nvSpPr>
        <p:spPr>
          <a:xfrm>
            <a:off x="548640" y="960120"/>
            <a:ext cx="5760720" cy="20116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7" name="Shape 5"/>
          <p:cNvSpPr/>
          <p:nvPr/>
        </p:nvSpPr>
        <p:spPr>
          <a:xfrm>
            <a:off x="548640" y="960120"/>
            <a:ext cx="64008" cy="2011680"/>
          </a:xfrm>
          <a:prstGeom prst="rect">
            <a:avLst/>
          </a:prstGeom>
          <a:solidFill>
            <a:srgbClr val="4CAF7D"/>
          </a:solidFill>
          <a:ln/>
        </p:spPr>
      </p:sp>
      <p:sp>
        <p:nvSpPr>
          <p:cNvPr id="8" name="Text 6"/>
          <p:cNvSpPr/>
          <p:nvPr/>
        </p:nvSpPr>
        <p:spPr>
          <a:xfrm>
            <a:off x="822960" y="1005840"/>
            <a:ext cx="5303520" cy="320040"/>
          </a:xfrm>
          <a:prstGeom prst="rect">
            <a:avLst/>
          </a:prstGeom>
          <a:noFill/>
          <a:ln/>
        </p:spPr>
        <p:txBody>
          <a:bodyPr wrap="square" lIns="0" tIns="0" rIns="0" bIns="0" rtlCol="0" anchor="ctr"/>
          <a:lstStyle/>
          <a:p>
            <a:pPr indent="0" marL="0">
              <a:buNone/>
            </a:pPr>
            <a:r>
              <a:rPr lang="en-US" sz="1200" b="1" dirty="0">
                <a:solidFill>
                  <a:srgbClr val="4CAF7D"/>
                </a:solidFill>
                <a:latin typeface="Calibri" pitchFamily="34" charset="0"/>
                <a:ea typeface="Calibri" pitchFamily="34" charset="-122"/>
                <a:cs typeface="Calibri" pitchFamily="34" charset="-120"/>
              </a:rPr>
              <a:t>差次感受性理論（DST）/ 文脈に対する生物学的感受性（BSC）</a:t>
            </a:r>
            <a:endParaRPr lang="en-US" sz="1200" dirty="0"/>
          </a:p>
        </p:txBody>
      </p:sp>
      <p:sp>
        <p:nvSpPr>
          <p:cNvPr id="9" name="Text 7"/>
          <p:cNvSpPr/>
          <p:nvPr/>
        </p:nvSpPr>
        <p:spPr>
          <a:xfrm>
            <a:off x="822960" y="1371600"/>
            <a:ext cx="5303520" cy="1508760"/>
          </a:xfrm>
          <a:prstGeom prst="rect">
            <a:avLst/>
          </a:prstGeom>
          <a:noFill/>
          <a:ln/>
        </p:spPr>
        <p:txBody>
          <a:bodyPr wrap="square" rtlCol="0" anchor="t"/>
          <a:lstStyle/>
          <a:p>
            <a:pPr indent="0" marL="0">
              <a:lnSpc>
                <a:spcPct val="130000"/>
              </a:lnSpc>
              <a:buNone/>
            </a:pPr>
            <a:r>
              <a:rPr lang="en-US" sz="1000" b="1" dirty="0">
                <a:solidFill>
                  <a:srgbClr val="000000"/>
                </a:solidFill>
              </a:rPr>
              <a:t>Belsky &amp; Pluess (2009) </a:t>
            </a:r>
            <a:pPr indent="0" marL="0">
              <a:lnSpc>
                <a:spcPct val="130000"/>
              </a:lnSpc>
              <a:buNone/>
            </a:pPr>
            <a:r>
              <a:rPr lang="en-US" sz="1000" dirty="0">
                <a:solidFill>
                  <a:srgbClr val="D0D8E8"/>
                </a:solidFill>
              </a:rPr>
              <a:t>可塑性因子としての気質・遺伝子→「良くも悪くも」</a:t>
            </a:r>
            <a:endParaRPr lang="en-US" sz="1000" dirty="0"/>
          </a:p>
          <a:p>
            <a:pPr indent="0" marL="0">
              <a:lnSpc>
                <a:spcPct val="130000"/>
              </a:lnSpc>
              <a:buNone/>
            </a:pPr>
            <a:r>
              <a:rPr lang="en-US" sz="1000" b="1" dirty="0">
                <a:solidFill>
                  <a:srgbClr val="000000"/>
                </a:solidFill>
              </a:rPr>
              <a:t>Boyce &amp; Ellis (2005) </a:t>
            </a:r>
            <a:pPr indent="0" marL="0">
              <a:lnSpc>
                <a:spcPct val="130000"/>
              </a:lnSpc>
              <a:buNone/>
            </a:pPr>
            <a:r>
              <a:rPr lang="en-US" sz="1000" dirty="0">
                <a:solidFill>
                  <a:srgbClr val="D0D8E8"/>
                </a:solidFill>
              </a:rPr>
              <a:t>蘭15-20%/チューリップ/タンポポの3群モデル</a:t>
            </a:r>
            <a:endParaRPr lang="en-US" sz="1000" dirty="0"/>
          </a:p>
          <a:p>
            <a:pPr indent="0" marL="0">
              <a:lnSpc>
                <a:spcPct val="130000"/>
              </a:lnSpc>
              <a:buNone/>
            </a:pPr>
            <a:r>
              <a:rPr lang="en-US" sz="1000" b="1" dirty="0">
                <a:solidFill>
                  <a:srgbClr val="000000"/>
                </a:solidFill>
              </a:rPr>
              <a:t>Slagt et al. (2016) </a:t>
            </a:r>
            <a:pPr indent="0" marL="0">
              <a:lnSpc>
                <a:spcPct val="130000"/>
              </a:lnSpc>
              <a:buNone/>
            </a:pPr>
            <a:r>
              <a:rPr lang="en-US" sz="1000" dirty="0">
                <a:solidFill>
                  <a:srgbClr val="D0D8E8"/>
                </a:solidFill>
              </a:rPr>
              <a:t>k=105メタ分析: 困難な気質の子→良い養育からもより多く利益</a:t>
            </a:r>
            <a:endParaRPr lang="en-US" sz="1000" dirty="0"/>
          </a:p>
          <a:p>
            <a:pPr indent="0" marL="0">
              <a:lnSpc>
                <a:spcPct val="130000"/>
              </a:lnSpc>
              <a:buNone/>
            </a:pPr>
            <a:r>
              <a:rPr lang="en-US" sz="1000" b="1" dirty="0">
                <a:solidFill>
                  <a:srgbClr val="000000"/>
                </a:solidFill>
              </a:rPr>
              <a:t>Assary et al. (2024) </a:t>
            </a:r>
            <a:pPr indent="0" marL="0">
              <a:lnSpc>
                <a:spcPct val="130000"/>
              </a:lnSpc>
              <a:buNone/>
            </a:pPr>
            <a:r>
              <a:rPr lang="en-US" sz="1000" dirty="0">
                <a:solidFill>
                  <a:srgbClr val="D0D8E8"/>
                </a:solidFill>
              </a:rPr>
              <a:t>環境感受性・自閉症特性・感情問題に有意な遺伝的重複</a:t>
            </a:r>
            <a:endParaRPr lang="en-US" sz="1000" dirty="0"/>
          </a:p>
        </p:txBody>
      </p:sp>
      <p:sp>
        <p:nvSpPr>
          <p:cNvPr id="10" name="Shape 8"/>
          <p:cNvSpPr/>
          <p:nvPr/>
        </p:nvSpPr>
        <p:spPr>
          <a:xfrm>
            <a:off x="548640" y="3246120"/>
            <a:ext cx="5760720" cy="11887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1" name="Shape 9"/>
          <p:cNvSpPr/>
          <p:nvPr/>
        </p:nvSpPr>
        <p:spPr>
          <a:xfrm>
            <a:off x="548640" y="3246120"/>
            <a:ext cx="64008" cy="1188720"/>
          </a:xfrm>
          <a:prstGeom prst="rect">
            <a:avLst/>
          </a:prstGeom>
          <a:solidFill>
            <a:srgbClr val="4CAF7D"/>
          </a:solidFill>
          <a:ln/>
        </p:spPr>
      </p:sp>
      <p:sp>
        <p:nvSpPr>
          <p:cNvPr id="12" name="Text 10"/>
          <p:cNvSpPr/>
          <p:nvPr/>
        </p:nvSpPr>
        <p:spPr>
          <a:xfrm>
            <a:off x="822960" y="3291840"/>
            <a:ext cx="5303520" cy="320040"/>
          </a:xfrm>
          <a:prstGeom prst="rect">
            <a:avLst/>
          </a:prstGeom>
          <a:noFill/>
          <a:ln/>
        </p:spPr>
        <p:txBody>
          <a:bodyPr wrap="square" lIns="0" tIns="0" rIns="0" bIns="0" rtlCol="0" anchor="ctr"/>
          <a:lstStyle/>
          <a:p>
            <a:pPr indent="0" marL="0">
              <a:buNone/>
            </a:pPr>
            <a:r>
              <a:rPr lang="en-US" sz="1200" b="1" dirty="0">
                <a:solidFill>
                  <a:srgbClr val="4CAF7D"/>
                </a:solidFill>
                <a:latin typeface="Calibri" pitchFamily="34" charset="0"/>
                <a:ea typeface="Calibri" pitchFamily="34" charset="-122"/>
                <a:cs typeface="Calibri" pitchFamily="34" charset="-120"/>
              </a:rPr>
              <a:t>感覚処理感受性（SPS）とヴァンテージ感受性</a:t>
            </a:r>
            <a:endParaRPr lang="en-US" sz="1200" dirty="0"/>
          </a:p>
        </p:txBody>
      </p:sp>
      <p:sp>
        <p:nvSpPr>
          <p:cNvPr id="13" name="Text 11"/>
          <p:cNvSpPr/>
          <p:nvPr/>
        </p:nvSpPr>
        <p:spPr>
          <a:xfrm>
            <a:off x="822960" y="3657600"/>
            <a:ext cx="5303520" cy="731520"/>
          </a:xfrm>
          <a:prstGeom prst="rect">
            <a:avLst/>
          </a:prstGeom>
          <a:noFill/>
          <a:ln/>
        </p:spPr>
        <p:txBody>
          <a:bodyPr wrap="square" rtlCol="0" anchor="t"/>
          <a:lstStyle/>
          <a:p>
            <a:pPr indent="0" marL="0">
              <a:lnSpc>
                <a:spcPct val="130000"/>
              </a:lnSpc>
              <a:buNone/>
            </a:pPr>
            <a:r>
              <a:rPr lang="en-US" sz="1000" b="1" dirty="0">
                <a:solidFill>
                  <a:srgbClr val="000000"/>
                </a:solidFill>
              </a:rPr>
              <a:t>Aron &amp; Aron (1997): </a:t>
            </a:r>
            <a:pPr indent="0" marL="0">
              <a:lnSpc>
                <a:spcPct val="130000"/>
              </a:lnSpc>
              <a:buNone/>
            </a:pPr>
            <a:r>
              <a:rPr lang="en-US" sz="1000" dirty="0">
                <a:solidFill>
                  <a:srgbClr val="D0D8E8"/>
                </a:solidFill>
              </a:rPr>
              <a:t>人口約30%の遺伝性特性。障害ではなく人格特性</a:t>
            </a:r>
            <a:endParaRPr lang="en-US" sz="1000" dirty="0"/>
          </a:p>
          <a:p>
            <a:pPr indent="0" marL="0">
              <a:lnSpc>
                <a:spcPct val="130000"/>
              </a:lnSpc>
              <a:buNone/>
            </a:pPr>
            <a:r>
              <a:rPr lang="en-US" sz="1000" dirty="0">
                <a:solidFill>
                  <a:srgbClr val="E8915A"/>
                </a:solidFill>
              </a:rPr>
              <a:t>ASD感覚基準と表現型的に重複 → 誤診リスク</a:t>
            </a:r>
            <a:endParaRPr lang="en-US" sz="1000" dirty="0"/>
          </a:p>
          <a:p>
            <a:pPr indent="0" marL="0">
              <a:lnSpc>
                <a:spcPct val="130000"/>
              </a:lnSpc>
              <a:buNone/>
            </a:pPr>
            <a:r>
              <a:rPr lang="en-US" sz="1000" b="1" dirty="0">
                <a:solidFill>
                  <a:srgbClr val="000000"/>
                </a:solidFill>
              </a:rPr>
              <a:t>Pluess &amp; Boniwell (2015) RCT: </a:t>
            </a:r>
            <a:pPr indent="0" marL="0">
              <a:lnSpc>
                <a:spcPct val="130000"/>
              </a:lnSpc>
              <a:buNone/>
            </a:pPr>
            <a:r>
              <a:rPr lang="en-US" sz="1000" dirty="0">
                <a:solidFill>
                  <a:srgbClr val="D0D8E8"/>
                </a:solidFill>
              </a:rPr>
              <a:t>高感受性女児がレジリエンスPGからより大きく利益</a:t>
            </a:r>
            <a:endParaRPr lang="en-US" sz="1000" dirty="0"/>
          </a:p>
        </p:txBody>
      </p:sp>
      <p:sp>
        <p:nvSpPr>
          <p:cNvPr id="14" name="Shape 12"/>
          <p:cNvSpPr/>
          <p:nvPr/>
        </p:nvSpPr>
        <p:spPr>
          <a:xfrm>
            <a:off x="548640" y="470916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5" name="Shape 13"/>
          <p:cNvSpPr/>
          <p:nvPr/>
        </p:nvSpPr>
        <p:spPr>
          <a:xfrm>
            <a:off x="548640" y="4709160"/>
            <a:ext cx="64008" cy="1097280"/>
          </a:xfrm>
          <a:prstGeom prst="rect">
            <a:avLst/>
          </a:prstGeom>
          <a:solidFill>
            <a:srgbClr val="2CB5C4"/>
          </a:solidFill>
          <a:ln/>
        </p:spPr>
      </p:sp>
      <p:sp>
        <p:nvSpPr>
          <p:cNvPr id="16" name="Text 14"/>
          <p:cNvSpPr/>
          <p:nvPr/>
        </p:nvSpPr>
        <p:spPr>
          <a:xfrm>
            <a:off x="822960" y="4754880"/>
            <a:ext cx="5303520" cy="320040"/>
          </a:xfrm>
          <a:prstGeom prst="rect">
            <a:avLst/>
          </a:prstGeom>
          <a:noFill/>
          <a:ln/>
        </p:spPr>
        <p:txBody>
          <a:bodyPr wrap="square" lIns="0" tIns="0" rIns="0" bIns="0" rtlCol="0" anchor="ctr"/>
          <a:lstStyle/>
          <a:p>
            <a:pPr indent="0" marL="0">
              <a:buNone/>
            </a:pPr>
            <a:r>
              <a:rPr lang="en-US" sz="1200" b="1" dirty="0">
                <a:solidFill>
                  <a:srgbClr val="2CB5C4"/>
                </a:solidFill>
                <a:latin typeface="Calibri" pitchFamily="34" charset="0"/>
                <a:ea typeface="Calibri" pitchFamily="34" charset="-122"/>
                <a:cs typeface="Calibri" pitchFamily="34" charset="-120"/>
              </a:rPr>
              <a:t>適合性モデル / 認知プロファイルの凸凹</a:t>
            </a:r>
            <a:endParaRPr lang="en-US" sz="1200" dirty="0"/>
          </a:p>
        </p:txBody>
      </p:sp>
      <p:sp>
        <p:nvSpPr>
          <p:cNvPr id="17" name="Text 15"/>
          <p:cNvSpPr/>
          <p:nvPr/>
        </p:nvSpPr>
        <p:spPr>
          <a:xfrm>
            <a:off x="822960" y="5120640"/>
            <a:ext cx="5303520" cy="594360"/>
          </a:xfrm>
          <a:prstGeom prst="rect">
            <a:avLst/>
          </a:prstGeom>
          <a:noFill/>
          <a:ln/>
        </p:spPr>
        <p:txBody>
          <a:bodyPr wrap="square" rtlCol="0" anchor="t"/>
          <a:lstStyle/>
          <a:p>
            <a:pPr indent="0" marL="0">
              <a:lnSpc>
                <a:spcPct val="130000"/>
              </a:lnSpc>
              <a:buNone/>
            </a:pPr>
            <a:r>
              <a:rPr lang="en-US" sz="1000" b="1" dirty="0">
                <a:solidFill>
                  <a:srgbClr val="000000"/>
                </a:solidFill>
              </a:rPr>
              <a:t>Thomas &amp; Chess: </a:t>
            </a:r>
            <a:pPr indent="0" marL="0">
              <a:lnSpc>
                <a:spcPct val="130000"/>
              </a:lnSpc>
              <a:buNone/>
            </a:pPr>
            <a:r>
              <a:rPr lang="en-US" sz="1000" dirty="0">
                <a:solidFill>
                  <a:srgbClr val="D0D8E8"/>
                </a:solidFill>
              </a:rPr>
              <a:t>気質と環境の適合性が発達的アウトカムを予測</a:t>
            </a:r>
            <a:endParaRPr lang="en-US" sz="1000" dirty="0"/>
          </a:p>
          <a:p>
            <a:pPr indent="0" marL="0">
              <a:lnSpc>
                <a:spcPct val="130000"/>
              </a:lnSpc>
              <a:buNone/>
            </a:pPr>
            <a:r>
              <a:rPr lang="en-US" sz="1000" b="1" dirty="0">
                <a:solidFill>
                  <a:srgbClr val="000000"/>
                </a:solidFill>
              </a:rPr>
              <a:t>Boschi et al. (2016): </a:t>
            </a:r>
            <a:pPr indent="0" marL="0">
              <a:lnSpc>
                <a:spcPct val="130000"/>
              </a:lnSpc>
              <a:buNone/>
            </a:pPr>
            <a:r>
              <a:rPr lang="en-US" sz="1000" dirty="0">
                <a:solidFill>
                  <a:srgbClr val="D0D8E8"/>
                </a:solidFill>
              </a:rPr>
              <a:t>ギフテッド児とASD児が類似認知プロファイル（高VCI, 低PSI）を共有</a:t>
            </a:r>
            <a:endParaRPr lang="en-US" sz="1000" dirty="0"/>
          </a:p>
        </p:txBody>
      </p:sp>
      <p:sp>
        <p:nvSpPr>
          <p:cNvPr id="18" name="Shape 16"/>
          <p:cNvSpPr/>
          <p:nvPr/>
        </p:nvSpPr>
        <p:spPr>
          <a:xfrm>
            <a:off x="548640" y="6080760"/>
            <a:ext cx="5760720" cy="11887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9" name="Shape 17"/>
          <p:cNvSpPr/>
          <p:nvPr/>
        </p:nvSpPr>
        <p:spPr>
          <a:xfrm>
            <a:off x="548640" y="6080760"/>
            <a:ext cx="64008" cy="1188720"/>
          </a:xfrm>
          <a:prstGeom prst="rect">
            <a:avLst/>
          </a:prstGeom>
          <a:solidFill>
            <a:srgbClr val="E8915A"/>
          </a:solidFill>
          <a:ln/>
        </p:spPr>
      </p:sp>
      <p:sp>
        <p:nvSpPr>
          <p:cNvPr id="20" name="Text 18"/>
          <p:cNvSpPr/>
          <p:nvPr/>
        </p:nvSpPr>
        <p:spPr>
          <a:xfrm>
            <a:off x="822960" y="6126480"/>
            <a:ext cx="2743200" cy="320040"/>
          </a:xfrm>
          <a:prstGeom prst="rect">
            <a:avLst/>
          </a:prstGeom>
          <a:noFill/>
          <a:ln/>
        </p:spPr>
        <p:txBody>
          <a:bodyPr wrap="square" lIns="0" tIns="0" rIns="0" bIns="0" rtlCol="0" anchor="ctr"/>
          <a:lstStyle/>
          <a:p>
            <a:pPr indent="0" marL="0">
              <a:buNone/>
            </a:pPr>
            <a:r>
              <a:rPr lang="en-US" sz="1300" b="1" dirty="0">
                <a:solidFill>
                  <a:srgbClr val="E8915A"/>
                </a:solidFill>
                <a:latin typeface="Calibri" pitchFamily="34" charset="0"/>
                <a:ea typeface="Calibri" pitchFamily="34" charset="-122"/>
                <a:cs typeface="Calibri" pitchFamily="34" charset="-120"/>
              </a:rPr>
              <a:t>反証エビデンス</a:t>
            </a:r>
            <a:endParaRPr lang="en-US" sz="1300" dirty="0"/>
          </a:p>
        </p:txBody>
      </p:sp>
      <p:sp>
        <p:nvSpPr>
          <p:cNvPr id="21" name="Text 19"/>
          <p:cNvSpPr/>
          <p:nvPr/>
        </p:nvSpPr>
        <p:spPr>
          <a:xfrm>
            <a:off x="822960" y="6492240"/>
            <a:ext cx="5303520" cy="731520"/>
          </a:xfrm>
          <a:prstGeom prst="rect">
            <a:avLst/>
          </a:prstGeom>
          <a:noFill/>
          <a:ln/>
        </p:spPr>
        <p:txBody>
          <a:bodyPr wrap="square" rtlCol="0" anchor="t"/>
          <a:lstStyle/>
          <a:p>
            <a:pPr indent="0" marL="0">
              <a:lnSpc>
                <a:spcPct val="130000"/>
              </a:lnSpc>
              <a:buNone/>
            </a:pPr>
            <a:r>
              <a:rPr lang="en-US" sz="1000" b="1" dirty="0">
                <a:solidFill>
                  <a:srgbClr val="000000"/>
                </a:solidFill>
              </a:rPr>
              <a:t>Booth et al. (2015): </a:t>
            </a:r>
            <a:pPr indent="0" marL="0">
              <a:lnSpc>
                <a:spcPct val="130000"/>
              </a:lnSpc>
              <a:buNone/>
            </a:pPr>
            <a:r>
              <a:rPr lang="en-US" sz="1000" dirty="0">
                <a:solidFill>
                  <a:srgbClr val="D0D8E8"/>
                </a:solidFill>
              </a:rPr>
              <a:t>SPSは否定的経験のみ調節→脆弱性-ストレスモデル支持</a:t>
            </a:r>
            <a:endParaRPr lang="en-US" sz="1000" dirty="0"/>
          </a:p>
          <a:p>
            <a:pPr indent="0" marL="0">
              <a:lnSpc>
                <a:spcPct val="130000"/>
              </a:lnSpc>
              <a:buNone/>
            </a:pPr>
            <a:r>
              <a:rPr lang="en-US" sz="1000" b="1" dirty="0">
                <a:solidFill>
                  <a:srgbClr val="000000"/>
                </a:solidFill>
              </a:rPr>
              <a:t>Van Reyn et al. (2023): </a:t>
            </a:r>
            <a:pPr indent="0" marL="0">
              <a:lnSpc>
                <a:spcPct val="130000"/>
              </a:lnSpc>
              <a:buNone/>
            </a:pPr>
            <a:r>
              <a:rPr lang="en-US" sz="1000" dirty="0">
                <a:solidFill>
                  <a:srgbClr val="D0D8E8"/>
                </a:solidFill>
              </a:rPr>
              <a:t>SPSは否定的日常出来事への反応性のみ予測</a:t>
            </a:r>
            <a:endParaRPr lang="en-US" sz="1000" dirty="0"/>
          </a:p>
          <a:p>
            <a:pPr indent="0" marL="0">
              <a:lnSpc>
                <a:spcPct val="130000"/>
              </a:lnSpc>
              <a:buNone/>
            </a:pPr>
            <a:r>
              <a:rPr lang="en-US" sz="1000" b="1" dirty="0">
                <a:solidFill>
                  <a:srgbClr val="D0D8E8"/>
                </a:solidFill>
              </a:rPr>
              <a:t>候補遺伝子アプローチ（5-HTTLPR, DRD4）の再現性問題</a:t>
            </a:r>
            <a:endParaRPr lang="en-US" sz="1000" dirty="0"/>
          </a:p>
        </p:txBody>
      </p:sp>
      <p:sp>
        <p:nvSpPr>
          <p:cNvPr id="22" name="Shape 20"/>
          <p:cNvSpPr/>
          <p:nvPr/>
        </p:nvSpPr>
        <p:spPr>
          <a:xfrm>
            <a:off x="548640" y="7543800"/>
            <a:ext cx="5760720" cy="1005840"/>
          </a:xfrm>
          <a:prstGeom prst="rect">
            <a:avLst/>
          </a:prstGeom>
          <a:solidFill>
            <a:srgbClr val="1A0A30"/>
          </a:solidFill>
          <a:ln/>
          <a:effectLst>
            <a:outerShdw sx="100000" sy="100000" kx="0" ky="0" algn="bl" rotWithShape="0" blurRad="50800" dist="12700" dir="8100000">
              <a:srgbClr val="000000">
                <a:alpha val="20000"/>
              </a:srgbClr>
            </a:outerShdw>
          </a:effectLst>
        </p:spPr>
      </p:sp>
      <p:sp>
        <p:nvSpPr>
          <p:cNvPr id="23" name="Shape 21"/>
          <p:cNvSpPr/>
          <p:nvPr/>
        </p:nvSpPr>
        <p:spPr>
          <a:xfrm>
            <a:off x="548640" y="7543800"/>
            <a:ext cx="64008" cy="1005840"/>
          </a:xfrm>
          <a:prstGeom prst="rect">
            <a:avLst/>
          </a:prstGeom>
          <a:solidFill>
            <a:srgbClr val="7B68C4"/>
          </a:solidFill>
          <a:ln/>
        </p:spPr>
      </p:sp>
      <p:sp>
        <p:nvSpPr>
          <p:cNvPr id="24" name="Text 22"/>
          <p:cNvSpPr/>
          <p:nvPr/>
        </p:nvSpPr>
        <p:spPr>
          <a:xfrm>
            <a:off x="822960" y="7589520"/>
            <a:ext cx="5303520" cy="274320"/>
          </a:xfrm>
          <a:prstGeom prst="rect">
            <a:avLst/>
          </a:prstGeom>
          <a:noFill/>
          <a:ln/>
        </p:spPr>
        <p:txBody>
          <a:bodyPr wrap="square" lIns="0" tIns="0" rIns="0" bIns="0" rtlCol="0" anchor="ctr"/>
          <a:lstStyle/>
          <a:p>
            <a:pPr indent="0" marL="0">
              <a:buNone/>
            </a:pPr>
            <a:r>
              <a:rPr lang="en-US" sz="1300" b="1" dirty="0">
                <a:solidFill>
                  <a:srgbClr val="7B68C4"/>
                </a:solidFill>
                <a:latin typeface="Calibri" pitchFamily="34" charset="0"/>
                <a:ea typeface="Calibri" pitchFamily="34" charset="-122"/>
                <a:cs typeface="Calibri" pitchFamily="34" charset="-120"/>
              </a:rPr>
              <a:t>最重要リサーチギャップ</a:t>
            </a:r>
            <a:endParaRPr lang="en-US" sz="1300" dirty="0"/>
          </a:p>
        </p:txBody>
      </p:sp>
      <p:sp>
        <p:nvSpPr>
          <p:cNvPr id="25" name="Text 23"/>
          <p:cNvSpPr/>
          <p:nvPr/>
        </p:nvSpPr>
        <p:spPr>
          <a:xfrm>
            <a:off x="822960" y="7909560"/>
            <a:ext cx="5303520" cy="548640"/>
          </a:xfrm>
          <a:prstGeom prst="rect">
            <a:avLst/>
          </a:prstGeom>
          <a:noFill/>
          <a:ln/>
        </p:spPr>
        <p:txBody>
          <a:bodyPr wrap="square" rtlCol="0" anchor="ctr"/>
          <a:lstStyle/>
          <a:p>
            <a:pPr indent="0" marL="0">
              <a:lnSpc>
                <a:spcPct val="130000"/>
              </a:lnSpc>
              <a:buNone/>
            </a:pPr>
            <a:r>
              <a:rPr lang="en-US" sz="1000" dirty="0">
                <a:solidFill>
                  <a:srgbClr val="D0D8E8"/>
                </a:solidFill>
                <a:latin typeface="Calibri" pitchFamily="34" charset="0"/>
                <a:ea typeface="Calibri" pitchFamily="34" charset="-122"/>
                <a:cs typeface="Calibri" pitchFamily="34" charset="-120"/>
              </a:rPr>
              <a:t>閾値下の体質的特性 → 増幅された主観的環境影響 → ACEs相当の蓄積 → 十分な環境における顕在的困難——この完全経路を操作化した研究は存在しない</a:t>
            </a:r>
            <a:endParaRPr lang="en-US" sz="1000" dirty="0"/>
          </a:p>
        </p:txBody>
      </p:sp>
      <p:sp>
        <p:nvSpPr>
          <p:cNvPr id="26" name="Shape 24"/>
          <p:cNvSpPr/>
          <p:nvPr/>
        </p:nvSpPr>
        <p:spPr>
          <a:xfrm>
            <a:off x="0" y="9089136"/>
            <a:ext cx="6858000" cy="54864"/>
          </a:xfrm>
          <a:prstGeom prst="rect">
            <a:avLst/>
          </a:prstGeom>
          <a:solidFill>
            <a:srgbClr val="2196A4"/>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914400" cy="320040"/>
          </a:xfrm>
          <a:prstGeom prst="rect">
            <a:avLst/>
          </a:prstGeom>
          <a:solidFill>
            <a:srgbClr val="6A1B9A"/>
          </a:solid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領域C</a:t>
            </a:r>
            <a:endParaRPr lang="en-US" sz="1200" dirty="0"/>
          </a:p>
        </p:txBody>
      </p:sp>
      <p:sp>
        <p:nvSpPr>
          <p:cNvPr id="4" name="Text 2"/>
          <p:cNvSpPr/>
          <p:nvPr/>
        </p:nvSpPr>
        <p:spPr>
          <a:xfrm>
            <a:off x="1645920" y="182880"/>
            <a:ext cx="46634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誤帰属と医原性カスケード</a:t>
            </a:r>
            <a:endParaRPr lang="en-US" sz="1600" dirty="0"/>
          </a:p>
        </p:txBody>
      </p:sp>
      <p:sp>
        <p:nvSpPr>
          <p:cNvPr id="5" name="Shape 3"/>
          <p:cNvSpPr/>
          <p:nvPr/>
        </p:nvSpPr>
        <p:spPr>
          <a:xfrm>
            <a:off x="548640" y="685800"/>
            <a:ext cx="1645920" cy="22860"/>
          </a:xfrm>
          <a:prstGeom prst="rect">
            <a:avLst/>
          </a:prstGeom>
          <a:solidFill>
            <a:srgbClr val="6A1B9A"/>
          </a:solidFill>
          <a:ln/>
        </p:spPr>
      </p:sp>
      <p:sp>
        <p:nvSpPr>
          <p:cNvPr id="6" name="Shape 4"/>
          <p:cNvSpPr/>
          <p:nvPr/>
        </p:nvSpPr>
        <p:spPr>
          <a:xfrm>
            <a:off x="548640" y="960120"/>
            <a:ext cx="5760720" cy="16459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7" name="Shape 5"/>
          <p:cNvSpPr/>
          <p:nvPr/>
        </p:nvSpPr>
        <p:spPr>
          <a:xfrm>
            <a:off x="548640" y="960120"/>
            <a:ext cx="64008" cy="1645920"/>
          </a:xfrm>
          <a:prstGeom prst="rect">
            <a:avLst/>
          </a:prstGeom>
          <a:solidFill>
            <a:srgbClr val="4CAF7D"/>
          </a:solidFill>
          <a:ln/>
        </p:spPr>
      </p:sp>
      <p:sp>
        <p:nvSpPr>
          <p:cNvPr id="8" name="Text 6"/>
          <p:cNvSpPr/>
          <p:nvPr/>
        </p:nvSpPr>
        <p:spPr>
          <a:xfrm>
            <a:off x="822960" y="1005840"/>
            <a:ext cx="5303520" cy="320040"/>
          </a:xfrm>
          <a:prstGeom prst="rect">
            <a:avLst/>
          </a:prstGeom>
          <a:noFill/>
          <a:ln/>
        </p:spPr>
        <p:txBody>
          <a:bodyPr wrap="square" lIns="0" tIns="0" rIns="0" bIns="0" rtlCol="0" anchor="ctr"/>
          <a:lstStyle/>
          <a:p>
            <a:pPr indent="0" marL="0">
              <a:buNone/>
            </a:pPr>
            <a:r>
              <a:rPr lang="en-US" sz="1200" b="1" dirty="0">
                <a:solidFill>
                  <a:srgbClr val="4CAF7D"/>
                </a:solidFill>
                <a:latin typeface="Calibri" pitchFamily="34" charset="0"/>
                <a:ea typeface="Calibri" pitchFamily="34" charset="-122"/>
                <a:cs typeface="Calibri" pitchFamily="34" charset="-120"/>
              </a:rPr>
              <a:t>トラウマ→発達障害への誤帰属</a:t>
            </a:r>
            <a:endParaRPr lang="en-US" sz="1200" dirty="0"/>
          </a:p>
        </p:txBody>
      </p:sp>
      <p:sp>
        <p:nvSpPr>
          <p:cNvPr id="9" name="Text 7"/>
          <p:cNvSpPr/>
          <p:nvPr/>
        </p:nvSpPr>
        <p:spPr>
          <a:xfrm>
            <a:off x="822960" y="1371600"/>
            <a:ext cx="5303520" cy="1097280"/>
          </a:xfrm>
          <a:prstGeom prst="rect">
            <a:avLst/>
          </a:prstGeom>
          <a:noFill/>
          <a:ln/>
        </p:spPr>
        <p:txBody>
          <a:bodyPr wrap="square" rtlCol="0" anchor="t"/>
          <a:lstStyle/>
          <a:p>
            <a:pPr indent="0" marL="0">
              <a:lnSpc>
                <a:spcPct val="130000"/>
              </a:lnSpc>
              <a:buNone/>
            </a:pPr>
            <a:r>
              <a:rPr lang="en-US" sz="1000" b="1" dirty="0">
                <a:solidFill>
                  <a:srgbClr val="000000"/>
                </a:solidFill>
              </a:rPr>
              <a:t>Brown et al. (2017, N=76,227): </a:t>
            </a:r>
            <a:pPr indent="0" marL="0">
              <a:lnSpc>
                <a:spcPct val="130000"/>
              </a:lnSpc>
              <a:buNone/>
            </a:pPr>
            <a:r>
              <a:rPr lang="en-US" sz="1000" dirty="0">
                <a:solidFill>
                  <a:srgbClr val="D0D8E8"/>
                </a:solidFill>
              </a:rPr>
              <a:t>ACEスコアとADHD診断に量反応関係</a:t>
            </a:r>
            <a:endParaRPr lang="en-US" sz="1000" dirty="0"/>
          </a:p>
          <a:p>
            <a:pPr indent="0" marL="0">
              <a:lnSpc>
                <a:spcPct val="130000"/>
              </a:lnSpc>
              <a:buNone/>
            </a:pPr>
            <a:r>
              <a:rPr lang="en-US" sz="1000" b="1" dirty="0">
                <a:solidFill>
                  <a:srgbClr val="000000"/>
                </a:solidFill>
              </a:rPr>
              <a:t>van der Kolk (2005): </a:t>
            </a:r>
            <a:pPr indent="0" marL="0">
              <a:lnSpc>
                <a:spcPct val="130000"/>
              </a:lnSpc>
              <a:buNone/>
            </a:pPr>
            <a:r>
              <a:rPr lang="en-US" sz="1000" dirty="0">
                <a:solidFill>
                  <a:srgbClr val="D0D8E8"/>
                </a:solidFill>
              </a:rPr>
              <a:t>発達性トラウマ障害(DTD)提案。慢性トラウマ児→ADHD/双極/ASDに誤診</a:t>
            </a:r>
            <a:endParaRPr lang="en-US" sz="1000" dirty="0"/>
          </a:p>
          <a:p>
            <a:pPr indent="0" marL="0">
              <a:lnSpc>
                <a:spcPct val="130000"/>
              </a:lnSpc>
              <a:buNone/>
            </a:pPr>
            <a:r>
              <a:rPr lang="en-US" sz="1000" b="1" dirty="0">
                <a:solidFill>
                  <a:srgbClr val="000000"/>
                </a:solidFill>
              </a:rPr>
              <a:t>Spinazzola et al. (2021): </a:t>
            </a:r>
            <a:pPr indent="0" marL="0">
              <a:lnSpc>
                <a:spcPct val="130000"/>
              </a:lnSpc>
              <a:buNone/>
            </a:pPr>
            <a:r>
              <a:rPr lang="en-US" sz="1000" dirty="0">
                <a:solidFill>
                  <a:srgbClr val="D0D8E8"/>
                </a:solidFill>
              </a:rPr>
              <a:t>DTDフィールドトライアル—精神保健治療児の27.3%が該当</a:t>
            </a:r>
            <a:endParaRPr lang="en-US" sz="1000" dirty="0"/>
          </a:p>
        </p:txBody>
      </p:sp>
      <p:sp>
        <p:nvSpPr>
          <p:cNvPr id="10" name="Shape 8"/>
          <p:cNvSpPr/>
          <p:nvPr/>
        </p:nvSpPr>
        <p:spPr>
          <a:xfrm>
            <a:off x="548640" y="2880360"/>
            <a:ext cx="5760720" cy="100584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1" name="Shape 9"/>
          <p:cNvSpPr/>
          <p:nvPr/>
        </p:nvSpPr>
        <p:spPr>
          <a:xfrm>
            <a:off x="548640" y="2880360"/>
            <a:ext cx="64008" cy="1005840"/>
          </a:xfrm>
          <a:prstGeom prst="rect">
            <a:avLst/>
          </a:prstGeom>
          <a:solidFill>
            <a:srgbClr val="4CAF7D"/>
          </a:solidFill>
          <a:ln/>
        </p:spPr>
      </p:sp>
      <p:sp>
        <p:nvSpPr>
          <p:cNvPr id="12" name="Text 10"/>
          <p:cNvSpPr/>
          <p:nvPr/>
        </p:nvSpPr>
        <p:spPr>
          <a:xfrm>
            <a:off x="822960" y="2926080"/>
            <a:ext cx="5303520" cy="320040"/>
          </a:xfrm>
          <a:prstGeom prst="rect">
            <a:avLst/>
          </a:prstGeom>
          <a:noFill/>
          <a:ln/>
        </p:spPr>
        <p:txBody>
          <a:bodyPr wrap="square" lIns="0" tIns="0" rIns="0" bIns="0" rtlCol="0" anchor="ctr"/>
          <a:lstStyle/>
          <a:p>
            <a:pPr indent="0" marL="0">
              <a:buNone/>
            </a:pPr>
            <a:r>
              <a:rPr lang="en-US" sz="1200" b="1" dirty="0">
                <a:solidFill>
                  <a:srgbClr val="4CAF7D"/>
                </a:solidFill>
                <a:latin typeface="Calibri" pitchFamily="34" charset="0"/>
                <a:ea typeface="Calibri" pitchFamily="34" charset="-122"/>
                <a:cs typeface="Calibri" pitchFamily="34" charset="-120"/>
              </a:rPr>
              <a:t>診断的覆い隠し（Diagnostic Overshadowing）</a:t>
            </a:r>
            <a:endParaRPr lang="en-US" sz="1200" dirty="0"/>
          </a:p>
        </p:txBody>
      </p:sp>
      <p:sp>
        <p:nvSpPr>
          <p:cNvPr id="13" name="Text 11"/>
          <p:cNvSpPr/>
          <p:nvPr/>
        </p:nvSpPr>
        <p:spPr>
          <a:xfrm>
            <a:off x="822960" y="3291840"/>
            <a:ext cx="5303520" cy="548640"/>
          </a:xfrm>
          <a:prstGeom prst="rect">
            <a:avLst/>
          </a:prstGeom>
          <a:noFill/>
          <a:ln/>
        </p:spPr>
        <p:txBody>
          <a:bodyPr wrap="square" rtlCol="0" anchor="t"/>
          <a:lstStyle/>
          <a:p>
            <a:pPr indent="0" marL="0">
              <a:lnSpc>
                <a:spcPct val="130000"/>
              </a:lnSpc>
              <a:buNone/>
            </a:pPr>
            <a:r>
              <a:rPr lang="en-US" sz="1000" b="1" dirty="0">
                <a:solidFill>
                  <a:srgbClr val="000000"/>
                </a:solidFill>
              </a:rPr>
              <a:t>Reiss et al. (1982): </a:t>
            </a:r>
            <a:pPr indent="0" marL="0">
              <a:lnSpc>
                <a:spcPct val="130000"/>
              </a:lnSpc>
              <a:buNone/>
            </a:pPr>
            <a:r>
              <a:rPr lang="en-US" sz="1000" dirty="0">
                <a:solidFill>
                  <a:srgbClr val="D0D8E8"/>
                </a:solidFill>
              </a:rPr>
              <a:t>概念の確立。知的障害の診断が併存精神疾患を覆い隠す</a:t>
            </a:r>
            <a:endParaRPr lang="en-US" sz="1000" dirty="0"/>
          </a:p>
          <a:p>
            <a:pPr indent="0" marL="0">
              <a:lnSpc>
                <a:spcPct val="130000"/>
              </a:lnSpc>
              <a:buNone/>
            </a:pPr>
            <a:r>
              <a:rPr lang="en-US" sz="1000" b="1" dirty="0">
                <a:solidFill>
                  <a:srgbClr val="000000"/>
                </a:solidFill>
              </a:rPr>
              <a:t>Dell'Armo &amp; Tassé (2024): </a:t>
            </a:r>
            <a:pPr indent="0" marL="0">
              <a:lnSpc>
                <a:spcPct val="130000"/>
              </a:lnSpc>
              <a:buNone/>
            </a:pPr>
            <a:r>
              <a:rPr lang="en-US" sz="1000" dirty="0">
                <a:solidFill>
                  <a:srgbClr val="D0D8E8"/>
                </a:solidFill>
              </a:rPr>
              <a:t>SR—平均19%の診断精度低下。但し実臨床では1/3で未確認</a:t>
            </a:r>
            <a:endParaRPr lang="en-US" sz="1000" dirty="0"/>
          </a:p>
        </p:txBody>
      </p:sp>
      <p:sp>
        <p:nvSpPr>
          <p:cNvPr id="14" name="Shape 12"/>
          <p:cNvSpPr/>
          <p:nvPr/>
        </p:nvSpPr>
        <p:spPr>
          <a:xfrm>
            <a:off x="548640" y="4160520"/>
            <a:ext cx="5760720" cy="16459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5" name="Shape 13"/>
          <p:cNvSpPr/>
          <p:nvPr/>
        </p:nvSpPr>
        <p:spPr>
          <a:xfrm>
            <a:off x="548640" y="4160520"/>
            <a:ext cx="64008" cy="1645920"/>
          </a:xfrm>
          <a:prstGeom prst="rect">
            <a:avLst/>
          </a:prstGeom>
          <a:solidFill>
            <a:srgbClr val="4CAF7D"/>
          </a:solidFill>
          <a:ln/>
        </p:spPr>
      </p:sp>
      <p:sp>
        <p:nvSpPr>
          <p:cNvPr id="16" name="Text 14"/>
          <p:cNvSpPr/>
          <p:nvPr/>
        </p:nvSpPr>
        <p:spPr>
          <a:xfrm>
            <a:off x="822960" y="4206240"/>
            <a:ext cx="5303520" cy="320040"/>
          </a:xfrm>
          <a:prstGeom prst="rect">
            <a:avLst/>
          </a:prstGeom>
          <a:noFill/>
          <a:ln/>
        </p:spPr>
        <p:txBody>
          <a:bodyPr wrap="square" lIns="0" tIns="0" rIns="0" bIns="0" rtlCol="0" anchor="ctr"/>
          <a:lstStyle/>
          <a:p>
            <a:pPr indent="0" marL="0">
              <a:buNone/>
            </a:pPr>
            <a:r>
              <a:rPr lang="en-US" sz="1200" b="1" dirty="0">
                <a:solidFill>
                  <a:srgbClr val="4CAF7D"/>
                </a:solidFill>
                <a:latin typeface="Calibri" pitchFamily="34" charset="0"/>
                <a:ea typeface="Calibri" pitchFamily="34" charset="-122"/>
                <a:cs typeface="Calibri" pitchFamily="34" charset="-120"/>
              </a:rPr>
              <a:t>処方カスケードと医原性併存症</a:t>
            </a:r>
            <a:endParaRPr lang="en-US" sz="1200" dirty="0"/>
          </a:p>
        </p:txBody>
      </p:sp>
      <p:sp>
        <p:nvSpPr>
          <p:cNvPr id="17" name="Text 15"/>
          <p:cNvSpPr/>
          <p:nvPr/>
        </p:nvSpPr>
        <p:spPr>
          <a:xfrm>
            <a:off x="822960" y="4572000"/>
            <a:ext cx="5303520" cy="1097280"/>
          </a:xfrm>
          <a:prstGeom prst="rect">
            <a:avLst/>
          </a:prstGeom>
          <a:noFill/>
          <a:ln/>
        </p:spPr>
        <p:txBody>
          <a:bodyPr wrap="square" rtlCol="0" anchor="t"/>
          <a:lstStyle/>
          <a:p>
            <a:pPr indent="0" marL="0">
              <a:lnSpc>
                <a:spcPct val="130000"/>
              </a:lnSpc>
              <a:buNone/>
            </a:pPr>
            <a:r>
              <a:rPr lang="en-US" sz="1000" b="1" dirty="0">
                <a:solidFill>
                  <a:srgbClr val="000000"/>
                </a:solidFill>
              </a:rPr>
              <a:t>Fava et al. (2016/2019): </a:t>
            </a:r>
            <a:pPr indent="0" marL="0">
              <a:lnSpc>
                <a:spcPct val="130000"/>
              </a:lnSpc>
              <a:buNone/>
            </a:pPr>
            <a:r>
              <a:rPr lang="en-US" sz="1000" dirty="0">
                <a:solidFill>
                  <a:srgbClr val="D0D8E8"/>
                </a:solidFill>
              </a:rPr>
              <a:t>医原性併存症・カスケード医原性の定義</a:t>
            </a:r>
            <a:endParaRPr lang="en-US" sz="1000" dirty="0"/>
          </a:p>
          <a:p>
            <a:pPr indent="0" marL="0">
              <a:lnSpc>
                <a:spcPct val="130000"/>
              </a:lnSpc>
              <a:buNone/>
            </a:pPr>
            <a:r>
              <a:rPr lang="en-US" sz="1000" b="1" dirty="0">
                <a:solidFill>
                  <a:srgbClr val="000000"/>
                </a:solidFill>
              </a:rPr>
              <a:t>Tyrer et al. (2008, Lancet RCT): </a:t>
            </a:r>
            <a:pPr indent="0" marL="0">
              <a:lnSpc>
                <a:spcPct val="130000"/>
              </a:lnSpc>
              <a:buNone/>
            </a:pPr>
            <a:r>
              <a:rPr lang="en-US" sz="1000" dirty="0">
                <a:solidFill>
                  <a:srgbClr val="D0D8E8"/>
                </a:solidFill>
              </a:rPr>
              <a:t>知的障害の攻撃性—プラセボが79%で最大減少（vs リスペリドン58%）</a:t>
            </a:r>
            <a:endParaRPr lang="en-US" sz="1000" dirty="0"/>
          </a:p>
          <a:p>
            <a:pPr indent="0" marL="0">
              <a:lnSpc>
                <a:spcPct val="130000"/>
              </a:lnSpc>
              <a:buNone/>
            </a:pPr>
            <a:r>
              <a:rPr lang="en-US" sz="1000" b="1" dirty="0">
                <a:solidFill>
                  <a:srgbClr val="000000"/>
                </a:solidFill>
              </a:rPr>
              <a:t>STOMP (UK): </a:t>
            </a:r>
            <a:pPr indent="0" marL="0">
              <a:lnSpc>
                <a:spcPct val="130000"/>
              </a:lnSpc>
              <a:buNone/>
            </a:pPr>
            <a:r>
              <a:rPr lang="en-US" sz="1000" dirty="0">
                <a:solidFill>
                  <a:srgbClr val="D0D8E8"/>
                </a:solidFill>
              </a:rPr>
              <a:t>~35,000名の学習障害成人が不適切に向精神薬処方。一般比16倍</a:t>
            </a:r>
            <a:endParaRPr lang="en-US" sz="1000" dirty="0"/>
          </a:p>
        </p:txBody>
      </p:sp>
      <p:sp>
        <p:nvSpPr>
          <p:cNvPr id="18" name="Shape 16"/>
          <p:cNvSpPr/>
          <p:nvPr/>
        </p:nvSpPr>
        <p:spPr>
          <a:xfrm>
            <a:off x="548640" y="6080760"/>
            <a:ext cx="5760720" cy="100584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9" name="Shape 17"/>
          <p:cNvSpPr/>
          <p:nvPr/>
        </p:nvSpPr>
        <p:spPr>
          <a:xfrm>
            <a:off x="548640" y="6080760"/>
            <a:ext cx="64008" cy="1005840"/>
          </a:xfrm>
          <a:prstGeom prst="rect">
            <a:avLst/>
          </a:prstGeom>
          <a:solidFill>
            <a:srgbClr val="2CB5C4"/>
          </a:solidFill>
          <a:ln/>
        </p:spPr>
      </p:sp>
      <p:sp>
        <p:nvSpPr>
          <p:cNvPr id="20" name="Text 18"/>
          <p:cNvSpPr/>
          <p:nvPr/>
        </p:nvSpPr>
        <p:spPr>
          <a:xfrm>
            <a:off x="822960" y="6126480"/>
            <a:ext cx="5303520" cy="320040"/>
          </a:xfrm>
          <a:prstGeom prst="rect">
            <a:avLst/>
          </a:prstGeom>
          <a:noFill/>
          <a:ln/>
        </p:spPr>
        <p:txBody>
          <a:bodyPr wrap="square" lIns="0" tIns="0" rIns="0" bIns="0" rtlCol="0" anchor="ctr"/>
          <a:lstStyle/>
          <a:p>
            <a:pPr indent="0" marL="0">
              <a:buNone/>
            </a:pPr>
            <a:r>
              <a:rPr lang="en-US" sz="1200" b="1" dirty="0">
                <a:solidFill>
                  <a:srgbClr val="2CB5C4"/>
                </a:solidFill>
                <a:latin typeface="Calibri" pitchFamily="34" charset="0"/>
                <a:ea typeface="Calibri" pitchFamily="34" charset="-122"/>
                <a:cs typeface="Calibri" pitchFamily="34" charset="-120"/>
              </a:rPr>
              <a:t>情報提供者バイアス</a:t>
            </a:r>
            <a:endParaRPr lang="en-US" sz="1200" dirty="0"/>
          </a:p>
        </p:txBody>
      </p:sp>
      <p:sp>
        <p:nvSpPr>
          <p:cNvPr id="21" name="Text 19"/>
          <p:cNvSpPr/>
          <p:nvPr/>
        </p:nvSpPr>
        <p:spPr>
          <a:xfrm>
            <a:off x="822960" y="6492240"/>
            <a:ext cx="5303520" cy="548640"/>
          </a:xfrm>
          <a:prstGeom prst="rect">
            <a:avLst/>
          </a:prstGeom>
          <a:noFill/>
          <a:ln/>
        </p:spPr>
        <p:txBody>
          <a:bodyPr wrap="square" rtlCol="0" anchor="t"/>
          <a:lstStyle/>
          <a:p>
            <a:pPr indent="0" marL="0">
              <a:lnSpc>
                <a:spcPct val="130000"/>
              </a:lnSpc>
              <a:buNone/>
            </a:pPr>
            <a:r>
              <a:rPr lang="en-US" sz="1000" b="1" dirty="0">
                <a:solidFill>
                  <a:srgbClr val="000000"/>
                </a:solidFill>
              </a:rPr>
              <a:t>De Los Reyes &amp; Kazdin (2005): </a:t>
            </a:r>
            <a:pPr indent="0" marL="0">
              <a:lnSpc>
                <a:spcPct val="130000"/>
              </a:lnSpc>
              <a:buNone/>
            </a:pPr>
            <a:r>
              <a:rPr lang="en-US" sz="1000" dirty="0">
                <a:solidFill>
                  <a:srgbClr val="D0D8E8"/>
                </a:solidFill>
              </a:rPr>
              <a:t>情報提供者間一致度は低〜中</a:t>
            </a:r>
            <a:endParaRPr lang="en-US" sz="1000" dirty="0"/>
          </a:p>
          <a:p>
            <a:pPr indent="0" marL="0">
              <a:lnSpc>
                <a:spcPct val="130000"/>
              </a:lnSpc>
              <a:buNone/>
            </a:pPr>
            <a:r>
              <a:rPr lang="en-US" sz="1000" b="1" dirty="0">
                <a:solidFill>
                  <a:srgbClr val="000000"/>
                </a:solidFill>
              </a:rPr>
              <a:t>うつ病歪曲仮説: </a:t>
            </a:r>
            <a:pPr indent="0" marL="0">
              <a:lnSpc>
                <a:spcPct val="130000"/>
              </a:lnSpc>
              <a:buNone/>
            </a:pPr>
            <a:r>
              <a:rPr lang="en-US" sz="1000" dirty="0">
                <a:solidFill>
                  <a:srgbClr val="D0D8E8"/>
                </a:solidFill>
              </a:rPr>
              <a:t>親の精神病理が子の行動報告を歪める（Müller 2011, Eronen 2021）</a:t>
            </a:r>
            <a:endParaRPr lang="en-US" sz="1000" dirty="0"/>
          </a:p>
        </p:txBody>
      </p:sp>
      <p:sp>
        <p:nvSpPr>
          <p:cNvPr id="22" name="Shape 20"/>
          <p:cNvSpPr/>
          <p:nvPr/>
        </p:nvSpPr>
        <p:spPr>
          <a:xfrm>
            <a:off x="548640" y="7360920"/>
            <a:ext cx="5760720" cy="822960"/>
          </a:xfrm>
          <a:prstGeom prst="rect">
            <a:avLst/>
          </a:prstGeom>
          <a:solidFill>
            <a:srgbClr val="1A0A30"/>
          </a:solidFill>
          <a:ln/>
          <a:effectLst>
            <a:outerShdw sx="100000" sy="100000" kx="0" ky="0" algn="bl" rotWithShape="0" blurRad="50800" dist="12700" dir="8100000">
              <a:srgbClr val="000000">
                <a:alpha val="20000"/>
              </a:srgbClr>
            </a:outerShdw>
          </a:effectLst>
        </p:spPr>
      </p:sp>
      <p:sp>
        <p:nvSpPr>
          <p:cNvPr id="23" name="Shape 21"/>
          <p:cNvSpPr/>
          <p:nvPr/>
        </p:nvSpPr>
        <p:spPr>
          <a:xfrm>
            <a:off x="548640" y="7360920"/>
            <a:ext cx="64008" cy="822960"/>
          </a:xfrm>
          <a:prstGeom prst="rect">
            <a:avLst/>
          </a:prstGeom>
          <a:solidFill>
            <a:srgbClr val="7B68C4"/>
          </a:solidFill>
          <a:ln/>
        </p:spPr>
      </p:sp>
      <p:sp>
        <p:nvSpPr>
          <p:cNvPr id="24" name="Text 22"/>
          <p:cNvSpPr/>
          <p:nvPr/>
        </p:nvSpPr>
        <p:spPr>
          <a:xfrm>
            <a:off x="822960" y="7406640"/>
            <a:ext cx="2743200" cy="274320"/>
          </a:xfrm>
          <a:prstGeom prst="rect">
            <a:avLst/>
          </a:prstGeom>
          <a:noFill/>
          <a:ln/>
        </p:spPr>
        <p:txBody>
          <a:bodyPr wrap="square" lIns="0" tIns="0" rIns="0" bIns="0" rtlCol="0" anchor="ctr"/>
          <a:lstStyle/>
          <a:p>
            <a:pPr indent="0" marL="0">
              <a:buNone/>
            </a:pPr>
            <a:r>
              <a:rPr lang="en-US" sz="1300" b="1" dirty="0">
                <a:solidFill>
                  <a:srgbClr val="7B68C4"/>
                </a:solidFill>
                <a:latin typeface="Calibri" pitchFamily="34" charset="0"/>
                <a:ea typeface="Calibri" pitchFamily="34" charset="-122"/>
                <a:cs typeface="Calibri" pitchFamily="34" charset="-120"/>
              </a:rPr>
              <a:t>リサーチギャップ</a:t>
            </a:r>
            <a:endParaRPr lang="en-US" sz="1300" dirty="0"/>
          </a:p>
        </p:txBody>
      </p:sp>
      <p:sp>
        <p:nvSpPr>
          <p:cNvPr id="25" name="Text 23"/>
          <p:cNvSpPr/>
          <p:nvPr/>
        </p:nvSpPr>
        <p:spPr>
          <a:xfrm>
            <a:off x="822960" y="7726680"/>
            <a:ext cx="5303520" cy="411480"/>
          </a:xfrm>
          <a:prstGeom prst="rect">
            <a:avLst/>
          </a:prstGeom>
          <a:noFill/>
          <a:ln/>
        </p:spPr>
        <p:txBody>
          <a:bodyPr wrap="square" rtlCol="0" anchor="ctr"/>
          <a:lstStyle/>
          <a:p>
            <a:pPr indent="0" marL="0">
              <a:lnSpc>
                <a:spcPct val="130000"/>
              </a:lnSpc>
              <a:buNone/>
            </a:pPr>
            <a:r>
              <a:rPr lang="en-US" sz="1000" dirty="0">
                <a:solidFill>
                  <a:srgbClr val="D0D8E8"/>
                </a:solidFill>
                <a:latin typeface="Calibri" pitchFamily="34" charset="0"/>
                <a:ea typeface="Calibri" pitchFamily="34" charset="-122"/>
                <a:cs typeface="Calibri" pitchFamily="34" charset="-120"/>
              </a:rPr>
              <a:t>誤帰属→不適切薬物療法→医原性症状→新診断→追加処方——この完全ループを縦断的に追跡した研究は存在しない</a:t>
            </a:r>
            <a:endParaRPr lang="en-US" sz="1000" dirty="0"/>
          </a:p>
        </p:txBody>
      </p:sp>
      <p:sp>
        <p:nvSpPr>
          <p:cNvPr id="26" name="Shape 24"/>
          <p:cNvSpPr/>
          <p:nvPr/>
        </p:nvSpPr>
        <p:spPr>
          <a:xfrm>
            <a:off x="0" y="9089136"/>
            <a:ext cx="6858000" cy="54864"/>
          </a:xfrm>
          <a:prstGeom prst="rect">
            <a:avLst/>
          </a:prstGeom>
          <a:solidFill>
            <a:srgbClr val="2196A4"/>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914400" cy="320040"/>
          </a:xfrm>
          <a:prstGeom prst="rect">
            <a:avLst/>
          </a:prstGeom>
          <a:solidFill>
            <a:srgbClr val="C62828"/>
          </a:solid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領域D</a:t>
            </a:r>
            <a:endParaRPr lang="en-US" sz="1200" dirty="0"/>
          </a:p>
        </p:txBody>
      </p:sp>
      <p:sp>
        <p:nvSpPr>
          <p:cNvPr id="4" name="Text 2"/>
          <p:cNvSpPr/>
          <p:nvPr/>
        </p:nvSpPr>
        <p:spPr>
          <a:xfrm>
            <a:off x="1645920" y="182880"/>
            <a:ext cx="46634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日本固有の構造的問題</a:t>
            </a:r>
            <a:endParaRPr lang="en-US" sz="1600" dirty="0"/>
          </a:p>
        </p:txBody>
      </p:sp>
      <p:sp>
        <p:nvSpPr>
          <p:cNvPr id="5" name="Shape 3"/>
          <p:cNvSpPr/>
          <p:nvPr/>
        </p:nvSpPr>
        <p:spPr>
          <a:xfrm>
            <a:off x="548640" y="685800"/>
            <a:ext cx="1645920" cy="22860"/>
          </a:xfrm>
          <a:prstGeom prst="rect">
            <a:avLst/>
          </a:prstGeom>
          <a:solidFill>
            <a:srgbClr val="C62828"/>
          </a:solidFill>
          <a:ln/>
        </p:spPr>
      </p:sp>
      <p:sp>
        <p:nvSpPr>
          <p:cNvPr id="6" name="Shape 4"/>
          <p:cNvSpPr/>
          <p:nvPr/>
        </p:nvSpPr>
        <p:spPr>
          <a:xfrm>
            <a:off x="548640" y="960120"/>
            <a:ext cx="5760720" cy="16459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7" name="Shape 5"/>
          <p:cNvSpPr/>
          <p:nvPr/>
        </p:nvSpPr>
        <p:spPr>
          <a:xfrm>
            <a:off x="548640" y="960120"/>
            <a:ext cx="64008" cy="1645920"/>
          </a:xfrm>
          <a:prstGeom prst="rect">
            <a:avLst/>
          </a:prstGeom>
          <a:solidFill>
            <a:srgbClr val="4CAF7D"/>
          </a:solidFill>
          <a:ln/>
        </p:spPr>
      </p:sp>
      <p:sp>
        <p:nvSpPr>
          <p:cNvPr id="8" name="Text 6"/>
          <p:cNvSpPr/>
          <p:nvPr/>
        </p:nvSpPr>
        <p:spPr>
          <a:xfrm>
            <a:off x="822960" y="1005840"/>
            <a:ext cx="5303520" cy="320040"/>
          </a:xfrm>
          <a:prstGeom prst="rect">
            <a:avLst/>
          </a:prstGeom>
          <a:noFill/>
          <a:ln/>
        </p:spPr>
        <p:txBody>
          <a:bodyPr wrap="square" lIns="0" tIns="0" rIns="0" bIns="0" rtlCol="0" anchor="ctr"/>
          <a:lstStyle/>
          <a:p>
            <a:pPr indent="0" marL="0">
              <a:buNone/>
            </a:pPr>
            <a:r>
              <a:rPr lang="en-US" sz="1200" b="1" dirty="0">
                <a:solidFill>
                  <a:srgbClr val="4CAF7D"/>
                </a:solidFill>
                <a:latin typeface="Calibri" pitchFamily="34" charset="0"/>
                <a:ea typeface="Calibri" pitchFamily="34" charset="-122"/>
                <a:cs typeface="Calibri" pitchFamily="34" charset="-120"/>
              </a:rPr>
              <a:t>国際的に突出した多剤処方</a:t>
            </a:r>
            <a:endParaRPr lang="en-US" sz="1200" dirty="0"/>
          </a:p>
        </p:txBody>
      </p:sp>
      <p:sp>
        <p:nvSpPr>
          <p:cNvPr id="9" name="Text 7"/>
          <p:cNvSpPr/>
          <p:nvPr/>
        </p:nvSpPr>
        <p:spPr>
          <a:xfrm>
            <a:off x="822960" y="1371600"/>
            <a:ext cx="5303520" cy="1097280"/>
          </a:xfrm>
          <a:prstGeom prst="rect">
            <a:avLst/>
          </a:prstGeom>
          <a:noFill/>
          <a:ln/>
        </p:spPr>
        <p:txBody>
          <a:bodyPr wrap="square" rtlCol="0" anchor="t"/>
          <a:lstStyle/>
          <a:p>
            <a:pPr indent="0" marL="0">
              <a:lnSpc>
                <a:spcPct val="130000"/>
              </a:lnSpc>
              <a:buNone/>
            </a:pPr>
            <a:r>
              <a:rPr lang="en-US" sz="1000" b="1" dirty="0">
                <a:solidFill>
                  <a:srgbClr val="000000"/>
                </a:solidFill>
              </a:rPr>
              <a:t>REAP研究 (Shinfuku, 2022): </a:t>
            </a:r>
            <a:pPr indent="0" marL="0">
              <a:lnSpc>
                <a:spcPct val="130000"/>
              </a:lnSpc>
              <a:buNone/>
            </a:pPr>
            <a:r>
              <a:rPr lang="en-US" sz="1000" dirty="0">
                <a:solidFill>
                  <a:srgbClr val="D0D8E8"/>
                </a:solidFill>
              </a:rPr>
              <a:t>アジア15カ国中、日本が統合失調症の多剤処方率・高用量処方で最高</a:t>
            </a:r>
            <a:endParaRPr lang="en-US" sz="1000" dirty="0"/>
          </a:p>
          <a:p>
            <a:pPr indent="0" marL="0">
              <a:lnSpc>
                <a:spcPct val="130000"/>
              </a:lnSpc>
              <a:buNone/>
            </a:pPr>
            <a:r>
              <a:rPr lang="en-US" sz="1000" b="1" dirty="0">
                <a:solidFill>
                  <a:srgbClr val="000000"/>
                </a:solidFill>
              </a:rPr>
              <a:t>Inada (2015): </a:t>
            </a:r>
            <a:pPr indent="0" marL="0">
              <a:lnSpc>
                <a:spcPct val="130000"/>
              </a:lnSpc>
              <a:buNone/>
            </a:pPr>
            <a:r>
              <a:rPr lang="en-US" sz="1000" dirty="0">
                <a:solidFill>
                  <a:srgbClr val="D0D8E8"/>
                </a:solidFill>
              </a:rPr>
              <a:t>保険制度が用量上限低設定＋薬剤数無制限→構造的に薬剤追加を促進</a:t>
            </a:r>
            <a:endParaRPr lang="en-US" sz="1000" dirty="0"/>
          </a:p>
          <a:p>
            <a:pPr indent="0" marL="0">
              <a:lnSpc>
                <a:spcPct val="130000"/>
              </a:lnSpc>
              <a:buNone/>
            </a:pPr>
            <a:r>
              <a:rPr lang="en-US" sz="1000" b="1" dirty="0">
                <a:solidFill>
                  <a:srgbClr val="000000"/>
                </a:solidFill>
              </a:rPr>
              <a:t>EGUIDEプロジェクト: </a:t>
            </a:r>
            <a:pPr indent="0" marL="0">
              <a:lnSpc>
                <a:spcPct val="130000"/>
              </a:lnSpc>
              <a:buNone/>
            </a:pPr>
            <a:r>
              <a:rPr lang="en-US" sz="1000" dirty="0">
                <a:solidFill>
                  <a:srgbClr val="D0D8E8"/>
                </a:solidFill>
              </a:rPr>
              <a:t>退院時SZ患者43%が抗精神病薬多剤併用。クロザピン使用率アジア最低(0.2%)</a:t>
            </a:r>
            <a:endParaRPr lang="en-US" sz="1000" dirty="0"/>
          </a:p>
        </p:txBody>
      </p:sp>
      <p:sp>
        <p:nvSpPr>
          <p:cNvPr id="10" name="Shape 8"/>
          <p:cNvSpPr/>
          <p:nvPr/>
        </p:nvSpPr>
        <p:spPr>
          <a:xfrm>
            <a:off x="548640" y="2880360"/>
            <a:ext cx="5760720" cy="137160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1" name="Shape 9"/>
          <p:cNvSpPr/>
          <p:nvPr/>
        </p:nvSpPr>
        <p:spPr>
          <a:xfrm>
            <a:off x="548640" y="2880360"/>
            <a:ext cx="64008" cy="1371600"/>
          </a:xfrm>
          <a:prstGeom prst="rect">
            <a:avLst/>
          </a:prstGeom>
          <a:solidFill>
            <a:srgbClr val="4CAF7D"/>
          </a:solidFill>
          <a:ln/>
        </p:spPr>
      </p:sp>
      <p:sp>
        <p:nvSpPr>
          <p:cNvPr id="12" name="Text 10"/>
          <p:cNvSpPr/>
          <p:nvPr/>
        </p:nvSpPr>
        <p:spPr>
          <a:xfrm>
            <a:off x="822960" y="2926080"/>
            <a:ext cx="5303520" cy="320040"/>
          </a:xfrm>
          <a:prstGeom prst="rect">
            <a:avLst/>
          </a:prstGeom>
          <a:noFill/>
          <a:ln/>
        </p:spPr>
        <p:txBody>
          <a:bodyPr wrap="square" lIns="0" tIns="0" rIns="0" bIns="0" rtlCol="0" anchor="ctr"/>
          <a:lstStyle/>
          <a:p>
            <a:pPr indent="0" marL="0">
              <a:buNone/>
            </a:pPr>
            <a:r>
              <a:rPr lang="en-US" sz="1200" b="1" dirty="0">
                <a:solidFill>
                  <a:srgbClr val="4CAF7D"/>
                </a:solidFill>
                <a:latin typeface="Calibri" pitchFamily="34" charset="0"/>
                <a:ea typeface="Calibri" pitchFamily="34" charset="-122"/>
                <a:cs typeface="Calibri" pitchFamily="34" charset="-120"/>
              </a:rPr>
              <a:t>文化的に媒介された診断バイアス</a:t>
            </a:r>
            <a:endParaRPr lang="en-US" sz="1200" dirty="0"/>
          </a:p>
        </p:txBody>
      </p:sp>
      <p:sp>
        <p:nvSpPr>
          <p:cNvPr id="13" name="Text 11"/>
          <p:cNvSpPr/>
          <p:nvPr/>
        </p:nvSpPr>
        <p:spPr>
          <a:xfrm>
            <a:off x="822960" y="3291840"/>
            <a:ext cx="5303520" cy="868680"/>
          </a:xfrm>
          <a:prstGeom prst="rect">
            <a:avLst/>
          </a:prstGeom>
          <a:noFill/>
          <a:ln/>
        </p:spPr>
        <p:txBody>
          <a:bodyPr wrap="square" rtlCol="0" anchor="t"/>
          <a:lstStyle/>
          <a:p>
            <a:pPr indent="0" marL="0">
              <a:lnSpc>
                <a:spcPct val="130000"/>
              </a:lnSpc>
              <a:buNone/>
            </a:pPr>
            <a:r>
              <a:rPr lang="en-US" sz="1000" b="1" dirty="0">
                <a:solidFill>
                  <a:srgbClr val="000000"/>
                </a:solidFill>
              </a:rPr>
              <a:t>Saito et al. (2018): </a:t>
            </a:r>
            <a:pPr indent="0" marL="0">
              <a:lnSpc>
                <a:spcPct val="130000"/>
              </a:lnSpc>
              <a:buNone/>
            </a:pPr>
            <a:r>
              <a:rPr lang="en-US" sz="1000" dirty="0">
                <a:solidFill>
                  <a:srgbClr val="D0D8E8"/>
                </a:solidFill>
              </a:rPr>
              <a:t>ADHDよりASDを認識するバイアス（欧米と逆）</a:t>
            </a:r>
            <a:endParaRPr lang="en-US" sz="1000" dirty="0"/>
          </a:p>
          <a:p>
            <a:pPr indent="0" marL="0">
              <a:lnSpc>
                <a:spcPct val="130000"/>
              </a:lnSpc>
              <a:buNone/>
            </a:pPr>
            <a:r>
              <a:rPr lang="en-US" sz="1000" b="1" dirty="0">
                <a:solidFill>
                  <a:srgbClr val="000000"/>
                </a:solidFill>
              </a:rPr>
              <a:t>Asai et al. (2022): </a:t>
            </a:r>
            <a:pPr indent="0" marL="0">
              <a:lnSpc>
                <a:spcPct val="130000"/>
              </a:lnSpc>
              <a:buNone/>
            </a:pPr>
            <a:r>
              <a:rPr lang="en-US" sz="1000" dirty="0">
                <a:solidFill>
                  <a:srgbClr val="D0D8E8"/>
                </a:solidFill>
              </a:rPr>
              <a:t>忖度・自粛・空気・同調圧力・村八分→逸脱の病理化構造</a:t>
            </a:r>
            <a:endParaRPr lang="en-US" sz="1000" dirty="0"/>
          </a:p>
          <a:p>
            <a:pPr indent="0" marL="0">
              <a:lnSpc>
                <a:spcPct val="130000"/>
              </a:lnSpc>
              <a:buNone/>
            </a:pPr>
            <a:r>
              <a:rPr lang="en-US" sz="1000" b="1" dirty="0">
                <a:solidFill>
                  <a:srgbClr val="000000"/>
                </a:solidFill>
              </a:rPr>
              <a:t>Kato et al. (2017, AJP): </a:t>
            </a:r>
            <a:pPr indent="0" marL="0">
              <a:lnSpc>
                <a:spcPct val="130000"/>
              </a:lnSpc>
              <a:buNone/>
            </a:pPr>
            <a:r>
              <a:rPr lang="en-US" sz="1000" dirty="0">
                <a:solidFill>
                  <a:srgbClr val="D0D8E8"/>
                </a:solidFill>
              </a:rPr>
              <a:t>「新型うつ」→社会的期待への不適合の暗黙の病理化</a:t>
            </a:r>
            <a:endParaRPr lang="en-US" sz="1000" dirty="0"/>
          </a:p>
        </p:txBody>
      </p:sp>
      <p:sp>
        <p:nvSpPr>
          <p:cNvPr id="14" name="Shape 12"/>
          <p:cNvSpPr/>
          <p:nvPr/>
        </p:nvSpPr>
        <p:spPr>
          <a:xfrm>
            <a:off x="548640" y="4526280"/>
            <a:ext cx="5760720" cy="137160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5" name="Shape 13"/>
          <p:cNvSpPr/>
          <p:nvPr/>
        </p:nvSpPr>
        <p:spPr>
          <a:xfrm>
            <a:off x="548640" y="4526280"/>
            <a:ext cx="64008" cy="1371600"/>
          </a:xfrm>
          <a:prstGeom prst="rect">
            <a:avLst/>
          </a:prstGeom>
          <a:solidFill>
            <a:srgbClr val="2CB5C4"/>
          </a:solidFill>
          <a:ln/>
        </p:spPr>
      </p:sp>
      <p:sp>
        <p:nvSpPr>
          <p:cNvPr id="16" name="Text 14"/>
          <p:cNvSpPr/>
          <p:nvPr/>
        </p:nvSpPr>
        <p:spPr>
          <a:xfrm>
            <a:off x="822960" y="4572000"/>
            <a:ext cx="5303520" cy="320040"/>
          </a:xfrm>
          <a:prstGeom prst="rect">
            <a:avLst/>
          </a:prstGeom>
          <a:noFill/>
          <a:ln/>
        </p:spPr>
        <p:txBody>
          <a:bodyPr wrap="square" lIns="0" tIns="0" rIns="0" bIns="0" rtlCol="0" anchor="ctr"/>
          <a:lstStyle/>
          <a:p>
            <a:pPr indent="0" marL="0">
              <a:buNone/>
            </a:pPr>
            <a:r>
              <a:rPr lang="en-US" sz="1200" b="1" dirty="0">
                <a:solidFill>
                  <a:srgbClr val="2CB5C4"/>
                </a:solidFill>
                <a:latin typeface="Calibri" pitchFamily="34" charset="0"/>
                <a:ea typeface="Calibri" pitchFamily="34" charset="-122"/>
                <a:cs typeface="Calibri" pitchFamily="34" charset="-120"/>
              </a:rPr>
              <a:t>ギフテッド誤診 / 診断名ベース福祉制度</a:t>
            </a:r>
            <a:endParaRPr lang="en-US" sz="1200" dirty="0"/>
          </a:p>
        </p:txBody>
      </p:sp>
      <p:sp>
        <p:nvSpPr>
          <p:cNvPr id="17" name="Text 15"/>
          <p:cNvSpPr/>
          <p:nvPr/>
        </p:nvSpPr>
        <p:spPr>
          <a:xfrm>
            <a:off x="822960" y="4937760"/>
            <a:ext cx="5303520" cy="868680"/>
          </a:xfrm>
          <a:prstGeom prst="rect">
            <a:avLst/>
          </a:prstGeom>
          <a:noFill/>
          <a:ln/>
        </p:spPr>
        <p:txBody>
          <a:bodyPr wrap="square" rtlCol="0" anchor="t"/>
          <a:lstStyle/>
          <a:p>
            <a:pPr indent="0" marL="0">
              <a:lnSpc>
                <a:spcPct val="130000"/>
              </a:lnSpc>
              <a:buNone/>
            </a:pPr>
            <a:r>
              <a:rPr lang="en-US" sz="1000" b="1" dirty="0">
                <a:solidFill>
                  <a:srgbClr val="000000"/>
                </a:solidFill>
              </a:rPr>
              <a:t>角谷 (2020): </a:t>
            </a:r>
            <a:pPr indent="0" marL="0">
              <a:lnSpc>
                <a:spcPct val="130000"/>
              </a:lnSpc>
              <a:buNone/>
            </a:pPr>
            <a:r>
              <a:rPr lang="en-US" sz="1000" dirty="0">
                <a:solidFill>
                  <a:srgbClr val="D0D8E8"/>
                </a:solidFill>
              </a:rPr>
              <a:t>日本にギフテッドの枠組みがなく、発達障害に分類されるリスク高</a:t>
            </a:r>
            <a:endParaRPr lang="en-US" sz="1000" dirty="0"/>
          </a:p>
          <a:p>
            <a:pPr indent="0" marL="0">
              <a:lnSpc>
                <a:spcPct val="130000"/>
              </a:lnSpc>
              <a:buNone/>
            </a:pPr>
            <a:r>
              <a:rPr lang="en-US" sz="1000" b="1" dirty="0">
                <a:solidFill>
                  <a:srgbClr val="000000"/>
                </a:solidFill>
              </a:rPr>
              <a:t>榊原: </a:t>
            </a:r>
            <a:pPr indent="0" marL="0">
              <a:lnSpc>
                <a:spcPct val="130000"/>
              </a:lnSpc>
              <a:buNone/>
            </a:pPr>
            <a:r>
              <a:rPr lang="en-US" sz="1000" dirty="0">
                <a:solidFill>
                  <a:srgbClr val="D0D8E8"/>
                </a:solidFill>
              </a:rPr>
              <a:t>セカンドオピニオン紹介児の約20%が誤診</a:t>
            </a:r>
            <a:endParaRPr lang="en-US" sz="1000" dirty="0"/>
          </a:p>
          <a:p>
            <a:pPr indent="0" marL="0">
              <a:lnSpc>
                <a:spcPct val="130000"/>
              </a:lnSpc>
              <a:buNone/>
            </a:pPr>
            <a:r>
              <a:rPr lang="en-US" sz="1000" b="1" dirty="0">
                <a:solidFill>
                  <a:srgbClr val="000000"/>
                </a:solidFill>
              </a:rPr>
              <a:t>障害者総合支援法: </a:t>
            </a:r>
            <a:pPr indent="0" marL="0">
              <a:lnSpc>
                <a:spcPct val="130000"/>
              </a:lnSpc>
              <a:buNone/>
            </a:pPr>
            <a:r>
              <a:rPr lang="en-US" sz="1000" dirty="0">
                <a:solidFill>
                  <a:srgbClr val="D0D8E8"/>
                </a:solidFill>
              </a:rPr>
              <a:t>診断名がサービスのゲートウェイ→誤診がカスケード的福祉帰結</a:t>
            </a:r>
            <a:endParaRPr lang="en-US" sz="1000" dirty="0"/>
          </a:p>
        </p:txBody>
      </p:sp>
      <p:sp>
        <p:nvSpPr>
          <p:cNvPr id="18" name="Shape 16"/>
          <p:cNvSpPr/>
          <p:nvPr/>
        </p:nvSpPr>
        <p:spPr>
          <a:xfrm>
            <a:off x="548640" y="6172200"/>
            <a:ext cx="5760720" cy="11887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9" name="Shape 17"/>
          <p:cNvSpPr/>
          <p:nvPr/>
        </p:nvSpPr>
        <p:spPr>
          <a:xfrm>
            <a:off x="548640" y="6172200"/>
            <a:ext cx="64008" cy="1188720"/>
          </a:xfrm>
          <a:prstGeom prst="rect">
            <a:avLst/>
          </a:prstGeom>
          <a:solidFill>
            <a:srgbClr val="E8915A"/>
          </a:solidFill>
          <a:ln/>
        </p:spPr>
      </p:sp>
      <p:sp>
        <p:nvSpPr>
          <p:cNvPr id="20" name="Text 18"/>
          <p:cNvSpPr/>
          <p:nvPr/>
        </p:nvSpPr>
        <p:spPr>
          <a:xfrm>
            <a:off x="822960" y="6217920"/>
            <a:ext cx="5303520" cy="320040"/>
          </a:xfrm>
          <a:prstGeom prst="rect">
            <a:avLst/>
          </a:prstGeom>
          <a:noFill/>
          <a:ln/>
        </p:spPr>
        <p:txBody>
          <a:bodyPr wrap="square" lIns="0" tIns="0" rIns="0" bIns="0" rtlCol="0" anchor="ctr"/>
          <a:lstStyle/>
          <a:p>
            <a:pPr indent="0" marL="0">
              <a:buNone/>
            </a:pPr>
            <a:r>
              <a:rPr lang="en-US" sz="1300" b="1" dirty="0">
                <a:solidFill>
                  <a:srgbClr val="E8915A"/>
                </a:solidFill>
                <a:latin typeface="Calibri" pitchFamily="34" charset="0"/>
                <a:ea typeface="Calibri" pitchFamily="34" charset="-122"/>
                <a:cs typeface="Calibri" pitchFamily="34" charset="-120"/>
              </a:rPr>
              <a:t>反証：日本のシステムの自己修正機能</a:t>
            </a:r>
            <a:endParaRPr lang="en-US" sz="1300" dirty="0"/>
          </a:p>
        </p:txBody>
      </p:sp>
      <p:sp>
        <p:nvSpPr>
          <p:cNvPr id="21" name="Text 19"/>
          <p:cNvSpPr/>
          <p:nvPr/>
        </p:nvSpPr>
        <p:spPr>
          <a:xfrm>
            <a:off x="822960" y="6583680"/>
            <a:ext cx="5303520" cy="731520"/>
          </a:xfrm>
          <a:prstGeom prst="rect">
            <a:avLst/>
          </a:prstGeom>
          <a:noFill/>
          <a:ln/>
        </p:spPr>
        <p:txBody>
          <a:bodyPr wrap="square" rtlCol="0" anchor="t"/>
          <a:lstStyle/>
          <a:p>
            <a:pPr indent="0" marL="0">
              <a:lnSpc>
                <a:spcPct val="130000"/>
              </a:lnSpc>
              <a:buNone/>
            </a:pPr>
            <a:r>
              <a:rPr lang="en-US" sz="1000" dirty="0">
                <a:solidFill>
                  <a:srgbClr val="D0D8E8"/>
                </a:solidFill>
              </a:rPr>
              <a:t>2012年以降の多剤処方減算政策→統計的に有意な減少（Hirano 2019）</a:t>
            </a:r>
            <a:endParaRPr lang="en-US" sz="1000" dirty="0"/>
          </a:p>
          <a:p>
            <a:pPr indent="0" marL="0">
              <a:lnSpc>
                <a:spcPct val="130000"/>
              </a:lnSpc>
              <a:buNone/>
            </a:pPr>
            <a:r>
              <a:rPr lang="en-US" sz="1000" dirty="0">
                <a:solidFill>
                  <a:srgbClr val="D0D8E8"/>
                </a:solidFill>
              </a:rPr>
              <a:t>2014年 障害支援区分への改革（体系的過小評価に対処）</a:t>
            </a:r>
            <a:endParaRPr lang="en-US" sz="1000" dirty="0"/>
          </a:p>
          <a:p>
            <a:pPr indent="0" marL="0">
              <a:lnSpc>
                <a:spcPct val="130000"/>
              </a:lnSpc>
              <a:buNone/>
            </a:pPr>
            <a:r>
              <a:rPr lang="en-US" sz="1000" dirty="0">
                <a:solidFill>
                  <a:srgbClr val="D0D8E8"/>
                </a:solidFill>
              </a:rPr>
              <a:t>訓練等給付・相談支援は柔軟な要件で利用可能</a:t>
            </a:r>
            <a:endParaRPr lang="en-US" sz="1000" dirty="0"/>
          </a:p>
          <a:p>
            <a:pPr indent="0" marL="0">
              <a:lnSpc>
                <a:spcPct val="130000"/>
              </a:lnSpc>
              <a:buNone/>
            </a:pPr>
            <a:r>
              <a:rPr lang="en-US" sz="1000" dirty="0">
                <a:solidFill>
                  <a:srgbClr val="D0D8E8"/>
                </a:solidFill>
              </a:rPr>
              <a:t>母子手帳制度はWHO推奨の国際的ベストプラクティス</a:t>
            </a:r>
            <a:endParaRPr lang="en-US" sz="1000" dirty="0"/>
          </a:p>
        </p:txBody>
      </p:sp>
      <p:sp>
        <p:nvSpPr>
          <p:cNvPr id="22" name="Shape 20"/>
          <p:cNvSpPr/>
          <p:nvPr/>
        </p:nvSpPr>
        <p:spPr>
          <a:xfrm>
            <a:off x="548640" y="7635240"/>
            <a:ext cx="5760720" cy="731520"/>
          </a:xfrm>
          <a:prstGeom prst="rect">
            <a:avLst/>
          </a:prstGeom>
          <a:solidFill>
            <a:srgbClr val="1A0A30"/>
          </a:solidFill>
          <a:ln/>
          <a:effectLst>
            <a:outerShdw sx="100000" sy="100000" kx="0" ky="0" algn="bl" rotWithShape="0" blurRad="50800" dist="12700" dir="8100000">
              <a:srgbClr val="000000">
                <a:alpha val="20000"/>
              </a:srgbClr>
            </a:outerShdw>
          </a:effectLst>
        </p:spPr>
      </p:sp>
      <p:sp>
        <p:nvSpPr>
          <p:cNvPr id="23" name="Shape 21"/>
          <p:cNvSpPr/>
          <p:nvPr/>
        </p:nvSpPr>
        <p:spPr>
          <a:xfrm>
            <a:off x="548640" y="7635240"/>
            <a:ext cx="64008" cy="731520"/>
          </a:xfrm>
          <a:prstGeom prst="rect">
            <a:avLst/>
          </a:prstGeom>
          <a:solidFill>
            <a:srgbClr val="7B68C4"/>
          </a:solidFill>
          <a:ln/>
        </p:spPr>
      </p:sp>
      <p:sp>
        <p:nvSpPr>
          <p:cNvPr id="24" name="Text 22"/>
          <p:cNvSpPr/>
          <p:nvPr/>
        </p:nvSpPr>
        <p:spPr>
          <a:xfrm>
            <a:off x="822960" y="7680960"/>
            <a:ext cx="2743200" cy="274320"/>
          </a:xfrm>
          <a:prstGeom prst="rect">
            <a:avLst/>
          </a:prstGeom>
          <a:noFill/>
          <a:ln/>
        </p:spPr>
        <p:txBody>
          <a:bodyPr wrap="square" lIns="0" tIns="0" rIns="0" bIns="0" rtlCol="0" anchor="ctr"/>
          <a:lstStyle/>
          <a:p>
            <a:pPr indent="0" marL="0">
              <a:buNone/>
            </a:pPr>
            <a:r>
              <a:rPr lang="en-US" sz="1300" b="1" dirty="0">
                <a:solidFill>
                  <a:srgbClr val="7B68C4"/>
                </a:solidFill>
                <a:latin typeface="Calibri" pitchFamily="34" charset="0"/>
                <a:ea typeface="Calibri" pitchFamily="34" charset="-122"/>
                <a:cs typeface="Calibri" pitchFamily="34" charset="-120"/>
              </a:rPr>
              <a:t>リサーチギャップ</a:t>
            </a:r>
            <a:endParaRPr lang="en-US" sz="1300" dirty="0"/>
          </a:p>
        </p:txBody>
      </p:sp>
      <p:sp>
        <p:nvSpPr>
          <p:cNvPr id="25" name="Text 23"/>
          <p:cNvSpPr/>
          <p:nvPr/>
        </p:nvSpPr>
        <p:spPr>
          <a:xfrm>
            <a:off x="822960" y="7955280"/>
            <a:ext cx="5303520" cy="320040"/>
          </a:xfrm>
          <a:prstGeom prst="rect">
            <a:avLst/>
          </a:prstGeom>
          <a:noFill/>
          <a:ln/>
        </p:spPr>
        <p:txBody>
          <a:bodyPr wrap="square" rtlCol="0" anchor="ctr"/>
          <a:lstStyle/>
          <a:p>
            <a:pPr indent="0" marL="0">
              <a:lnSpc>
                <a:spcPct val="130000"/>
              </a:lnSpc>
              <a:buNone/>
            </a:pPr>
            <a:r>
              <a:rPr lang="en-US" sz="1000" dirty="0">
                <a:solidFill>
                  <a:srgbClr val="D0D8E8"/>
                </a:solidFill>
                <a:latin typeface="Calibri" pitchFamily="34" charset="0"/>
                <a:ea typeface="Calibri" pitchFamily="34" charset="-122"/>
                <a:cs typeface="Calibri" pitchFamily="34" charset="-120"/>
              </a:rPr>
              <a:t>母子手帳の成人期保管率と記録消失が発達アセスメントに与える影響→基本データが文献に欠如</a:t>
            </a:r>
            <a:endParaRPr lang="en-US" sz="1000" dirty="0"/>
          </a:p>
        </p:txBody>
      </p:sp>
      <p:sp>
        <p:nvSpPr>
          <p:cNvPr id="26" name="Shape 24"/>
          <p:cNvSpPr/>
          <p:nvPr/>
        </p:nvSpPr>
        <p:spPr>
          <a:xfrm>
            <a:off x="0" y="9089136"/>
            <a:ext cx="6858000" cy="54864"/>
          </a:xfrm>
          <a:prstGeom prst="rect">
            <a:avLst/>
          </a:prstGeom>
          <a:solidFill>
            <a:srgbClr val="2196A4"/>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576072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領域横断的統合</a:t>
            </a:r>
            <a:endParaRPr lang="en-US" sz="2200" dirty="0"/>
          </a:p>
        </p:txBody>
      </p:sp>
      <p:sp>
        <p:nvSpPr>
          <p:cNvPr id="4" name="Shape 2"/>
          <p:cNvSpPr/>
          <p:nvPr/>
        </p:nvSpPr>
        <p:spPr>
          <a:xfrm>
            <a:off x="548640" y="731520"/>
            <a:ext cx="1645920" cy="22860"/>
          </a:xfrm>
          <a:prstGeom prst="rect">
            <a:avLst/>
          </a:prstGeom>
          <a:solidFill>
            <a:srgbClr val="2196A4"/>
          </a:solidFill>
          <a:ln/>
        </p:spPr>
      </p:sp>
      <p:sp>
        <p:nvSpPr>
          <p:cNvPr id="5" name="Text 3"/>
          <p:cNvSpPr/>
          <p:nvPr/>
        </p:nvSpPr>
        <p:spPr>
          <a:xfrm>
            <a:off x="548640" y="960120"/>
            <a:ext cx="5760720" cy="365760"/>
          </a:xfrm>
          <a:prstGeom prst="rect">
            <a:avLst/>
          </a:prstGeom>
          <a:noFill/>
          <a:ln/>
        </p:spPr>
        <p:txBody>
          <a:bodyPr wrap="square" rtlCol="0" anchor="ctr"/>
          <a:lstStyle/>
          <a:p>
            <a:pPr indent="0" marL="0">
              <a:buNone/>
            </a:pPr>
            <a:r>
              <a:rPr lang="en-US" sz="1200" i="1" dirty="0">
                <a:solidFill>
                  <a:srgbClr val="2CB5C4"/>
                </a:solidFill>
                <a:latin typeface="Calibri" pitchFamily="34" charset="0"/>
                <a:ea typeface="Calibri" pitchFamily="34" charset="-122"/>
                <a:cs typeface="Calibri" pitchFamily="34" charset="-120"/>
              </a:rPr>
              <a:t>4領域は独立ではなく、相互に強化するシステムを形成している</a:t>
            </a:r>
            <a:endParaRPr lang="en-US" sz="1200" dirty="0"/>
          </a:p>
        </p:txBody>
      </p:sp>
      <p:sp>
        <p:nvSpPr>
          <p:cNvPr id="6" name="Shape 4"/>
          <p:cNvSpPr/>
          <p:nvPr/>
        </p:nvSpPr>
        <p:spPr>
          <a:xfrm>
            <a:off x="548640" y="1554480"/>
            <a:ext cx="5760720" cy="9601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7" name="Shape 5"/>
          <p:cNvSpPr/>
          <p:nvPr/>
        </p:nvSpPr>
        <p:spPr>
          <a:xfrm>
            <a:off x="548640" y="1554480"/>
            <a:ext cx="64008" cy="960120"/>
          </a:xfrm>
          <a:prstGeom prst="rect">
            <a:avLst/>
          </a:prstGeom>
          <a:solidFill>
            <a:srgbClr val="1565C0"/>
          </a:solidFill>
          <a:ln/>
        </p:spPr>
      </p:sp>
      <p:sp>
        <p:nvSpPr>
          <p:cNvPr id="8" name="Text 6"/>
          <p:cNvSpPr/>
          <p:nvPr/>
        </p:nvSpPr>
        <p:spPr>
          <a:xfrm>
            <a:off x="822960" y="1600200"/>
            <a:ext cx="5303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 → C：診断的異質性が誤帰属を可能にする</a:t>
            </a:r>
            <a:endParaRPr lang="en-US" sz="1100" dirty="0"/>
          </a:p>
        </p:txBody>
      </p:sp>
      <p:sp>
        <p:nvSpPr>
          <p:cNvPr id="9" name="Text 7"/>
          <p:cNvSpPr/>
          <p:nvPr/>
        </p:nvSpPr>
        <p:spPr>
          <a:xfrm>
            <a:off x="822960" y="1965960"/>
            <a:ext cx="5303520" cy="45720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同一行動表現型が異なるメカニズムから生じる場合、臨床医は先天的/環境的/相互作用的起源を区別できない</a:t>
            </a:r>
            <a:endParaRPr lang="en-US" sz="1000" dirty="0"/>
          </a:p>
        </p:txBody>
      </p:sp>
      <p:sp>
        <p:nvSpPr>
          <p:cNvPr id="10" name="Shape 8"/>
          <p:cNvSpPr/>
          <p:nvPr/>
        </p:nvSpPr>
        <p:spPr>
          <a:xfrm>
            <a:off x="548640" y="2743200"/>
            <a:ext cx="5760720" cy="9601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1" name="Shape 9"/>
          <p:cNvSpPr/>
          <p:nvPr/>
        </p:nvSpPr>
        <p:spPr>
          <a:xfrm>
            <a:off x="548640" y="2743200"/>
            <a:ext cx="64008" cy="960120"/>
          </a:xfrm>
          <a:prstGeom prst="rect">
            <a:avLst/>
          </a:prstGeom>
          <a:solidFill>
            <a:srgbClr val="E65100"/>
          </a:solidFill>
          <a:ln/>
        </p:spPr>
      </p:sp>
      <p:sp>
        <p:nvSpPr>
          <p:cNvPr id="12" name="Text 10"/>
          <p:cNvSpPr/>
          <p:nvPr/>
        </p:nvSpPr>
        <p:spPr>
          <a:xfrm>
            <a:off x="822960" y="2788920"/>
            <a:ext cx="5303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 → C：体質的感受性が誤帰属への脆弱性を増幅</a:t>
            </a:r>
            <a:endParaRPr lang="en-US" sz="1100" dirty="0"/>
          </a:p>
        </p:txBody>
      </p:sp>
      <p:sp>
        <p:nvSpPr>
          <p:cNvPr id="13" name="Text 11"/>
          <p:cNvSpPr/>
          <p:nvPr/>
        </p:nvSpPr>
        <p:spPr>
          <a:xfrm>
            <a:off x="822960" y="3154680"/>
            <a:ext cx="5303520" cy="45720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③型の行動表出は①と②の双方を模倣。SPSとASD感覚基準の表現型的重複が誤診を誘発</a:t>
            </a:r>
            <a:endParaRPr lang="en-US" sz="1000" dirty="0"/>
          </a:p>
        </p:txBody>
      </p:sp>
      <p:sp>
        <p:nvSpPr>
          <p:cNvPr id="14" name="Shape 12"/>
          <p:cNvSpPr/>
          <p:nvPr/>
        </p:nvSpPr>
        <p:spPr>
          <a:xfrm>
            <a:off x="548640" y="3931920"/>
            <a:ext cx="5760720" cy="9601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5" name="Shape 13"/>
          <p:cNvSpPr/>
          <p:nvPr/>
        </p:nvSpPr>
        <p:spPr>
          <a:xfrm>
            <a:off x="548640" y="3931920"/>
            <a:ext cx="64008" cy="960120"/>
          </a:xfrm>
          <a:prstGeom prst="rect">
            <a:avLst/>
          </a:prstGeom>
          <a:solidFill>
            <a:srgbClr val="6A1B9A"/>
          </a:solidFill>
          <a:ln/>
        </p:spPr>
      </p:sp>
      <p:sp>
        <p:nvSpPr>
          <p:cNvPr id="16" name="Text 14"/>
          <p:cNvSpPr/>
          <p:nvPr/>
        </p:nvSpPr>
        <p:spPr>
          <a:xfrm>
            <a:off x="822960" y="3977640"/>
            <a:ext cx="5303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 → D：情報提供者バイアスが日本のシステムに構造的に埋め込み</a:t>
            </a:r>
            <a:endParaRPr lang="en-US" sz="1100" dirty="0"/>
          </a:p>
        </p:txBody>
      </p:sp>
      <p:sp>
        <p:nvSpPr>
          <p:cNvPr id="17" name="Text 15"/>
          <p:cNvSpPr/>
          <p:nvPr/>
        </p:nvSpPr>
        <p:spPr>
          <a:xfrm>
            <a:off x="822960" y="4343400"/>
            <a:ext cx="5303520" cy="45720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母子手帳・臨床面接を通じた保護者報告依存 × ASD感受性バイアス（Saito 2018）→ 文化的に好まれる診断への誘導</a:t>
            </a:r>
            <a:endParaRPr lang="en-US" sz="1000" dirty="0"/>
          </a:p>
        </p:txBody>
      </p:sp>
      <p:sp>
        <p:nvSpPr>
          <p:cNvPr id="18" name="Shape 16"/>
          <p:cNvSpPr/>
          <p:nvPr/>
        </p:nvSpPr>
        <p:spPr>
          <a:xfrm>
            <a:off x="548640" y="5120640"/>
            <a:ext cx="5760720" cy="9601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9" name="Shape 17"/>
          <p:cNvSpPr/>
          <p:nvPr/>
        </p:nvSpPr>
        <p:spPr>
          <a:xfrm>
            <a:off x="548640" y="5120640"/>
            <a:ext cx="64008" cy="960120"/>
          </a:xfrm>
          <a:prstGeom prst="rect">
            <a:avLst/>
          </a:prstGeom>
          <a:solidFill>
            <a:srgbClr val="C62828"/>
          </a:solidFill>
          <a:ln/>
        </p:spPr>
      </p:sp>
      <p:sp>
        <p:nvSpPr>
          <p:cNvPr id="20" name="Text 18"/>
          <p:cNvSpPr/>
          <p:nvPr/>
        </p:nvSpPr>
        <p:spPr>
          <a:xfrm>
            <a:off x="822960" y="5166360"/>
            <a:ext cx="5303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 → C：日本の多剤処方構造が医原性カスケードを加速</a:t>
            </a:r>
            <a:endParaRPr lang="en-US" sz="1100" dirty="0"/>
          </a:p>
        </p:txBody>
      </p:sp>
      <p:sp>
        <p:nvSpPr>
          <p:cNvPr id="21" name="Text 19"/>
          <p:cNvSpPr/>
          <p:nvPr/>
        </p:nvSpPr>
        <p:spPr>
          <a:xfrm>
            <a:off x="822960" y="5532120"/>
            <a:ext cx="5303520" cy="45720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保険制度の薬剤追加バイアス（Inada 2015）× 低クロザピン使用率 → 誤診者の医原性増幅リスクが特に高い</a:t>
            </a:r>
            <a:endParaRPr lang="en-US" sz="1000" dirty="0"/>
          </a:p>
        </p:txBody>
      </p:sp>
      <p:sp>
        <p:nvSpPr>
          <p:cNvPr id="22" name="Shape 20"/>
          <p:cNvSpPr/>
          <p:nvPr/>
        </p:nvSpPr>
        <p:spPr>
          <a:xfrm>
            <a:off x="548640" y="6309360"/>
            <a:ext cx="5760720" cy="96012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23" name="Shape 21"/>
          <p:cNvSpPr/>
          <p:nvPr/>
        </p:nvSpPr>
        <p:spPr>
          <a:xfrm>
            <a:off x="548640" y="6309360"/>
            <a:ext cx="64008" cy="960120"/>
          </a:xfrm>
          <a:prstGeom prst="rect">
            <a:avLst/>
          </a:prstGeom>
          <a:solidFill>
            <a:srgbClr val="37474F"/>
          </a:solidFill>
          <a:ln/>
        </p:spPr>
      </p:sp>
      <p:sp>
        <p:nvSpPr>
          <p:cNvPr id="24" name="Text 22"/>
          <p:cNvSpPr/>
          <p:nvPr/>
        </p:nvSpPr>
        <p:spPr>
          <a:xfrm>
            <a:off x="822960" y="6355080"/>
            <a:ext cx="5303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 → A+B+C：診断名ベース福祉制度がエラーを固定化</a:t>
            </a:r>
            <a:endParaRPr lang="en-US" sz="1100" dirty="0"/>
          </a:p>
        </p:txBody>
      </p:sp>
      <p:sp>
        <p:nvSpPr>
          <p:cNvPr id="25" name="Text 23"/>
          <p:cNvSpPr/>
          <p:nvPr/>
        </p:nvSpPr>
        <p:spPr>
          <a:xfrm>
            <a:off x="822960" y="6720840"/>
            <a:ext cx="5303520" cy="45720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③型のASD誤診者→器質的ASD用就労支援→不要な薬物療法→相互作用メカニズムに一度も対処されない福祉軌道</a:t>
            </a:r>
            <a:endParaRPr lang="en-US" sz="1000" dirty="0"/>
          </a:p>
        </p:txBody>
      </p:sp>
      <p:sp>
        <p:nvSpPr>
          <p:cNvPr id="26" name="Text 24"/>
          <p:cNvSpPr/>
          <p:nvPr/>
        </p:nvSpPr>
        <p:spPr>
          <a:xfrm>
            <a:off x="548640" y="7589520"/>
            <a:ext cx="5760720" cy="365760"/>
          </a:xfrm>
          <a:prstGeom prst="rect">
            <a:avLst/>
          </a:prstGeom>
          <a:noFill/>
          <a:ln/>
        </p:spPr>
        <p:txBody>
          <a:bodyPr wrap="square" rtlCol="0" anchor="ctr"/>
          <a:lstStyle/>
          <a:p>
            <a:pPr indent="0" marL="0">
              <a:buNone/>
            </a:pPr>
            <a:r>
              <a:rPr lang="en-US" sz="1200" b="1" i="1" dirty="0">
                <a:solidFill>
                  <a:srgbClr val="E8915A"/>
                </a:solidFill>
                <a:latin typeface="Calibri" pitchFamily="34" charset="0"/>
                <a:ea typeface="Calibri" pitchFamily="34" charset="-122"/>
                <a:cs typeface="Calibri" pitchFamily="34" charset="-120"/>
              </a:rPr>
              <a:t>→ 単一ループではなく螺旋的に増幅する構造</a:t>
            </a:r>
            <a:endParaRPr lang="en-US" sz="1200" dirty="0"/>
          </a:p>
        </p:txBody>
      </p:sp>
      <p:sp>
        <p:nvSpPr>
          <p:cNvPr id="27" name="Shape 25"/>
          <p:cNvSpPr/>
          <p:nvPr/>
        </p:nvSpPr>
        <p:spPr>
          <a:xfrm>
            <a:off x="0" y="9089136"/>
            <a:ext cx="6858000" cy="54864"/>
          </a:xfrm>
          <a:prstGeom prst="rect">
            <a:avLst/>
          </a:prstGeom>
          <a:solidFill>
            <a:srgbClr val="2196A4"/>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576072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リサーチギャップマップと研究戦略</a:t>
            </a:r>
            <a:endParaRPr lang="en-US" sz="2200" dirty="0"/>
          </a:p>
        </p:txBody>
      </p:sp>
      <p:sp>
        <p:nvSpPr>
          <p:cNvPr id="4" name="Shape 2"/>
          <p:cNvSpPr/>
          <p:nvPr/>
        </p:nvSpPr>
        <p:spPr>
          <a:xfrm>
            <a:off x="548640" y="731520"/>
            <a:ext cx="1645920" cy="22860"/>
          </a:xfrm>
          <a:prstGeom prst="rect">
            <a:avLst/>
          </a:prstGeom>
          <a:solidFill>
            <a:srgbClr val="2196A4"/>
          </a:solidFill>
          <a:ln/>
        </p:spPr>
      </p:sp>
      <p:sp>
        <p:nvSpPr>
          <p:cNvPr id="5" name="Shape 3"/>
          <p:cNvSpPr/>
          <p:nvPr/>
        </p:nvSpPr>
        <p:spPr>
          <a:xfrm>
            <a:off x="548640" y="105156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6" name="Shape 4"/>
          <p:cNvSpPr/>
          <p:nvPr/>
        </p:nvSpPr>
        <p:spPr>
          <a:xfrm>
            <a:off x="548640" y="1051560"/>
            <a:ext cx="64008" cy="1097280"/>
          </a:xfrm>
          <a:prstGeom prst="rect">
            <a:avLst/>
          </a:prstGeom>
          <a:solidFill>
            <a:srgbClr val="7B68C4"/>
          </a:solidFill>
          <a:ln/>
        </p:spPr>
      </p:sp>
      <p:sp>
        <p:nvSpPr>
          <p:cNvPr id="7" name="Text 5"/>
          <p:cNvSpPr/>
          <p:nvPr/>
        </p:nvSpPr>
        <p:spPr>
          <a:xfrm>
            <a:off x="5303520" y="1097280"/>
            <a:ext cx="822960" cy="228600"/>
          </a:xfrm>
          <a:prstGeom prst="rect">
            <a:avLst/>
          </a:prstGeom>
          <a:solidFill>
            <a:srgbClr val="7B68C4"/>
          </a:solid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最優先</a:t>
            </a:r>
            <a:endParaRPr lang="en-US" sz="800" dirty="0"/>
          </a:p>
        </p:txBody>
      </p:sp>
      <p:sp>
        <p:nvSpPr>
          <p:cNvPr id="8" name="Text 6"/>
          <p:cNvSpPr/>
          <p:nvPr/>
        </p:nvSpPr>
        <p:spPr>
          <a:xfrm>
            <a:off x="822960" y="1097280"/>
            <a:ext cx="4297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統一的構成概念としての③経路</a:t>
            </a:r>
            <a:endParaRPr lang="en-US" sz="1200" dirty="0"/>
          </a:p>
        </p:txBody>
      </p:sp>
      <p:sp>
        <p:nvSpPr>
          <p:cNvPr id="9" name="Text 7"/>
          <p:cNvSpPr/>
          <p:nvPr/>
        </p:nvSpPr>
        <p:spPr>
          <a:xfrm>
            <a:off x="822960" y="1417320"/>
            <a:ext cx="5303520" cy="64008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閾値下の体質的特性→増幅された主観的環境影響→ACEs相当の蓄積→十分な環境における顕在的困難。個別要素は支持済み、統合は未研究。</a:t>
            </a:r>
            <a:endParaRPr lang="en-US" sz="1000" dirty="0"/>
          </a:p>
        </p:txBody>
      </p:sp>
      <p:sp>
        <p:nvSpPr>
          <p:cNvPr id="10" name="Shape 8"/>
          <p:cNvSpPr/>
          <p:nvPr/>
        </p:nvSpPr>
        <p:spPr>
          <a:xfrm>
            <a:off x="548640" y="242316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1" name="Shape 9"/>
          <p:cNvSpPr/>
          <p:nvPr/>
        </p:nvSpPr>
        <p:spPr>
          <a:xfrm>
            <a:off x="548640" y="2423160"/>
            <a:ext cx="64008" cy="1097280"/>
          </a:xfrm>
          <a:prstGeom prst="rect">
            <a:avLst/>
          </a:prstGeom>
          <a:solidFill>
            <a:srgbClr val="7B68C4"/>
          </a:solidFill>
          <a:ln/>
        </p:spPr>
      </p:sp>
      <p:sp>
        <p:nvSpPr>
          <p:cNvPr id="12" name="Text 10"/>
          <p:cNvSpPr/>
          <p:nvPr/>
        </p:nvSpPr>
        <p:spPr>
          <a:xfrm>
            <a:off x="5303520" y="2468880"/>
            <a:ext cx="822960" cy="228600"/>
          </a:xfrm>
          <a:prstGeom prst="rect">
            <a:avLst/>
          </a:prstGeom>
          <a:solidFill>
            <a:srgbClr val="7B68C4"/>
          </a:solid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高</a:t>
            </a:r>
            <a:endParaRPr lang="en-US" sz="800" dirty="0"/>
          </a:p>
        </p:txBody>
      </p:sp>
      <p:sp>
        <p:nvSpPr>
          <p:cNvPr id="13" name="Text 11"/>
          <p:cNvSpPr/>
          <p:nvPr/>
        </p:nvSpPr>
        <p:spPr>
          <a:xfrm>
            <a:off x="822960" y="2468880"/>
            <a:ext cx="4297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医原性増幅ループの縦断的追跡</a:t>
            </a:r>
            <a:endParaRPr lang="en-US" sz="1200" dirty="0"/>
          </a:p>
        </p:txBody>
      </p:sp>
      <p:sp>
        <p:nvSpPr>
          <p:cNvPr id="14" name="Text 12"/>
          <p:cNvSpPr/>
          <p:nvPr/>
        </p:nvSpPr>
        <p:spPr>
          <a:xfrm>
            <a:off x="822960" y="2788920"/>
            <a:ext cx="5303520" cy="64008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誤帰属→不適切薬物→医原性症状→新診断→追加処方の完全サイクル。各リンクは文書化済み、循環プロセスは未追跡。就労支援の位置＝下流からの独自観点。</a:t>
            </a:r>
            <a:endParaRPr lang="en-US" sz="1000" dirty="0"/>
          </a:p>
        </p:txBody>
      </p:sp>
      <p:sp>
        <p:nvSpPr>
          <p:cNvPr id="15" name="Shape 13"/>
          <p:cNvSpPr/>
          <p:nvPr/>
        </p:nvSpPr>
        <p:spPr>
          <a:xfrm>
            <a:off x="548640" y="379476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6" name="Shape 14"/>
          <p:cNvSpPr/>
          <p:nvPr/>
        </p:nvSpPr>
        <p:spPr>
          <a:xfrm>
            <a:off x="548640" y="3794760"/>
            <a:ext cx="64008" cy="1097280"/>
          </a:xfrm>
          <a:prstGeom prst="rect">
            <a:avLst/>
          </a:prstGeom>
          <a:solidFill>
            <a:srgbClr val="7B68C4"/>
          </a:solidFill>
          <a:ln/>
        </p:spPr>
      </p:sp>
      <p:sp>
        <p:nvSpPr>
          <p:cNvPr id="17" name="Text 15"/>
          <p:cNvSpPr/>
          <p:nvPr/>
        </p:nvSpPr>
        <p:spPr>
          <a:xfrm>
            <a:off x="5303520" y="3840480"/>
            <a:ext cx="822960" cy="228600"/>
          </a:xfrm>
          <a:prstGeom prst="rect">
            <a:avLst/>
          </a:prstGeom>
          <a:solidFill>
            <a:srgbClr val="7B68C4"/>
          </a:solid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高</a:t>
            </a:r>
            <a:endParaRPr lang="en-US" sz="800" dirty="0"/>
          </a:p>
        </p:txBody>
      </p:sp>
      <p:sp>
        <p:nvSpPr>
          <p:cNvPr id="18" name="Text 16"/>
          <p:cNvSpPr/>
          <p:nvPr/>
        </p:nvSpPr>
        <p:spPr>
          <a:xfrm>
            <a:off x="822960" y="3840480"/>
            <a:ext cx="4297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日本固有の構造的連鎖</a:t>
            </a:r>
            <a:endParaRPr lang="en-US" sz="1200" dirty="0"/>
          </a:p>
        </p:txBody>
      </p:sp>
      <p:sp>
        <p:nvSpPr>
          <p:cNvPr id="19" name="Text 17"/>
          <p:cNvSpPr/>
          <p:nvPr/>
        </p:nvSpPr>
        <p:spPr>
          <a:xfrm>
            <a:off x="822960" y="4160520"/>
            <a:ext cx="5303520" cy="64008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文化的同調圧力→診断バイアス→福祉制度参入→多剤処方リスク→機能的能力低下。各構成要素にエビデンスあり、相互作用は未検証。</a:t>
            </a:r>
            <a:endParaRPr lang="en-US" sz="1000" dirty="0"/>
          </a:p>
        </p:txBody>
      </p:sp>
      <p:sp>
        <p:nvSpPr>
          <p:cNvPr id="20" name="Shape 18"/>
          <p:cNvSpPr/>
          <p:nvPr/>
        </p:nvSpPr>
        <p:spPr>
          <a:xfrm>
            <a:off x="548640" y="507492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21" name="Shape 19"/>
          <p:cNvSpPr/>
          <p:nvPr/>
        </p:nvSpPr>
        <p:spPr>
          <a:xfrm>
            <a:off x="548640" y="5074920"/>
            <a:ext cx="64008" cy="1097280"/>
          </a:xfrm>
          <a:prstGeom prst="rect">
            <a:avLst/>
          </a:prstGeom>
          <a:solidFill>
            <a:srgbClr val="7B68C4"/>
          </a:solidFill>
          <a:ln/>
        </p:spPr>
      </p:sp>
      <p:sp>
        <p:nvSpPr>
          <p:cNvPr id="22" name="Text 20"/>
          <p:cNvSpPr/>
          <p:nvPr/>
        </p:nvSpPr>
        <p:spPr>
          <a:xfrm>
            <a:off x="5303520" y="5120640"/>
            <a:ext cx="822960" cy="228600"/>
          </a:xfrm>
          <a:prstGeom prst="rect">
            <a:avLst/>
          </a:prstGeom>
          <a:solidFill>
            <a:srgbClr val="7B68C4"/>
          </a:solid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高</a:t>
            </a:r>
            <a:endParaRPr lang="en-US" sz="800" dirty="0"/>
          </a:p>
        </p:txBody>
      </p:sp>
      <p:sp>
        <p:nvSpPr>
          <p:cNvPr id="23" name="Text 21"/>
          <p:cNvSpPr/>
          <p:nvPr/>
        </p:nvSpPr>
        <p:spPr>
          <a:xfrm>
            <a:off x="822960" y="5120640"/>
            <a:ext cx="4297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診断的異質性 × 就労アウトカム</a:t>
            </a:r>
            <a:endParaRPr lang="en-US" sz="1200" dirty="0"/>
          </a:p>
        </p:txBody>
      </p:sp>
      <p:sp>
        <p:nvSpPr>
          <p:cNvPr id="24" name="Text 22"/>
          <p:cNvSpPr/>
          <p:nvPr/>
        </p:nvSpPr>
        <p:spPr>
          <a:xfrm>
            <a:off x="822960" y="5440680"/>
            <a:ext cx="5303520" cy="64008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メカニズム異質性がいかに差別的な就労支援ニーズとアウトカムを予測するか。Puuの専門領域に最も直結。</a:t>
            </a:r>
            <a:endParaRPr lang="en-US" sz="1000" dirty="0"/>
          </a:p>
        </p:txBody>
      </p:sp>
      <p:sp>
        <p:nvSpPr>
          <p:cNvPr id="25" name="Shape 23"/>
          <p:cNvSpPr/>
          <p:nvPr/>
        </p:nvSpPr>
        <p:spPr>
          <a:xfrm>
            <a:off x="548640" y="6263640"/>
            <a:ext cx="5760720" cy="109728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26" name="Shape 24"/>
          <p:cNvSpPr/>
          <p:nvPr/>
        </p:nvSpPr>
        <p:spPr>
          <a:xfrm>
            <a:off x="548640" y="6263640"/>
            <a:ext cx="64008" cy="1097280"/>
          </a:xfrm>
          <a:prstGeom prst="rect">
            <a:avLst/>
          </a:prstGeom>
          <a:solidFill>
            <a:srgbClr val="2CB5C4"/>
          </a:solidFill>
          <a:ln/>
        </p:spPr>
      </p:sp>
      <p:sp>
        <p:nvSpPr>
          <p:cNvPr id="27" name="Text 25"/>
          <p:cNvSpPr/>
          <p:nvPr/>
        </p:nvSpPr>
        <p:spPr>
          <a:xfrm>
            <a:off x="5303520" y="6309360"/>
            <a:ext cx="822960" cy="228600"/>
          </a:xfrm>
          <a:prstGeom prst="rect">
            <a:avLst/>
          </a:prstGeom>
          <a:solidFill>
            <a:srgbClr val="2CB5C4"/>
          </a:solidFill>
          <a:ln/>
        </p:spPr>
        <p:txBody>
          <a:bodyPr wrap="square" lIns="0" tIns="0" rIns="0" bIns="0" rtlCol="0" anchor="ctr"/>
          <a:lstStyle/>
          <a:p>
            <a:pPr algn="ctr" indent="0" marL="0">
              <a:buNone/>
            </a:pPr>
            <a:r>
              <a:rPr lang="en-US" sz="800" b="1" dirty="0">
                <a:solidFill>
                  <a:srgbClr val="0A1628"/>
                </a:solidFill>
                <a:latin typeface="Calibri" pitchFamily="34" charset="0"/>
                <a:ea typeface="Calibri" pitchFamily="34" charset="-122"/>
                <a:cs typeface="Calibri" pitchFamily="34" charset="-120"/>
              </a:rPr>
              <a:t>中</a:t>
            </a:r>
            <a:endParaRPr lang="en-US" sz="800" dirty="0"/>
          </a:p>
        </p:txBody>
      </p:sp>
      <p:sp>
        <p:nvSpPr>
          <p:cNvPr id="28" name="Text 26"/>
          <p:cNvSpPr/>
          <p:nvPr/>
        </p:nvSpPr>
        <p:spPr>
          <a:xfrm>
            <a:off x="822960" y="6309360"/>
            <a:ext cx="4297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母子手帳の記録消失と成人アセスメント</a:t>
            </a:r>
            <a:endParaRPr lang="en-US" sz="1200" dirty="0"/>
          </a:p>
        </p:txBody>
      </p:sp>
      <p:sp>
        <p:nvSpPr>
          <p:cNvPr id="29" name="Text 27"/>
          <p:cNvSpPr/>
          <p:nvPr/>
        </p:nvSpPr>
        <p:spPr>
          <a:xfrm>
            <a:off x="822960" y="6629400"/>
            <a:ext cx="5303520" cy="64008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保管率と発達評価への影響の基本データが文献に欠如。日本独自の極めて重要なギャップ。</a:t>
            </a:r>
            <a:endParaRPr lang="en-US" sz="1000" dirty="0"/>
          </a:p>
        </p:txBody>
      </p:sp>
      <p:sp>
        <p:nvSpPr>
          <p:cNvPr id="30" name="Shape 28"/>
          <p:cNvSpPr/>
          <p:nvPr/>
        </p:nvSpPr>
        <p:spPr>
          <a:xfrm>
            <a:off x="0" y="9089136"/>
            <a:ext cx="6858000" cy="54864"/>
          </a:xfrm>
          <a:prstGeom prst="rect">
            <a:avLst/>
          </a:prstGeom>
          <a:solidFill>
            <a:srgbClr val="2196A4"/>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57607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エビデンスに基づく仮説修正と研究方向性</a:t>
            </a:r>
            <a:endParaRPr lang="en-US" sz="2000" dirty="0"/>
          </a:p>
        </p:txBody>
      </p:sp>
      <p:sp>
        <p:nvSpPr>
          <p:cNvPr id="4" name="Shape 2"/>
          <p:cNvSpPr/>
          <p:nvPr/>
        </p:nvSpPr>
        <p:spPr>
          <a:xfrm>
            <a:off x="548640" y="731520"/>
            <a:ext cx="1645920" cy="22860"/>
          </a:xfrm>
          <a:prstGeom prst="rect">
            <a:avLst/>
          </a:prstGeom>
          <a:solidFill>
            <a:srgbClr val="2196A4"/>
          </a:solidFill>
          <a:ln/>
        </p:spPr>
      </p:sp>
      <p:sp>
        <p:nvSpPr>
          <p:cNvPr id="5" name="Text 3"/>
          <p:cNvSpPr/>
          <p:nvPr/>
        </p:nvSpPr>
        <p:spPr>
          <a:xfrm>
            <a:off x="548640" y="1005840"/>
            <a:ext cx="5760720" cy="365760"/>
          </a:xfrm>
          <a:prstGeom prst="rect">
            <a:avLst/>
          </a:prstGeom>
          <a:noFill/>
          <a:ln/>
        </p:spPr>
        <p:txBody>
          <a:bodyPr wrap="square" rtlCol="0" anchor="ctr"/>
          <a:lstStyle/>
          <a:p>
            <a:pPr indent="0" marL="0">
              <a:buNone/>
            </a:pPr>
            <a:r>
              <a:rPr lang="en-US" sz="1400" b="1" dirty="0">
                <a:solidFill>
                  <a:srgbClr val="E8915A"/>
                </a:solidFill>
                <a:latin typeface="Calibri" pitchFamily="34" charset="0"/>
                <a:ea typeface="Calibri" pitchFamily="34" charset="-122"/>
                <a:cs typeface="Calibri" pitchFamily="34" charset="-120"/>
              </a:rPr>
              <a:t>仮説の修正が必要な3点</a:t>
            </a:r>
            <a:endParaRPr lang="en-US" sz="1400" dirty="0"/>
          </a:p>
        </p:txBody>
      </p:sp>
      <p:sp>
        <p:nvSpPr>
          <p:cNvPr id="6" name="Shape 4"/>
          <p:cNvSpPr/>
          <p:nvPr/>
        </p:nvSpPr>
        <p:spPr>
          <a:xfrm>
            <a:off x="548640" y="1508760"/>
            <a:ext cx="5760720" cy="105156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7" name="Shape 5"/>
          <p:cNvSpPr/>
          <p:nvPr/>
        </p:nvSpPr>
        <p:spPr>
          <a:xfrm>
            <a:off x="548640" y="1508760"/>
            <a:ext cx="64008" cy="1051560"/>
          </a:xfrm>
          <a:prstGeom prst="rect">
            <a:avLst/>
          </a:prstGeom>
          <a:solidFill>
            <a:srgbClr val="E8915A"/>
          </a:solidFill>
          <a:ln/>
        </p:spPr>
      </p:sp>
      <p:sp>
        <p:nvSpPr>
          <p:cNvPr id="8" name="Shape 6"/>
          <p:cNvSpPr/>
          <p:nvPr/>
        </p:nvSpPr>
        <p:spPr>
          <a:xfrm>
            <a:off x="822960" y="1600200"/>
            <a:ext cx="365760" cy="365760"/>
          </a:xfrm>
          <a:prstGeom prst="ellipse">
            <a:avLst/>
          </a:prstGeom>
          <a:solidFill>
            <a:srgbClr val="E8915A"/>
          </a:solidFill>
          <a:ln/>
        </p:spPr>
      </p:sp>
      <p:sp>
        <p:nvSpPr>
          <p:cNvPr id="9" name="Text 7"/>
          <p:cNvSpPr/>
          <p:nvPr/>
        </p:nvSpPr>
        <p:spPr>
          <a:xfrm>
            <a:off x="822960" y="1600200"/>
            <a:ext cx="365760" cy="365760"/>
          </a:xfrm>
          <a:prstGeom prst="rect">
            <a:avLst/>
          </a:prstGeom>
          <a:noFill/>
          <a:ln/>
        </p:spPr>
        <p:txBody>
          <a:bodyPr wrap="square" lIns="0" tIns="0" rIns="0" bIns="0" rtlCol="0" anchor="ctr"/>
          <a:lstStyle/>
          <a:p>
            <a:pPr algn="ctr" indent="0" marL="0">
              <a:buNone/>
            </a:pPr>
            <a:r>
              <a:rPr lang="en-US" sz="1400" b="1" dirty="0">
                <a:solidFill>
                  <a:srgbClr val="0A1628"/>
                </a:solidFill>
              </a:rPr>
              <a:t>1</a:t>
            </a:r>
            <a:endParaRPr lang="en-US" sz="1400" dirty="0"/>
          </a:p>
        </p:txBody>
      </p:sp>
      <p:sp>
        <p:nvSpPr>
          <p:cNvPr id="10" name="Text 8"/>
          <p:cNvSpPr/>
          <p:nvPr/>
        </p:nvSpPr>
        <p:spPr>
          <a:xfrm>
            <a:off x="1371600" y="1581912"/>
            <a:ext cx="47548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SPSと③：脆弱性-ストレスモデルの優位</a:t>
            </a:r>
            <a:endParaRPr lang="en-US" sz="1200" dirty="0"/>
          </a:p>
        </p:txBody>
      </p:sp>
      <p:sp>
        <p:nvSpPr>
          <p:cNvPr id="11" name="Text 9"/>
          <p:cNvSpPr/>
          <p:nvPr/>
        </p:nvSpPr>
        <p:spPr>
          <a:xfrm>
            <a:off x="822960" y="1965960"/>
            <a:ext cx="5303520" cy="54864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SPS特異的研究は完全な差次感受性ではなく脆弱性-ストレスを支持（Booth 2015, Van Reyn 2023）。予防可能性の主張に修正が必要。「良くも悪くも」は遺伝的GxE研究により強く支持。</a:t>
            </a:r>
            <a:endParaRPr lang="en-US" sz="1000" dirty="0"/>
          </a:p>
        </p:txBody>
      </p:sp>
      <p:sp>
        <p:nvSpPr>
          <p:cNvPr id="12" name="Shape 10"/>
          <p:cNvSpPr/>
          <p:nvPr/>
        </p:nvSpPr>
        <p:spPr>
          <a:xfrm>
            <a:off x="548640" y="2788920"/>
            <a:ext cx="5760720" cy="105156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3" name="Shape 11"/>
          <p:cNvSpPr/>
          <p:nvPr/>
        </p:nvSpPr>
        <p:spPr>
          <a:xfrm>
            <a:off x="548640" y="2788920"/>
            <a:ext cx="64008" cy="1051560"/>
          </a:xfrm>
          <a:prstGeom prst="rect">
            <a:avLst/>
          </a:prstGeom>
          <a:solidFill>
            <a:srgbClr val="E8915A"/>
          </a:solidFill>
          <a:ln/>
        </p:spPr>
      </p:sp>
      <p:sp>
        <p:nvSpPr>
          <p:cNvPr id="14" name="Shape 12"/>
          <p:cNvSpPr/>
          <p:nvPr/>
        </p:nvSpPr>
        <p:spPr>
          <a:xfrm>
            <a:off x="822960" y="2880360"/>
            <a:ext cx="365760" cy="365760"/>
          </a:xfrm>
          <a:prstGeom prst="ellipse">
            <a:avLst/>
          </a:prstGeom>
          <a:solidFill>
            <a:srgbClr val="E8915A"/>
          </a:solidFill>
          <a:ln/>
        </p:spPr>
      </p:sp>
      <p:sp>
        <p:nvSpPr>
          <p:cNvPr id="15" name="Text 13"/>
          <p:cNvSpPr/>
          <p:nvPr/>
        </p:nvSpPr>
        <p:spPr>
          <a:xfrm>
            <a:off x="822960" y="2880360"/>
            <a:ext cx="365760" cy="365760"/>
          </a:xfrm>
          <a:prstGeom prst="rect">
            <a:avLst/>
          </a:prstGeom>
          <a:noFill/>
          <a:ln/>
        </p:spPr>
        <p:txBody>
          <a:bodyPr wrap="square" lIns="0" tIns="0" rIns="0" bIns="0" rtlCol="0" anchor="ctr"/>
          <a:lstStyle/>
          <a:p>
            <a:pPr algn="ctr" indent="0" marL="0">
              <a:buNone/>
            </a:pPr>
            <a:r>
              <a:rPr lang="en-US" sz="1400" b="1" dirty="0">
                <a:solidFill>
                  <a:srgbClr val="0A1628"/>
                </a:solidFill>
              </a:rPr>
              <a:t>2</a:t>
            </a:r>
            <a:endParaRPr lang="en-US" sz="1400" dirty="0"/>
          </a:p>
        </p:txBody>
      </p:sp>
      <p:sp>
        <p:nvSpPr>
          <p:cNvPr id="16" name="Text 14"/>
          <p:cNvSpPr/>
          <p:nvPr/>
        </p:nvSpPr>
        <p:spPr>
          <a:xfrm>
            <a:off x="1371600" y="2862072"/>
            <a:ext cx="47548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診断的覆い隠し：実臨床での深刻さは限定的</a:t>
            </a:r>
            <a:endParaRPr lang="en-US" sz="1200" dirty="0"/>
          </a:p>
        </p:txBody>
      </p:sp>
      <p:sp>
        <p:nvSpPr>
          <p:cNvPr id="17" name="Text 15"/>
          <p:cNvSpPr/>
          <p:nvPr/>
        </p:nvSpPr>
        <p:spPr>
          <a:xfrm>
            <a:off x="822960" y="3246120"/>
            <a:ext cx="5303520" cy="54864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Dell'Armo &amp; Tassé (2024): アナログ研究vs実臨床の区別。誤帰属メカニズムは臨床医の認知的エラーよりも情報の非対称性と文化的バイアスを通じて作用。</a:t>
            </a:r>
            <a:endParaRPr lang="en-US" sz="1000" dirty="0"/>
          </a:p>
        </p:txBody>
      </p:sp>
      <p:sp>
        <p:nvSpPr>
          <p:cNvPr id="18" name="Shape 16"/>
          <p:cNvSpPr/>
          <p:nvPr/>
        </p:nvSpPr>
        <p:spPr>
          <a:xfrm>
            <a:off x="548640" y="4069080"/>
            <a:ext cx="5760720" cy="105156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9" name="Shape 17"/>
          <p:cNvSpPr/>
          <p:nvPr/>
        </p:nvSpPr>
        <p:spPr>
          <a:xfrm>
            <a:off x="548640" y="4069080"/>
            <a:ext cx="64008" cy="1051560"/>
          </a:xfrm>
          <a:prstGeom prst="rect">
            <a:avLst/>
          </a:prstGeom>
          <a:solidFill>
            <a:srgbClr val="E8915A"/>
          </a:solidFill>
          <a:ln/>
        </p:spPr>
      </p:sp>
      <p:sp>
        <p:nvSpPr>
          <p:cNvPr id="20" name="Shape 18"/>
          <p:cNvSpPr/>
          <p:nvPr/>
        </p:nvSpPr>
        <p:spPr>
          <a:xfrm>
            <a:off x="822960" y="4160520"/>
            <a:ext cx="365760" cy="365760"/>
          </a:xfrm>
          <a:prstGeom prst="ellipse">
            <a:avLst/>
          </a:prstGeom>
          <a:solidFill>
            <a:srgbClr val="E8915A"/>
          </a:solidFill>
          <a:ln/>
        </p:spPr>
      </p:sp>
      <p:sp>
        <p:nvSpPr>
          <p:cNvPr id="21" name="Text 19"/>
          <p:cNvSpPr/>
          <p:nvPr/>
        </p:nvSpPr>
        <p:spPr>
          <a:xfrm>
            <a:off x="822960" y="4160520"/>
            <a:ext cx="365760" cy="365760"/>
          </a:xfrm>
          <a:prstGeom prst="rect">
            <a:avLst/>
          </a:prstGeom>
          <a:noFill/>
          <a:ln/>
        </p:spPr>
        <p:txBody>
          <a:bodyPr wrap="square" lIns="0" tIns="0" rIns="0" bIns="0" rtlCol="0" anchor="ctr"/>
          <a:lstStyle/>
          <a:p>
            <a:pPr algn="ctr" indent="0" marL="0">
              <a:buNone/>
            </a:pPr>
            <a:r>
              <a:rPr lang="en-US" sz="1400" b="1" dirty="0">
                <a:solidFill>
                  <a:srgbClr val="0A1628"/>
                </a:solidFill>
              </a:rPr>
              <a:t>3</a:t>
            </a:r>
            <a:endParaRPr lang="en-US" sz="1400" dirty="0"/>
          </a:p>
        </p:txBody>
      </p:sp>
      <p:sp>
        <p:nvSpPr>
          <p:cNvPr id="22" name="Text 20"/>
          <p:cNvSpPr/>
          <p:nvPr/>
        </p:nvSpPr>
        <p:spPr>
          <a:xfrm>
            <a:off x="1371600" y="4142232"/>
            <a:ext cx="47548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感受性はカテゴリ的ではなく連続的分布</a:t>
            </a:r>
            <a:endParaRPr lang="en-US" sz="1200" dirty="0"/>
          </a:p>
        </p:txBody>
      </p:sp>
      <p:sp>
        <p:nvSpPr>
          <p:cNvPr id="23" name="Text 21"/>
          <p:cNvSpPr/>
          <p:nvPr/>
        </p:nvSpPr>
        <p:spPr>
          <a:xfrm>
            <a:off x="822960" y="4526280"/>
            <a:ext cx="5303520" cy="54864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Lionetti et al. (2018) 3群モデル。③メカニズムは離散的下位集団を区別するのではなく連続体上で作用。構成概念の境界定義に影響。</a:t>
            </a:r>
            <a:endParaRPr lang="en-US" sz="1000" dirty="0"/>
          </a:p>
        </p:txBody>
      </p:sp>
      <p:sp>
        <p:nvSpPr>
          <p:cNvPr id="24" name="Text 22"/>
          <p:cNvSpPr/>
          <p:nvPr/>
        </p:nvSpPr>
        <p:spPr>
          <a:xfrm>
            <a:off x="548640" y="5394960"/>
            <a:ext cx="5760720" cy="365760"/>
          </a:xfrm>
          <a:prstGeom prst="rect">
            <a:avLst/>
          </a:prstGeom>
          <a:noFill/>
          <a:ln/>
        </p:spPr>
        <p:txBody>
          <a:bodyPr wrap="square" rtlCol="0" anchor="ctr"/>
          <a:lstStyle/>
          <a:p>
            <a:pPr indent="0" marL="0">
              <a:buNone/>
            </a:pPr>
            <a:r>
              <a:rPr lang="en-US" sz="1400" b="1" dirty="0">
                <a:solidFill>
                  <a:srgbClr val="2CB5C4"/>
                </a:solidFill>
                <a:latin typeface="Calibri" pitchFamily="34" charset="0"/>
                <a:ea typeface="Calibri" pitchFamily="34" charset="-122"/>
                <a:cs typeface="Calibri" pitchFamily="34" charset="-120"/>
              </a:rPr>
              <a:t>研究戦略的ポジショニング</a:t>
            </a:r>
            <a:endParaRPr lang="en-US" sz="1400" dirty="0"/>
          </a:p>
        </p:txBody>
      </p:sp>
      <p:sp>
        <p:nvSpPr>
          <p:cNvPr id="25" name="Shape 23"/>
          <p:cNvSpPr/>
          <p:nvPr/>
        </p:nvSpPr>
        <p:spPr>
          <a:xfrm>
            <a:off x="548640" y="5852160"/>
            <a:ext cx="5760720" cy="228600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26" name="Shape 24"/>
          <p:cNvSpPr/>
          <p:nvPr/>
        </p:nvSpPr>
        <p:spPr>
          <a:xfrm>
            <a:off x="548640" y="5852160"/>
            <a:ext cx="64008" cy="2286000"/>
          </a:xfrm>
          <a:prstGeom prst="rect">
            <a:avLst/>
          </a:prstGeom>
          <a:solidFill>
            <a:srgbClr val="2196A4"/>
          </a:solidFill>
          <a:ln/>
        </p:spPr>
      </p:sp>
      <p:sp>
        <p:nvSpPr>
          <p:cNvPr id="27" name="Text 25"/>
          <p:cNvSpPr/>
          <p:nvPr/>
        </p:nvSpPr>
        <p:spPr>
          <a:xfrm>
            <a:off x="822960" y="5943600"/>
            <a:ext cx="5303520" cy="2103120"/>
          </a:xfrm>
          <a:prstGeom prst="rect">
            <a:avLst/>
          </a:prstGeom>
          <a:noFill/>
          <a:ln/>
        </p:spPr>
        <p:txBody>
          <a:bodyPr wrap="square" rtlCol="0" anchor="t"/>
          <a:lstStyle/>
          <a:p>
            <a:pPr indent="0" marL="0">
              <a:lnSpc>
                <a:spcPct val="130000"/>
              </a:lnSpc>
              <a:buNone/>
            </a:pPr>
            <a:r>
              <a:rPr lang="en-US" sz="1100" b="1" dirty="0">
                <a:solidFill>
                  <a:srgbClr val="2CB5C4"/>
                </a:solidFill>
              </a:rPr>
              <a:t>独自性の源泉: </a:t>
            </a:r>
            <a:endParaRPr lang="en-US" sz="1100" dirty="0"/>
          </a:p>
          <a:p>
            <a:pPr indent="0" marL="0">
              <a:lnSpc>
                <a:spcPct val="130000"/>
              </a:lnSpc>
              <a:buNone/>
            </a:pPr>
            <a:r>
              <a:rPr lang="en-US" sz="1000" dirty="0">
                <a:solidFill>
                  <a:srgbClr val="D0D8E8"/>
                </a:solidFill>
              </a:rPr>
              <a:t>個別の主張ではなく統合的アーキテクチャ——困難性メカニズム分類（①②③④）が、制度がそれらを区別できず医原性害を生成する構造分析にマッピングされていること</a:t>
            </a:r>
            <a:endParaRPr lang="en-US" sz="1100" dirty="0"/>
          </a:p>
          <a:p>
            <a:pPr indent="0" marL="0">
              <a:lnSpc>
                <a:spcPct val="130000"/>
              </a:lnSpc>
              <a:buNone/>
            </a:pPr>
            <a:endParaRPr lang="en-US" sz="1100" dirty="0"/>
          </a:p>
          <a:p>
            <a:pPr indent="0" marL="0">
              <a:lnSpc>
                <a:spcPct val="130000"/>
              </a:lnSpc>
              <a:buNone/>
            </a:pPr>
            <a:r>
              <a:rPr lang="en-US" sz="1100" b="1" dirty="0">
                <a:solidFill>
                  <a:srgbClr val="2CB5C4"/>
                </a:solidFill>
              </a:rPr>
              <a:t>最も防御可能な戦略: </a:t>
            </a:r>
            <a:endParaRPr lang="en-US" sz="1100" dirty="0"/>
          </a:p>
          <a:p>
            <a:pPr indent="0" marL="0">
              <a:lnSpc>
                <a:spcPct val="130000"/>
              </a:lnSpc>
              <a:buNone/>
            </a:pPr>
            <a:r>
              <a:rPr lang="en-US" sz="1000" dirty="0">
                <a:solidFill>
                  <a:srgbClr val="D0D8E8"/>
                </a:solidFill>
              </a:rPr>
              <a:t>1. 既存DST/SPS文献を足場として③構成概念を操作化・測定</a:t>
            </a:r>
            <a:endParaRPr lang="en-US" sz="1100" dirty="0"/>
          </a:p>
          <a:p>
            <a:pPr indent="0" marL="0">
              <a:lnSpc>
                <a:spcPct val="130000"/>
              </a:lnSpc>
              <a:buNone/>
            </a:pPr>
            <a:r>
              <a:rPr lang="en-US" sz="1000" dirty="0">
                <a:solidFill>
                  <a:srgbClr val="D0D8E8"/>
                </a:solidFill>
              </a:rPr>
              <a:t>2. 就労支援での縦断的ケース分析で医原性増幅ループを文書化</a:t>
            </a:r>
            <a:endParaRPr lang="en-US" sz="1100" dirty="0"/>
          </a:p>
          <a:p>
            <a:pPr indent="0" marL="0">
              <a:lnSpc>
                <a:spcPct val="130000"/>
              </a:lnSpc>
              <a:buNone/>
            </a:pPr>
            <a:r>
              <a:rPr lang="en-US" sz="1000" dirty="0">
                <a:solidFill>
                  <a:srgbClr val="D0D8E8"/>
                </a:solidFill>
              </a:rPr>
              <a:t>3. 日本固有の構造分析で国際的差別化（文化・制度的特殊性）</a:t>
            </a:r>
            <a:endParaRPr lang="en-US" sz="1100" dirty="0"/>
          </a:p>
          <a:p>
            <a:pPr indent="0" marL="0">
              <a:lnSpc>
                <a:spcPct val="130000"/>
              </a:lnSpc>
              <a:buNone/>
            </a:pPr>
            <a:endParaRPr lang="en-US" sz="1100" dirty="0"/>
          </a:p>
          <a:p>
            <a:pPr indent="0" marL="0">
              <a:lnSpc>
                <a:spcPct val="130000"/>
              </a:lnSpc>
              <a:buNone/>
            </a:pPr>
            <a:r>
              <a:rPr lang="en-US" sz="1100" b="1" dirty="0">
                <a:solidFill>
                  <a:srgbClr val="2CB5C4"/>
                </a:solidFill>
              </a:rPr>
              <a:t>10年以上の実務経験が提供するもの: </a:t>
            </a:r>
            <a:endParaRPr lang="en-US" sz="1100" dirty="0"/>
          </a:p>
          <a:p>
            <a:pPr indent="0" marL="0">
              <a:lnSpc>
                <a:spcPct val="130000"/>
              </a:lnSpc>
              <a:buNone/>
            </a:pPr>
            <a:r>
              <a:rPr lang="en-US" sz="1000" dirty="0">
                <a:solidFill>
                  <a:srgbClr val="D0D8E8"/>
                </a:solidFill>
              </a:rPr>
              <a:t>数百のケースにわたる③パターンの臨床的観察 → 構成概念構築の実証的基盤</a:t>
            </a:r>
            <a:endParaRPr lang="en-US" sz="1100" dirty="0"/>
          </a:p>
        </p:txBody>
      </p:sp>
      <p:sp>
        <p:nvSpPr>
          <p:cNvPr id="28" name="Shape 26"/>
          <p:cNvSpPr/>
          <p:nvPr/>
        </p:nvSpPr>
        <p:spPr>
          <a:xfrm>
            <a:off x="0" y="9089136"/>
            <a:ext cx="6858000" cy="54864"/>
          </a:xfrm>
          <a:prstGeom prst="rect">
            <a:avLst/>
          </a:prstGeom>
          <a:solidFill>
            <a:srgbClr val="2196A4"/>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6858000" cy="54864"/>
          </a:xfrm>
          <a:prstGeom prst="rect">
            <a:avLst/>
          </a:prstGeom>
          <a:solidFill>
            <a:srgbClr val="2196A4"/>
          </a:solidFill>
          <a:ln/>
        </p:spPr>
      </p:sp>
      <p:sp>
        <p:nvSpPr>
          <p:cNvPr id="3" name="Text 1"/>
          <p:cNvSpPr/>
          <p:nvPr/>
        </p:nvSpPr>
        <p:spPr>
          <a:xfrm>
            <a:off x="548640" y="228600"/>
            <a:ext cx="57607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ハルシネーションチェック結果と信頼性評価</a:t>
            </a:r>
            <a:endParaRPr lang="en-US" sz="2000" dirty="0"/>
          </a:p>
        </p:txBody>
      </p:sp>
      <p:sp>
        <p:nvSpPr>
          <p:cNvPr id="4" name="Shape 2"/>
          <p:cNvSpPr/>
          <p:nvPr/>
        </p:nvSpPr>
        <p:spPr>
          <a:xfrm>
            <a:off x="548640" y="731520"/>
            <a:ext cx="1645920" cy="22860"/>
          </a:xfrm>
          <a:prstGeom prst="rect">
            <a:avLst/>
          </a:prstGeom>
          <a:solidFill>
            <a:srgbClr val="2196A4"/>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5760720" cy="914400"/>
        </p:xfrm>
        <a:graphic>
          <a:graphicData uri="http://schemas.openxmlformats.org/drawingml/2006/table">
            <a:tbl>
              <a:tblPr/>
              <a:tblGrid>
                <a:gridCol w="1280160"/>
                <a:gridCol w="1554480"/>
                <a:gridCol w="1463040"/>
                <a:gridCol w="1463040"/>
              </a:tblGrid>
              <a:tr h="320040">
                <a:tc>
                  <a:txBody>
                    <a:bodyPr/>
                    <a:lstStyle/>
                    <a:p>
                      <a:pPr algn="ctr" indent="0" marL="0">
                        <a:buNone/>
                      </a:pPr>
                      <a:r>
                        <a:rPr lang="en-US" sz="1000" b="1" dirty="0">
                          <a:solidFill>
                            <a:srgbClr val="FFFFFF"/>
                          </a:solidFill>
                        </a:rPr>
                        <a:t>観点</a:t>
                      </a:r>
                      <a:endParaRPr lang="en-US" sz="10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196A4"/>
                    </a:solidFill>
                  </a:tcPr>
                </a:tc>
                <a:tc>
                  <a:txBody>
                    <a:bodyPr/>
                    <a:lstStyle/>
                    <a:p>
                      <a:pPr algn="ctr" indent="0" marL="0">
                        <a:buNone/>
                      </a:pPr>
                      <a:r>
                        <a:rPr lang="en-US" sz="1000" b="1" dirty="0">
                          <a:solidFill>
                            <a:srgbClr val="FFFFFF"/>
                          </a:solidFill>
                        </a:rPr>
                        <a:t>Claude Opus</a:t>
                      </a:r>
                      <a:endParaRPr lang="en-US" sz="10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196A4"/>
                    </a:solidFill>
                  </a:tcPr>
                </a:tc>
                <a:tc>
                  <a:txBody>
                    <a:bodyPr/>
                    <a:lstStyle/>
                    <a:p>
                      <a:pPr algn="ctr" indent="0" marL="0">
                        <a:buNone/>
                      </a:pPr>
                      <a:r>
                        <a:rPr lang="en-US" sz="1000" b="1" dirty="0">
                          <a:solidFill>
                            <a:srgbClr val="FFFFFF"/>
                          </a:solidFill>
                        </a:rPr>
                        <a:t>Gemini DR</a:t>
                      </a:r>
                      <a:endParaRPr lang="en-US" sz="10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196A4"/>
                    </a:solidFill>
                  </a:tcPr>
                </a:tc>
                <a:tc>
                  <a:txBody>
                    <a:bodyPr/>
                    <a:lstStyle/>
                    <a:p>
                      <a:pPr algn="ctr" indent="0" marL="0">
                        <a:buNone/>
                      </a:pPr>
                      <a:r>
                        <a:rPr lang="en-US" sz="1000" b="1" dirty="0">
                          <a:solidFill>
                            <a:srgbClr val="FFFFFF"/>
                          </a:solidFill>
                        </a:rPr>
                        <a:t>ChatGPT DR</a:t>
                      </a:r>
                      <a:endParaRPr lang="en-US" sz="10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2196A4"/>
                    </a:solidFill>
                  </a:tcPr>
                </a:tc>
              </a:tr>
              <a:tr h="274320">
                <a:tc>
                  <a:txBody>
                    <a:bodyPr/>
                    <a:lstStyle/>
                    <a:p>
                      <a:pPr indent="0" marL="0">
                        <a:buNone/>
                      </a:pPr>
                      <a:r>
                        <a:rPr lang="en-US" sz="900" dirty="0">
                          <a:solidFill>
                            <a:srgbClr val="D0D8E8"/>
                          </a:solidFill>
                        </a:rPr>
                        <a:t>応答タイプ</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D0D8E8"/>
                          </a:solidFill>
                        </a:rPr>
                        <a:t>文献レビュー結果</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D0D8E8"/>
                          </a:solidFill>
                        </a:rPr>
                        <a:t>文献レビュー結果</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D0D8E8"/>
                          </a:solidFill>
                        </a:rPr>
                        <a:t>調査設計提案書</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r>
              <a:tr h="274320">
                <a:tc>
                  <a:txBody>
                    <a:bodyPr/>
                    <a:lstStyle/>
                    <a:p>
                      <a:pPr indent="0" marL="0">
                        <a:buNone/>
                      </a:pPr>
                      <a:r>
                        <a:rPr lang="en-US" sz="900" dirty="0">
                          <a:solidFill>
                            <a:srgbClr val="D0D8E8"/>
                          </a:solidFill>
                        </a:rPr>
                        <a:t>依頼意図理解</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4CAF7D"/>
                          </a:solidFill>
                        </a:rPr>
                        <a:t>正確</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4CAF7D"/>
                          </a:solidFill>
                        </a:rPr>
                        <a:t>正確</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E8915A"/>
                          </a:solidFill>
                        </a:rPr>
                        <a:t>誤読</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r>
              <a:tr h="274320">
                <a:tc>
                  <a:txBody>
                    <a:bodyPr/>
                    <a:lstStyle/>
                    <a:p>
                      <a:pPr indent="0" marL="0">
                        <a:buNone/>
                      </a:pPr>
                      <a:r>
                        <a:rPr lang="en-US" sz="900" dirty="0">
                          <a:solidFill>
                            <a:srgbClr val="D0D8E8"/>
                          </a:solidFill>
                        </a:rPr>
                        <a:t>引用追跡可能性</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4CAF7D"/>
                          </a:solidFill>
                        </a:rPr>
                        <a:t>著者名・年付き</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4CAF7D"/>
                          </a:solidFill>
                        </a:rPr>
                        <a:t>URL付き引用番号</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E8915A"/>
                          </a:solidFill>
                        </a:rPr>
                        <a:t>内部参照のみ</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r>
              <a:tr h="274320">
                <a:tc>
                  <a:txBody>
                    <a:bodyPr/>
                    <a:lstStyle/>
                    <a:p>
                      <a:pPr indent="0" marL="0">
                        <a:buNone/>
                      </a:pPr>
                      <a:r>
                        <a:rPr lang="en-US" sz="900" dirty="0">
                          <a:solidFill>
                            <a:srgbClr val="D0D8E8"/>
                          </a:solidFill>
                        </a:rPr>
                        <a:t>査読論文引用数</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D0D8E8"/>
                          </a:solidFill>
                        </a:rPr>
                        <a:t>60+件</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D0D8E8"/>
                          </a:solidFill>
                        </a:rPr>
                        <a:t>58件</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E8915A"/>
                          </a:solidFill>
                        </a:rPr>
                        <a:t>0件（実質）</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r>
              <a:tr h="274320">
                <a:tc>
                  <a:txBody>
                    <a:bodyPr/>
                    <a:lstStyle/>
                    <a:p>
                      <a:pPr indent="0" marL="0">
                        <a:buNone/>
                      </a:pPr>
                      <a:r>
                        <a:rPr lang="en-US" sz="900" dirty="0">
                          <a:solidFill>
                            <a:srgbClr val="D0D8E8"/>
                          </a:solidFill>
                        </a:rPr>
                        <a:t>重大ハルシネ</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D0D8E8"/>
                          </a:solidFill>
                        </a:rPr>
                        <a:t>中（要個別検証）</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E8915A"/>
                          </a:solidFill>
                        </a:rPr>
                        <a:t>🔴2件確認</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E8915A"/>
                          </a:solidFill>
                        </a:rPr>
                        <a:t>🔴3件確認</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r>
              <a:tr h="274320">
                <a:tc>
                  <a:txBody>
                    <a:bodyPr/>
                    <a:lstStyle/>
                    <a:p>
                      <a:pPr indent="0" marL="0">
                        <a:buNone/>
                      </a:pPr>
                      <a:r>
                        <a:rPr lang="en-US" sz="900" dirty="0">
                          <a:solidFill>
                            <a:srgbClr val="D0D8E8"/>
                          </a:solidFill>
                        </a:rPr>
                        <a:t>反証の提示</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4CAF7D"/>
                          </a:solidFill>
                        </a:rPr>
                        <a:t>各領域で明示</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D0D8E8"/>
                          </a:solidFill>
                        </a:rPr>
                        <a:t>あるが弱い</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c>
                  <a:txBody>
                    <a:bodyPr/>
                    <a:lstStyle/>
                    <a:p>
                      <a:pPr indent="0" marL="0">
                        <a:buNone/>
                      </a:pPr>
                      <a:r>
                        <a:rPr lang="en-US" sz="900" dirty="0">
                          <a:solidFill>
                            <a:srgbClr val="8899AA"/>
                          </a:solidFill>
                        </a:rPr>
                        <a:t>N/A</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352"/>
                    </a:solidFill>
                  </a:tcPr>
                </a:tc>
              </a:tr>
              <a:tr h="274320">
                <a:tc>
                  <a:txBody>
                    <a:bodyPr/>
                    <a:lstStyle/>
                    <a:p>
                      <a:pPr indent="0" marL="0">
                        <a:buNone/>
                      </a:pPr>
                      <a:r>
                        <a:rPr lang="en-US" sz="900" dirty="0">
                          <a:solidFill>
                            <a:srgbClr val="D0D8E8"/>
                          </a:solidFill>
                        </a:rPr>
                        <a:t>推奨用途</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D0D8E8"/>
                          </a:solidFill>
                        </a:rPr>
                        <a:t>理論統合・ギャップ分析</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D0D8E8"/>
                          </a:solidFill>
                        </a:rPr>
                        <a:t>網羅的収集（修正要）</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c>
                  <a:txBody>
                    <a:bodyPr/>
                    <a:lstStyle/>
                    <a:p>
                      <a:pPr indent="0" marL="0">
                        <a:buNone/>
                      </a:pPr>
                      <a:r>
                        <a:rPr lang="en-US" sz="900" dirty="0">
                          <a:solidFill>
                            <a:srgbClr val="D0D8E8"/>
                          </a:solidFill>
                        </a:rPr>
                        <a:t>方法論テンプレのみ</a:t>
                      </a:r>
                      <a:endParaRPr lang="en-US" sz="900" dirty="0"/>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A45"/>
                    </a:solidFill>
                  </a:tcPr>
                </a:tc>
              </a:tr>
            </a:tbl>
          </a:graphicData>
        </a:graphic>
      </p:graphicFrame>
      <p:sp>
        <p:nvSpPr>
          <p:cNvPr id="6" name="Text 3"/>
          <p:cNvSpPr/>
          <p:nvPr/>
        </p:nvSpPr>
        <p:spPr>
          <a:xfrm>
            <a:off x="548640" y="3657600"/>
            <a:ext cx="5760720" cy="365760"/>
          </a:xfrm>
          <a:prstGeom prst="rect">
            <a:avLst/>
          </a:prstGeom>
          <a:noFill/>
          <a:ln/>
        </p:spPr>
        <p:txBody>
          <a:bodyPr wrap="square" rtlCol="0" anchor="ctr"/>
          <a:lstStyle/>
          <a:p>
            <a:pPr indent="0" marL="0">
              <a:buNone/>
            </a:pPr>
            <a:r>
              <a:rPr lang="en-US" sz="1400" b="1" dirty="0">
                <a:solidFill>
                  <a:srgbClr val="E8915A"/>
                </a:solidFill>
                <a:latin typeface="Calibri" pitchFamily="34" charset="0"/>
                <a:ea typeface="Calibri" pitchFamily="34" charset="-122"/>
                <a:cs typeface="Calibri" pitchFamily="34" charset="-120"/>
              </a:rPr>
              <a:t>Gemini版の要修正事項</a:t>
            </a:r>
            <a:endParaRPr lang="en-US" sz="1400" dirty="0"/>
          </a:p>
        </p:txBody>
      </p:sp>
      <p:sp>
        <p:nvSpPr>
          <p:cNvPr id="7" name="Shape 4"/>
          <p:cNvSpPr/>
          <p:nvPr/>
        </p:nvSpPr>
        <p:spPr>
          <a:xfrm>
            <a:off x="548640" y="4114800"/>
            <a:ext cx="5760720" cy="128016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8" name="Shape 5"/>
          <p:cNvSpPr/>
          <p:nvPr/>
        </p:nvSpPr>
        <p:spPr>
          <a:xfrm>
            <a:off x="548640" y="4114800"/>
            <a:ext cx="64008" cy="1280160"/>
          </a:xfrm>
          <a:prstGeom prst="rect">
            <a:avLst/>
          </a:prstGeom>
          <a:solidFill>
            <a:srgbClr val="E8915A"/>
          </a:solidFill>
          <a:ln/>
        </p:spPr>
      </p:sp>
      <p:sp>
        <p:nvSpPr>
          <p:cNvPr id="9" name="Text 6"/>
          <p:cNvSpPr/>
          <p:nvPr/>
        </p:nvSpPr>
        <p:spPr>
          <a:xfrm>
            <a:off x="822960" y="4206240"/>
            <a:ext cx="5303520" cy="1097280"/>
          </a:xfrm>
          <a:prstGeom prst="rect">
            <a:avLst/>
          </a:prstGeom>
          <a:noFill/>
          <a:ln/>
        </p:spPr>
        <p:txBody>
          <a:bodyPr wrap="square" rtlCol="0" anchor="t"/>
          <a:lstStyle/>
          <a:p>
            <a:pPr indent="0" marL="0">
              <a:lnSpc>
                <a:spcPct val="140000"/>
              </a:lnSpc>
              <a:buNone/>
            </a:pPr>
            <a:r>
              <a:rPr lang="en-US" sz="1000" b="1" dirty="0">
                <a:solidFill>
                  <a:srgbClr val="000000"/>
                </a:solidFill>
              </a:rPr>
              <a:t>🔴 RDoC予測優位性: </a:t>
            </a:r>
            <a:pPr indent="0" marL="0">
              <a:lnSpc>
                <a:spcPct val="140000"/>
              </a:lnSpc>
              <a:buNone/>
            </a:pPr>
            <a:r>
              <a:rPr lang="en-US" sz="1000" dirty="0">
                <a:solidFill>
                  <a:srgbClr val="D0D8E8"/>
                </a:solidFill>
              </a:rPr>
              <a:t>「実証されている」→概念的提案に過ぎない。「提案されている」に修正要</a:t>
            </a:r>
            <a:endParaRPr lang="en-US" sz="1000" dirty="0"/>
          </a:p>
          <a:p>
            <a:pPr indent="0" marL="0">
              <a:lnSpc>
                <a:spcPct val="140000"/>
              </a:lnSpc>
              <a:buNone/>
            </a:pPr>
            <a:r>
              <a:rPr lang="en-US" sz="1000" b="1" dirty="0">
                <a:solidFill>
                  <a:srgbClr val="000000"/>
                </a:solidFill>
              </a:rPr>
              <a:t>🔴 DRD4-fMRI知見: </a:t>
            </a:r>
            <a:pPr indent="0" marL="0">
              <a:lnSpc>
                <a:spcPct val="140000"/>
              </a:lnSpc>
              <a:buNone/>
            </a:pPr>
            <a:r>
              <a:rPr lang="en-US" sz="1000" dirty="0">
                <a:solidFill>
                  <a:srgbClr val="D0D8E8"/>
                </a:solidFill>
              </a:rPr>
              <a:t>注意課題の知見とSPS社会刺激の知見が統合・混同。文脈区別必要</a:t>
            </a:r>
            <a:endParaRPr lang="en-US" sz="1000" dirty="0"/>
          </a:p>
          <a:p>
            <a:pPr indent="0" marL="0">
              <a:lnSpc>
                <a:spcPct val="140000"/>
              </a:lnSpc>
              <a:buNone/>
            </a:pPr>
            <a:r>
              <a:rPr lang="en-US" sz="1000" b="1" dirty="0">
                <a:solidFill>
                  <a:srgbClr val="000000"/>
                </a:solidFill>
              </a:rPr>
              <a:t>🟡 引用ソースの質: </a:t>
            </a:r>
            <a:pPr indent="0" marL="0">
              <a:lnSpc>
                <a:spcPct val="140000"/>
              </a:lnSpc>
              <a:buNone/>
            </a:pPr>
            <a:r>
              <a:rPr lang="en-US" sz="1000" dirty="0">
                <a:solidFill>
                  <a:srgbClr val="D0D8E8"/>
                </a:solidFill>
              </a:rPr>
              <a:t>Reddit/eBay/ブログ/PRからの引用（52-55等）を査読論文に差替要</a:t>
            </a:r>
            <a:endParaRPr lang="en-US" sz="1000" dirty="0"/>
          </a:p>
        </p:txBody>
      </p:sp>
      <p:sp>
        <p:nvSpPr>
          <p:cNvPr id="10" name="Shape 7"/>
          <p:cNvSpPr/>
          <p:nvPr/>
        </p:nvSpPr>
        <p:spPr>
          <a:xfrm>
            <a:off x="548640" y="5669280"/>
            <a:ext cx="5760720" cy="1371600"/>
          </a:xfrm>
          <a:prstGeom prst="rect">
            <a:avLst/>
          </a:prstGeom>
          <a:solidFill>
            <a:srgbClr val="162A45"/>
          </a:solidFill>
          <a:ln/>
          <a:effectLst>
            <a:outerShdw sx="100000" sy="100000" kx="0" ky="0" algn="bl" rotWithShape="0" blurRad="50800" dist="12700" dir="8100000">
              <a:srgbClr val="000000">
                <a:alpha val="20000"/>
              </a:srgbClr>
            </a:outerShdw>
          </a:effectLst>
        </p:spPr>
      </p:sp>
      <p:sp>
        <p:nvSpPr>
          <p:cNvPr id="11" name="Shape 8"/>
          <p:cNvSpPr/>
          <p:nvPr/>
        </p:nvSpPr>
        <p:spPr>
          <a:xfrm>
            <a:off x="548640" y="5669280"/>
            <a:ext cx="64008" cy="1371600"/>
          </a:xfrm>
          <a:prstGeom prst="rect">
            <a:avLst/>
          </a:prstGeom>
          <a:solidFill>
            <a:srgbClr val="2196A4"/>
          </a:solidFill>
          <a:ln/>
        </p:spPr>
      </p:sp>
      <p:sp>
        <p:nvSpPr>
          <p:cNvPr id="12" name="Text 9"/>
          <p:cNvSpPr/>
          <p:nvPr/>
        </p:nvSpPr>
        <p:spPr>
          <a:xfrm>
            <a:off x="822960" y="5715000"/>
            <a:ext cx="5303520" cy="320040"/>
          </a:xfrm>
          <a:prstGeom prst="rect">
            <a:avLst/>
          </a:prstGeom>
          <a:noFill/>
          <a:ln/>
        </p:spPr>
        <p:txBody>
          <a:bodyPr wrap="square" lIns="0" tIns="0" rIns="0" bIns="0" rtlCol="0" anchor="ctr"/>
          <a:lstStyle/>
          <a:p>
            <a:pPr indent="0" marL="0">
              <a:buNone/>
            </a:pPr>
            <a:r>
              <a:rPr lang="en-US" sz="1300" b="1" dirty="0">
                <a:solidFill>
                  <a:srgbClr val="2CB5C4"/>
                </a:solidFill>
                <a:latin typeface="Calibri" pitchFamily="34" charset="0"/>
                <a:ea typeface="Calibri" pitchFamily="34" charset="-122"/>
                <a:cs typeface="Calibri" pitchFamily="34" charset="-120"/>
              </a:rPr>
              <a:t>統合的利用の推奨</a:t>
            </a:r>
            <a:endParaRPr lang="en-US" sz="1300" dirty="0"/>
          </a:p>
        </p:txBody>
      </p:sp>
      <p:sp>
        <p:nvSpPr>
          <p:cNvPr id="13" name="Text 10"/>
          <p:cNvSpPr/>
          <p:nvPr/>
        </p:nvSpPr>
        <p:spPr>
          <a:xfrm>
            <a:off x="822960" y="6080760"/>
            <a:ext cx="5303520" cy="822960"/>
          </a:xfrm>
          <a:prstGeom prst="rect">
            <a:avLst/>
          </a:prstGeom>
          <a:noFill/>
          <a:ln/>
        </p:spPr>
        <p:txBody>
          <a:bodyPr wrap="square" rtlCol="0" anchor="t"/>
          <a:lstStyle/>
          <a:p>
            <a:pPr indent="0" marL="0">
              <a:lnSpc>
                <a:spcPct val="140000"/>
              </a:lnSpc>
              <a:buNone/>
            </a:pPr>
            <a:r>
              <a:rPr lang="en-US" sz="1000" b="1" dirty="0">
                <a:solidFill>
                  <a:srgbClr val="000000"/>
                </a:solidFill>
              </a:rPr>
              <a:t>Claude版: </a:t>
            </a:r>
            <a:pPr indent="0" marL="0">
              <a:lnSpc>
                <a:spcPct val="140000"/>
              </a:lnSpc>
              <a:buNone/>
            </a:pPr>
            <a:r>
              <a:rPr lang="en-US" sz="1000" dirty="0">
                <a:solidFill>
                  <a:srgbClr val="D0D8E8"/>
                </a:solidFill>
              </a:rPr>
              <a:t>理論統合・反証・ギャップの戦略的分析。研究計画書の理論的基盤として直接使用</a:t>
            </a:r>
            <a:endParaRPr lang="en-US" sz="1000" dirty="0"/>
          </a:p>
          <a:p>
            <a:pPr indent="0" marL="0">
              <a:lnSpc>
                <a:spcPct val="140000"/>
              </a:lnSpc>
              <a:buNone/>
            </a:pPr>
            <a:r>
              <a:rPr lang="en-US" sz="1000" b="1" dirty="0">
                <a:solidFill>
                  <a:srgbClr val="000000"/>
                </a:solidFill>
              </a:rPr>
              <a:t>Gemini版: </a:t>
            </a:r>
            <a:pPr indent="0" marL="0">
              <a:lnSpc>
                <a:spcPct val="140000"/>
              </a:lnSpc>
              <a:buNone/>
            </a:pPr>
            <a:r>
              <a:rPr lang="en-US" sz="1000" dirty="0">
                <a:solidFill>
                  <a:srgbClr val="D0D8E8"/>
                </a:solidFill>
              </a:rPr>
              <a:t>仮説支持エビデンスの網羅的収集。🔴修正後に補完資料として活用</a:t>
            </a:r>
            <a:endParaRPr lang="en-US" sz="1000" dirty="0"/>
          </a:p>
          <a:p>
            <a:pPr indent="0" marL="0">
              <a:lnSpc>
                <a:spcPct val="140000"/>
              </a:lnSpc>
              <a:buNone/>
            </a:pPr>
            <a:r>
              <a:rPr lang="en-US" sz="1000" b="1" dirty="0">
                <a:solidFill>
                  <a:srgbClr val="000000"/>
                </a:solidFill>
              </a:rPr>
              <a:t>ChatGPT版: </a:t>
            </a:r>
            <a:pPr indent="0" marL="0">
              <a:lnSpc>
                <a:spcPct val="140000"/>
              </a:lnSpc>
              <a:buNone/>
            </a:pPr>
            <a:r>
              <a:rPr lang="en-US" sz="1000" dirty="0">
                <a:solidFill>
                  <a:srgbClr val="D0D8E8"/>
                </a:solidFill>
              </a:rPr>
              <a:t>方法論テンプレート（検索戦略/選定基準/データ抽出表）としてのみ参照</a:t>
            </a:r>
            <a:endParaRPr lang="en-US" sz="1000" dirty="0"/>
          </a:p>
        </p:txBody>
      </p:sp>
      <p:sp>
        <p:nvSpPr>
          <p:cNvPr id="14" name="Shape 11"/>
          <p:cNvSpPr/>
          <p:nvPr/>
        </p:nvSpPr>
        <p:spPr>
          <a:xfrm>
            <a:off x="0" y="9089136"/>
            <a:ext cx="6858000" cy="54864"/>
          </a:xfrm>
          <a:prstGeom prst="rect">
            <a:avLst/>
          </a:prstGeom>
          <a:solidFill>
            <a:srgbClr val="2196A4"/>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困難性の発生メカニズム4分類と診断名の不一致</dc:title>
  <dc:subject>PptxGenJS Presentation</dc:subject>
  <dc:creator>Yuji Yamauchi (Puu)</dc:creator>
  <cp:lastModifiedBy>Yuji Yamauchi (Puu)</cp:lastModifiedBy>
  <cp:revision>1</cp:revision>
  <dcterms:created xsi:type="dcterms:W3CDTF">2026-03-06T03:12:02Z</dcterms:created>
  <dcterms:modified xsi:type="dcterms:W3CDTF">2026-03-06T03:12:02Z</dcterms:modified>
</cp:coreProperties>
</file>