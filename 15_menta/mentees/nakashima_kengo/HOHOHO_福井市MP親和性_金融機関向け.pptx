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5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2A7F62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132320" y="1371600"/>
            <a:ext cx="1371600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097280"/>
            <a:ext cx="73152" cy="164592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09728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HOHOHO事業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 福井市都市計画MP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「歩きつながる」まちの実現に向けた事業戦略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3657600"/>
            <a:ext cx="4572000" cy="9144"/>
          </a:xfrm>
          <a:prstGeom prst="rect">
            <a:avLst/>
          </a:prstGeom>
          <a:solidFill>
            <a:srgbClr val="E8963E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金融機関向け ご説明資料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  |  HOHOHOプロジェクト  中島 健吾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エグゼクティブサマリー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9601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福井市都市計画MPのビジョン「歩きつながる」まち と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HOHOHOの「歩行型インフラ点検」は構造的に一致しています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2468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08760" y="2468880"/>
            <a:ext cx="731520" cy="7315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606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政策適合性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3703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福井市MPが掲げる4つの視点すべてにHOHOHOが接続可能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83280" y="2286000"/>
            <a:ext cx="2468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51960" y="2468880"/>
            <a:ext cx="731520" cy="731520"/>
          </a:xfrm>
          <a:prstGeom prst="ellipse">
            <a:avLst/>
          </a:prstGeom>
          <a:solidFill>
            <a:srgbClr val="2A7F6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6060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044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市場性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566160" y="3703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インフラ点検市場5兆円超。予防保全への転換で需要は加速的に拡大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26480" y="2286000"/>
            <a:ext cx="2468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995160" y="2468880"/>
            <a:ext cx="731520" cy="731520"/>
          </a:xfrm>
          <a:prstGeom prst="ellipse">
            <a:avLst/>
          </a:prstGeom>
          <a:solidFill>
            <a:srgbClr val="E8963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60604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6364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投資回収性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309360" y="3703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国交付金（年約3,000億円）のエビデンス生成装置として機能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福井市都市計画マスタープラン 2025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solidFill>
            <a:srgbClr val="E3EDF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914400"/>
            <a:ext cx="73152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14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基本理念：</a:t>
            </a:r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</a:rPr>
              <a:t>暮らしの楽しさを実感できる「歩きつながる」まち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794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965960"/>
            <a:ext cx="73152" cy="123444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103120"/>
            <a:ext cx="548640" cy="32004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03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活力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2075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多様な拠点づくり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にぎわい交流・産業拠点の形成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歩行回遊性の高い都心づくり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3794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965960"/>
            <a:ext cx="73152" cy="12344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2103120"/>
            <a:ext cx="54864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103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2075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身近な生活空間づくり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安全・安心なまちづくり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公共交通連携型の地域拠点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3794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429000"/>
            <a:ext cx="73152" cy="123444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3566160"/>
            <a:ext cx="548640" cy="32004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566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54480" y="3538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移動の骨格づくり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977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歩行者・自転車優先の道路空間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「ふくみち」制度の推進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429000"/>
            <a:ext cx="3794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429000"/>
            <a:ext cx="73152" cy="12344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3566160"/>
            <a:ext cx="548640" cy="3200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566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潤い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3538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水と緑の空間づくり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3977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農業用水路等の一体管理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グリーンインフラの推進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solidFill>
            <a:srgbClr val="F0FA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共通課題：既存ストックの有効活用 ＋ デジタル技術の活用（DX推進）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HOHOHOプロジェクト概要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685800"/>
          </a:xfrm>
          <a:prstGeom prst="rect">
            <a:avLst/>
          </a:prstGeom>
          <a:solidFill>
            <a:srgbClr val="2A7F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601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8686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E6D0"/>
                </a:solidFill>
              </a:rPr>
              <a:t>ミッション：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「歩く」という行為を通じて、安全な社会インフラを次世代に継承する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事業内容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4023360" cy="457200"/>
          </a:xfrm>
          <a:prstGeom prst="rect">
            <a:avLst/>
          </a:prstGeom>
          <a:solidFill>
            <a:srgbClr val="E3EDF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148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事業名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92024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HOHOHO（歩歩歩プロジェクト）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0080" y="2697480"/>
            <a:ext cx="4023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事業形態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920240" y="2697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歩行型インフラ点検サービス会社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" y="3246120"/>
            <a:ext cx="4023360" cy="457200"/>
          </a:xfrm>
          <a:prstGeom prst="rect">
            <a:avLst/>
          </a:prstGeom>
          <a:solidFill>
            <a:srgbClr val="E3EDF7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コア価値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92024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as a 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（意思決定支援サービス）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" y="3794760"/>
            <a:ext cx="4023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主戦場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92024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市町村道（通学路）＋ 農業水利施設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" y="4343400"/>
            <a:ext cx="4023360" cy="457200"/>
          </a:xfrm>
          <a:prstGeom prst="rect">
            <a:avLst/>
          </a:prstGeom>
          <a:solidFill>
            <a:srgbClr val="E3EDF7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拠点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920240" y="4343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福井市（北陸発・段階的全国展開）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9377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福井市PoC実績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937760" y="21488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029200" y="2194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E896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367</a:t>
            </a:r>
            <a:endParaRPr lang="en-US" sz="5400" dirty="0"/>
          </a:p>
        </p:txBody>
      </p:sp>
      <p:sp>
        <p:nvSpPr>
          <p:cNvPr id="26" name="Text 23"/>
          <p:cNvSpPr/>
          <p:nvPr/>
        </p:nvSpPr>
        <p:spPr>
          <a:xfrm>
            <a:off x="502920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件/月の異常検知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02920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（調査員1名×1時間/日  vs  市民LINE通報 約100件/年）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937760" y="3794760"/>
            <a:ext cx="3657600" cy="914400"/>
          </a:xfrm>
          <a:prstGeom prst="rect">
            <a:avLst/>
          </a:prstGeom>
          <a:solidFill>
            <a:srgbClr val="FDF2E4"/>
          </a:solidFill>
          <a:ln/>
        </p:spPr>
      </p:sp>
      <p:sp>
        <p:nvSpPr>
          <p:cNvPr id="29" name="Shape 26"/>
          <p:cNvSpPr/>
          <p:nvPr/>
        </p:nvSpPr>
        <p:spPr>
          <a:xfrm>
            <a:off x="4937760" y="3794760"/>
            <a:ext cx="54864" cy="91440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0" name="Text 27"/>
          <p:cNvSpPr/>
          <p:nvPr/>
        </p:nvSpPr>
        <p:spPr>
          <a:xfrm>
            <a:off x="5120640" y="3840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63E"/>
                </a:solidFill>
              </a:rPr>
              <a:t>学び：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行政は「発見数」より「判断可能性（優先順位付け）」を重視 → Judgment as a Serviceへ昇華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親和性マトリクス：福井市MP × HOHOHO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MPの視点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68880" y="868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都市計画MPの方針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0" y="868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HOHOHOの対応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188720"/>
            <a:ext cx="54864" cy="91440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188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活力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多様な拠点づくり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26187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にぎわい交流の拠点づくり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回遊性・アクセス性の向上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都心部の魅力向上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77840" y="126187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歩行者動線データの可視化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拠点間回遊の安全性評価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FUKUMACHI BLOCK等への接続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103120"/>
            <a:ext cx="7863840" cy="9144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103120"/>
            <a:ext cx="54864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身近な生活空間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17627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安全・安心なまちづくり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公共交通連携の地域拠点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防災体制の強化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217627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通学路の歩行者視点ハザードマップ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生活道路のリスク優先順位付け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避難路の安全性監査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78638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017520"/>
            <a:ext cx="54864" cy="9144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017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移動の骨格づくり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309067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歩行者・自転車優先の道路整備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「ふくみち」制度の推進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沿道と連動した道路空間再編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77840" y="309067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歩道・自転車道の損傷検知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歩行快適性データの提供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道路空間再編の基礎データ生成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931920"/>
            <a:ext cx="54864" cy="9144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931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潤い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水と緑の空間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400507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農業用水路の一体管理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河川流域の維持・保全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グリーンインフラの推進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400507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農業水利施設の簡易機能診断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水路周辺の歩行パトロール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環境資産の状態モニタリング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solidFill>
            <a:srgbClr val="2A7F6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福井市MPの4視点すべてにHOHOHOが直接的な解決手段として接続  →  政策整合性は極めて高い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HOHOHOの再定義：「出費」から「投資」へ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14400"/>
            <a:ext cx="54864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ビジコン審査員の指摘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「社会活動としては素晴らしいが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行政にとって出費にしか見えない」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32588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0" y="91440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914400"/>
            <a:ext cx="54864" cy="1371600"/>
          </a:xfrm>
          <a:prstGeom prst="rect">
            <a:avLst/>
          </a:prstGeom>
          <a:solidFill>
            <a:srgbClr val="2A7F62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新しい定義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212080" y="1325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HOHOHO =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自治体が国交付金を得るための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エビデンス生成装置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価値連鎖：歩行観測 → エビデンス → 交付金獲得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2926080"/>
            <a:ext cx="1417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05840" y="306324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3182112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5800" y="3794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歩行観測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8580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HOHOHO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によるデータ収集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611880"/>
            <a:ext cx="274320" cy="2743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331720" y="2926080"/>
            <a:ext cx="1417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697480" y="306324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352" y="318211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377440" y="3794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データ蓄積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237744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AI分析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優先順位付け</a:t>
            </a:r>
            <a:endParaRPr lang="en-US" sz="9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611880"/>
            <a:ext cx="274320" cy="274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023360" y="2926080"/>
            <a:ext cx="1417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389120" y="3063240"/>
            <a:ext cx="640080" cy="640080"/>
          </a:xfrm>
          <a:prstGeom prst="ellipse">
            <a:avLst/>
          </a:prstGeom>
          <a:solidFill>
            <a:srgbClr val="2A7F62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992" y="3182112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069080" y="3794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研究連携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06908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大学による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科学的根拠</a:t>
            </a:r>
            <a:endParaRPr lang="en-US" sz="9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611880"/>
            <a:ext cx="274320" cy="27432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5715000" y="2926080"/>
            <a:ext cx="1417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080760" y="3063240"/>
            <a:ext cx="640080" cy="640080"/>
          </a:xfrm>
          <a:prstGeom prst="ellipse">
            <a:avLst/>
          </a:prstGeom>
          <a:solidFill>
            <a:srgbClr val="2A7F62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182112"/>
            <a:ext cx="411480" cy="4114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760720" y="3794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エビデンス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576072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予防保全計画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の策定</a:t>
            </a:r>
            <a:endParaRPr lang="en-US" sz="9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0" y="3611880"/>
            <a:ext cx="274320" cy="274320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7406640" y="2926080"/>
            <a:ext cx="1417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7772400" y="3063240"/>
            <a:ext cx="640080" cy="640080"/>
          </a:xfrm>
          <a:prstGeom prst="ellipse">
            <a:avLst/>
          </a:prstGeom>
          <a:solidFill>
            <a:srgbClr val="E8963E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1272" y="3182112"/>
            <a:ext cx="411480" cy="41148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7452360" y="3794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交付金獲得</a:t>
            </a:r>
            <a:endParaRPr lang="en-US" sz="1100" dirty="0"/>
          </a:p>
        </p:txBody>
      </p:sp>
      <p:sp>
        <p:nvSpPr>
          <p:cNvPr id="42" name="Text 30"/>
          <p:cNvSpPr/>
          <p:nvPr/>
        </p:nvSpPr>
        <p:spPr>
          <a:xfrm>
            <a:off x="745236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国交付金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年約3,000億円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法的根拠とリスク低減効果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HOHOHOは「あると便利」ではなく「なくてはならない」 — 義務と責任に直結するサービス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246888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417320"/>
            <a:ext cx="731520" cy="7315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544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道路巡視義務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道路法施行令 第35条の2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2296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道路管理者は「適切な時期に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おける巡視」を義務付け。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HOHOHOは低コスト・高頻度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の巡視手段を提供。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83280" y="12344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234440"/>
            <a:ext cx="246888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Shape 11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544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管理瑕疵リスク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2044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国家賠償法 第2条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56616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「知らなかった」「予算がない」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は免責事由にならない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（高知落石訴訟・無過失責任）。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HOHOHOは客観的証跡を提供。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26480" y="12344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1234440"/>
            <a:ext cx="246888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Shape 17"/>
          <p:cNvSpPr/>
          <p:nvPr/>
        </p:nvSpPr>
        <p:spPr>
          <a:xfrm>
            <a:off x="6949440" y="1417320"/>
            <a:ext cx="731520" cy="7315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5544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6364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通学路合同点検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26364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3省庁連携通知（事実上の義務）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30936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全国97%以上の自治体が実施。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HOHOHOの「子供の目線」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データは、通学路安全対策に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本質的に適合。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2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自治体にとってHOHOHOの導入は「費用」ではなく「訴訟リスクを定量的に軽減する保険」である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産学官金連携エコシステム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HOHOHOを中核としたステークホルダー連携構造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0" y="1828800"/>
            <a:ext cx="2194560" cy="2194560"/>
          </a:xfrm>
          <a:prstGeom prst="ellipse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0574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HOHOHO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47472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歩行データ収集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意思決定支援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21031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188720"/>
            <a:ext cx="210312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E8963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4475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産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43000" y="1325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CONNECT等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9436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技術連携・協業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民間マネタイズ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583680" y="1188720"/>
            <a:ext cx="21031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0" y="1188720"/>
            <a:ext cx="2103120" cy="54864"/>
          </a:xfrm>
          <a:prstGeom prst="rect">
            <a:avLst/>
          </a:prstGeom>
          <a:solidFill>
            <a:srgbClr val="2A7F62"/>
          </a:solidFill>
          <a:ln/>
        </p:spPr>
      </p:sp>
      <p:sp>
        <p:nvSpPr>
          <p:cNvPr id="18" name="Shape 14"/>
          <p:cNvSpPr/>
          <p:nvPr/>
        </p:nvSpPr>
        <p:spPr>
          <a:xfrm>
            <a:off x="6675120" y="1371600"/>
            <a:ext cx="502920" cy="502920"/>
          </a:xfrm>
          <a:prstGeom prst="ellipse">
            <a:avLst/>
          </a:prstGeom>
          <a:solidFill>
            <a:srgbClr val="2A7F6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4447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51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学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269480" y="1325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福井工業大学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三寺研究室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72084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データの科学的検証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共同研究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3200400"/>
            <a:ext cx="21031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3200400"/>
            <a:ext cx="210312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5" name="Shape 20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E85D75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456432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官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43000" y="3337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各自治体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9436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制度適合・実証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PoC・随意契約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583680" y="3200400"/>
            <a:ext cx="21031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583680" y="3200400"/>
            <a:ext cx="210312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2" name="Shape 26"/>
          <p:cNvSpPr/>
          <p:nvPr/>
        </p:nvSpPr>
        <p:spPr>
          <a:xfrm>
            <a:off x="6675120" y="3383280"/>
            <a:ext cx="502920" cy="502920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3456432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6751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金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7269480" y="3337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福井銀行等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地域金融機関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672084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資金支援・紹介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地域ネットワーク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2560320" y="1920240"/>
            <a:ext cx="1097280" cy="457200"/>
          </a:xfrm>
          <a:prstGeom prst="line">
            <a:avLst/>
          </a:prstGeom>
          <a:noFill/>
          <a:ln w="19050">
            <a:solidFill>
              <a:srgbClr val="E8963E"/>
            </a:solidFill>
            <a:prstDash val="dash"/>
          </a:ln>
        </p:spPr>
      </p:sp>
      <p:sp>
        <p:nvSpPr>
          <p:cNvPr id="38" name="Shape 31"/>
          <p:cNvSpPr/>
          <p:nvPr/>
        </p:nvSpPr>
        <p:spPr>
          <a:xfrm flipH="1">
            <a:off x="5486400" y="1920240"/>
            <a:ext cx="1097280" cy="457200"/>
          </a:xfrm>
          <a:prstGeom prst="line">
            <a:avLst/>
          </a:prstGeom>
          <a:noFill/>
          <a:ln w="19050">
            <a:solidFill>
              <a:srgbClr val="2A7F62"/>
            </a:solidFill>
            <a:prstDash val="dash"/>
          </a:ln>
        </p:spPr>
      </p:sp>
      <p:sp>
        <p:nvSpPr>
          <p:cNvPr id="39" name="Shape 32"/>
          <p:cNvSpPr/>
          <p:nvPr/>
        </p:nvSpPr>
        <p:spPr>
          <a:xfrm flipV="1">
            <a:off x="2560320" y="3291840"/>
            <a:ext cx="1097280" cy="457200"/>
          </a:xfrm>
          <a:prstGeom prst="line">
            <a:avLst/>
          </a:prstGeom>
          <a:noFill/>
          <a:ln w="19050">
            <a:solidFill>
              <a:srgbClr val="E85D75"/>
            </a:solidFill>
            <a:prstDash val="dash"/>
          </a:ln>
        </p:spPr>
      </p:sp>
      <p:sp>
        <p:nvSpPr>
          <p:cNvPr id="40" name="Shape 33"/>
          <p:cNvSpPr/>
          <p:nvPr/>
        </p:nvSpPr>
        <p:spPr>
          <a:xfrm flipH="1" flipV="1">
            <a:off x="5486400" y="3291840"/>
            <a:ext cx="1097280" cy="457200"/>
          </a:xfrm>
          <a:prstGeom prst="line">
            <a:avLst/>
          </a:prstGeom>
          <a:noFill/>
          <a:ln w="19050">
            <a:solidFill>
              <a:srgbClr val="2196F3"/>
            </a:solidFill>
            <a:prstDash val="dash"/>
          </a:ln>
        </p:spPr>
      </p:sp>
      <p:sp>
        <p:nvSpPr>
          <p:cNvPr id="41" name="Text 34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収益モデルと事業化ロードマップ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3つの収益源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46304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委託費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4592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パートナー企業経由の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調査・点検業務受託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24688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SaaS利用料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64592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システム月額/年額利用料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少額随意契約の範囲内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40080" y="36118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74904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404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703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補助金・交付金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64592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インフラDX・デジタル田園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都市構想の活用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937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事業化ロードマップ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937760" y="132588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37760" y="1325880"/>
            <a:ext cx="54864" cy="91440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23" name="Shape 18"/>
          <p:cNvSpPr/>
          <p:nvPr/>
        </p:nvSpPr>
        <p:spPr>
          <a:xfrm>
            <a:off x="5120640" y="1417320"/>
            <a:ext cx="731520" cy="27432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24" name="Text 19"/>
          <p:cNvSpPr/>
          <p:nvPr/>
        </p:nvSpPr>
        <p:spPr>
          <a:xfrm>
            <a:off x="5120640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5943600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2026年（1年目）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5120640" y="17099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実績づくり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120640" y="1892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大学共同研究開始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近隣自治体PoC 3-5件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修繕優先順位マップ納品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937760" y="246888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937760" y="2468880"/>
            <a:ext cx="54864" cy="914400"/>
          </a:xfrm>
          <a:prstGeom prst="rect">
            <a:avLst/>
          </a:prstGeom>
          <a:solidFill>
            <a:srgbClr val="2A7F62"/>
          </a:solidFill>
          <a:ln/>
        </p:spPr>
      </p:sp>
      <p:sp>
        <p:nvSpPr>
          <p:cNvPr id="30" name="Shape 25"/>
          <p:cNvSpPr/>
          <p:nvPr/>
        </p:nvSpPr>
        <p:spPr>
          <a:xfrm>
            <a:off x="5120640" y="2560320"/>
            <a:ext cx="731520" cy="274320"/>
          </a:xfrm>
          <a:prstGeom prst="rect">
            <a:avLst/>
          </a:prstGeom>
          <a:solidFill>
            <a:srgbClr val="2A7F62"/>
          </a:solidFill>
          <a:ln/>
        </p:spPr>
      </p:sp>
      <p:sp>
        <p:nvSpPr>
          <p:cNvPr id="31" name="Text 26"/>
          <p:cNvSpPr/>
          <p:nvPr/>
        </p:nvSpPr>
        <p:spPr>
          <a:xfrm>
            <a:off x="5120640" y="2560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5943600" y="2532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2027-2028年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5120640" y="28529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パートナーシップ横展開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5120640" y="3035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建設コンサル・ITベンダー連携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農水市場への展開開始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行政予算化（2028.4目標）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4937760" y="361188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937760" y="3611880"/>
            <a:ext cx="54864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7" name="Shape 32"/>
          <p:cNvSpPr/>
          <p:nvPr/>
        </p:nvSpPr>
        <p:spPr>
          <a:xfrm>
            <a:off x="5120640" y="3703320"/>
            <a:ext cx="731520" cy="2743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8" name="Text 33"/>
          <p:cNvSpPr/>
          <p:nvPr/>
        </p:nvSpPr>
        <p:spPr>
          <a:xfrm>
            <a:off x="5120640" y="3703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594360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2029年〜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5120640" y="39959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制度化・プラットフォーム化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5120640" y="4178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劣化予測AIモデル構築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国ガイドライン採用目標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市民参加型プラットフォーム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4965192" y="1325880"/>
            <a:ext cx="0" cy="320040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金融機関に期待する役割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地域金融機関は「資金提供者」ではなく「エコシステムのハブ」として機能する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417320"/>
            <a:ext cx="822960" cy="822960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5544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ネットワーク紹介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自治体・大学・企業の橋渡し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福井銀行 → 三寺教授連携の実績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地域企業への紹介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77240" y="3703320"/>
            <a:ext cx="2194560" cy="594360"/>
          </a:xfrm>
          <a:prstGeom prst="rect">
            <a:avLst/>
          </a:prstGeom>
          <a:solidFill>
            <a:srgbClr val="E3EDF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7033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産学官金の結節点として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プロジェクトの信用力を増幅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83280" y="123444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60520" y="1417320"/>
            <a:ext cx="822960" cy="822960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事業性評価・資金支援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6616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共同研究費の融資検討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創業支援制度の活用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補助金申請の助言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520440" y="3703320"/>
            <a:ext cx="2194560" cy="594360"/>
          </a:xfrm>
          <a:prstGeom prst="rect">
            <a:avLst/>
          </a:prstGeom>
          <a:solidFill>
            <a:srgbClr val="E3EDF7"/>
          </a:solidFill>
          <a:ln/>
        </p:spPr>
      </p:sp>
      <p:sp>
        <p:nvSpPr>
          <p:cNvPr id="18" name="Text 14"/>
          <p:cNvSpPr/>
          <p:nvPr/>
        </p:nvSpPr>
        <p:spPr>
          <a:xfrm>
            <a:off x="3566160" y="37033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初期2年間の事業継続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資金繰りの安定化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26480" y="123444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903720" y="1417320"/>
            <a:ext cx="822960" cy="822960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5448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地域課題の共有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0936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取引先自治体のニーズ情報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地域インフラの課題共有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マッチング機会の創出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263640" y="3703320"/>
            <a:ext cx="2194560" cy="594360"/>
          </a:xfrm>
          <a:prstGeom prst="rect">
            <a:avLst/>
          </a:prstGeom>
          <a:solidFill>
            <a:srgbClr val="E3EDF7"/>
          </a:solidFill>
          <a:ln/>
        </p:spPr>
      </p:sp>
      <p:sp>
        <p:nvSpPr>
          <p:cNvPr id="25" name="Text 20"/>
          <p:cNvSpPr/>
          <p:nvPr/>
        </p:nvSpPr>
        <p:spPr>
          <a:xfrm>
            <a:off x="6309360" y="37033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顧客開拓の精度向上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市場理解の深化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競合優位性：なぜHOHOHOか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比較軸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868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主要競合（車両視点型）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94960" y="868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63E"/>
                </a:solidFill>
              </a:rPr>
              <a:t>HOHOHO（歩行者視点型）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280160"/>
            <a:ext cx="78638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データ視点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2801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車両視点（スマホ・ドラレコ）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0" y="12801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歩行者視点（子供の目線含む）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1993392"/>
            <a:ext cx="7863840" cy="7132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9339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主戦場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199339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国道・県道（レッドオーシャン）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0" y="199339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市町村道・通学路・農道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（ブルーオーシャン）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2706624"/>
            <a:ext cx="78638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06624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提供価値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270662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道路損傷の網羅的検知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270662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修繕優先順位の決定支援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法的リスク軽減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419856"/>
            <a:ext cx="7863840" cy="7132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19856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差別化要因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341985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AIによる画像解析技術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大量導入実績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0" y="341985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狭隘路適応性・低コスト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子供目線の安全性評価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133088"/>
            <a:ext cx="78638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33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MP適合度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413308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道路維持管理に限定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0" y="413308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4視点すべてに接続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（歩きつながるまち）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4480560"/>
            <a:ext cx="3840480" cy="320040"/>
          </a:xfrm>
          <a:prstGeom prst="rect">
            <a:avLst/>
          </a:prstGeom>
          <a:solidFill>
            <a:srgbClr val="2A7F62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4526280"/>
            <a:ext cx="228600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029200" y="4480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福井市MPとの親和性がHOHOHO最大の差別化要因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3A5C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00" y="1645920"/>
            <a:ext cx="1097280" cy="1097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188720"/>
            <a:ext cx="73152" cy="201168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1887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「歩く」から始まる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福井のインフラ革命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福井市都市計画MPの理念「歩きつながる」まちの実現を、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HOHOHOのインフラ点検技術で支えます。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3474720"/>
            <a:ext cx="4572000" cy="9144"/>
          </a:xfrm>
          <a:prstGeom prst="rect">
            <a:avLst/>
          </a:prstGeom>
          <a:solidFill>
            <a:srgbClr val="E8963E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HOHOHOプロジェクト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</a:rPr>
              <a:t>創業者  中島 健吾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A4C4"/>
                </a:solidFill>
              </a:rPr>
              <a:t>メンター  山内 雄司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ご清聴ありがとうございました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HOHOHO × 福井市都市計画マスタープラン 事業化戦略</dc:title>
  <dc:subject>PptxGenJS Presentation</dc:subject>
  <dc:creator>HOHOHO Project / Nakashima Kengo</dc:creator>
  <cp:lastModifiedBy>HOHOHO Project / Nakashima Kengo</cp:lastModifiedBy>
  <cp:revision>1</cp:revision>
  <dcterms:created xsi:type="dcterms:W3CDTF">2026-03-12T07:52:10Z</dcterms:created>
  <dcterms:modified xsi:type="dcterms:W3CDTF">2026-03-12T07:52:10Z</dcterms:modified>
</cp:coreProperties>
</file>