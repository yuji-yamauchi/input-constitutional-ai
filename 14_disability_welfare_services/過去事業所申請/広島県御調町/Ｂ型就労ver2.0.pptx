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12"/>
  </p:notesMasterIdLst>
  <p:sldIdLst>
    <p:sldId id="256" r:id="rId4"/>
    <p:sldId id="297" r:id="rId5"/>
    <p:sldId id="298" r:id="rId6"/>
    <p:sldId id="288" r:id="rId7"/>
    <p:sldId id="289" r:id="rId8"/>
    <p:sldId id="290" r:id="rId9"/>
    <p:sldId id="268" r:id="rId10"/>
    <p:sldId id="275" r:id="rId11"/>
  </p:sldIdLst>
  <p:sldSz cx="9144000" cy="6858000" type="screen4x3"/>
  <p:notesSz cx="6888163" cy="10020300"/>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5pPr>
    <a:lvl6pPr marL="2286000" algn="l" defTabSz="914400" rtl="0" eaLnBrk="1" latinLnBrk="0" hangingPunct="1">
      <a:defRPr kern="1200">
        <a:solidFill>
          <a:schemeClr val="bg1"/>
        </a:solidFill>
        <a:latin typeface="Arial" charset="0"/>
        <a:ea typeface="ＭＳ Ｐゴシック" charset="-128"/>
        <a:cs typeface="+mn-cs"/>
      </a:defRPr>
    </a:lvl6pPr>
    <a:lvl7pPr marL="2743200" algn="l" defTabSz="914400" rtl="0" eaLnBrk="1" latinLnBrk="0" hangingPunct="1">
      <a:defRPr kern="1200">
        <a:solidFill>
          <a:schemeClr val="bg1"/>
        </a:solidFill>
        <a:latin typeface="Arial" charset="0"/>
        <a:ea typeface="ＭＳ Ｐゴシック" charset="-128"/>
        <a:cs typeface="+mn-cs"/>
      </a:defRPr>
    </a:lvl7pPr>
    <a:lvl8pPr marL="3200400" algn="l" defTabSz="914400" rtl="0" eaLnBrk="1" latinLnBrk="0" hangingPunct="1">
      <a:defRPr kern="1200">
        <a:solidFill>
          <a:schemeClr val="bg1"/>
        </a:solidFill>
        <a:latin typeface="Arial" charset="0"/>
        <a:ea typeface="ＭＳ Ｐゴシック" charset="-128"/>
        <a:cs typeface="+mn-cs"/>
      </a:defRPr>
    </a:lvl8pPr>
    <a:lvl9pPr marL="3657600" algn="l" defTabSz="914400" rtl="0" eaLnBrk="1" latinLnBrk="0" hangingPunct="1">
      <a:defRPr kern="1200">
        <a:solidFill>
          <a:schemeClr val="bg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5"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918" y="3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925"/>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AutoShape 1"/>
          <p:cNvSpPr>
            <a:spLocks noChangeArrowheads="1"/>
          </p:cNvSpPr>
          <p:nvPr/>
        </p:nvSpPr>
        <p:spPr bwMode="auto">
          <a:xfrm>
            <a:off x="1" y="1"/>
            <a:ext cx="6888163" cy="100203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16387" name="Text Box 2"/>
          <p:cNvSpPr txBox="1">
            <a:spLocks noChangeArrowheads="1"/>
          </p:cNvSpPr>
          <p:nvPr/>
        </p:nvSpPr>
        <p:spPr bwMode="auto">
          <a:xfrm>
            <a:off x="0" y="1"/>
            <a:ext cx="29860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4099" name="Rectangle 3"/>
          <p:cNvSpPr>
            <a:spLocks noGrp="1" noChangeArrowheads="1"/>
          </p:cNvSpPr>
          <p:nvPr>
            <p:ph type="dt"/>
          </p:nvPr>
        </p:nvSpPr>
        <p:spPr bwMode="auto">
          <a:xfrm>
            <a:off x="3900488" y="1"/>
            <a:ext cx="29845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t" anchorCtr="0" compatLnSpc="1">
            <a:prstTxWarp prst="textNoShape">
              <a:avLst/>
            </a:prstTxWarp>
          </a:bodyPr>
          <a:lstStyle>
            <a:lvl1pPr algn="r">
              <a:buClrTx/>
              <a:buFontTx/>
              <a:buNone/>
              <a:tabLst>
                <a:tab pos="737121" algn="l"/>
                <a:tab pos="1474241" algn="l"/>
                <a:tab pos="2211361" algn="l"/>
                <a:tab pos="2948481" algn="l"/>
              </a:tabLst>
              <a:defRPr sz="1200">
                <a:solidFill>
                  <a:srgbClr val="000000"/>
                </a:solidFill>
                <a:latin typeface="Calibri" pitchFamily="32" charset="0"/>
                <a:ea typeface="ＭＳ Ｐ明朝" charset="-128"/>
              </a:defRPr>
            </a:lvl1pPr>
          </a:lstStyle>
          <a:p>
            <a:pPr>
              <a:defRPr/>
            </a:pPr>
            <a:endParaRPr lang="en-US"/>
          </a:p>
        </p:txBody>
      </p:sp>
      <p:sp>
        <p:nvSpPr>
          <p:cNvPr id="16389" name="Rectangle 4"/>
          <p:cNvSpPr>
            <a:spLocks noGrp="1" noRot="1" noChangeAspect="1" noChangeArrowheads="1"/>
          </p:cNvSpPr>
          <p:nvPr>
            <p:ph type="sldImg"/>
          </p:nvPr>
        </p:nvSpPr>
        <p:spPr bwMode="auto">
          <a:xfrm>
            <a:off x="938213" y="750888"/>
            <a:ext cx="5010150" cy="3757612"/>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1" name="Rectangle 5"/>
          <p:cNvSpPr>
            <a:spLocks noGrp="1" noChangeArrowheads="1"/>
          </p:cNvSpPr>
          <p:nvPr>
            <p:ph type="body"/>
          </p:nvPr>
        </p:nvSpPr>
        <p:spPr bwMode="auto">
          <a:xfrm>
            <a:off x="688976" y="4759326"/>
            <a:ext cx="5508625" cy="4506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t" anchorCtr="0" compatLnSpc="1">
            <a:prstTxWarp prst="textNoShape">
              <a:avLst/>
            </a:prstTxWarp>
          </a:bodyPr>
          <a:lstStyle/>
          <a:p>
            <a:pPr lvl="0"/>
            <a:endParaRPr lang="ja-JP" altLang="ja-JP" noProof="0" smtClean="0"/>
          </a:p>
        </p:txBody>
      </p:sp>
      <p:sp>
        <p:nvSpPr>
          <p:cNvPr id="16391" name="Text Box 6"/>
          <p:cNvSpPr txBox="1">
            <a:spLocks noChangeArrowheads="1"/>
          </p:cNvSpPr>
          <p:nvPr/>
        </p:nvSpPr>
        <p:spPr bwMode="auto">
          <a:xfrm>
            <a:off x="0" y="9515476"/>
            <a:ext cx="29860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3109" tIns="46555" rIns="93109" bIns="46555" anchor="ctr"/>
          <a:lstStyle/>
          <a:p>
            <a:endParaRPr lang="ja-JP" altLang="en-US"/>
          </a:p>
        </p:txBody>
      </p:sp>
      <p:sp>
        <p:nvSpPr>
          <p:cNvPr id="4103" name="Rectangle 7"/>
          <p:cNvSpPr>
            <a:spLocks noGrp="1" noChangeArrowheads="1"/>
          </p:cNvSpPr>
          <p:nvPr>
            <p:ph type="sldNum"/>
          </p:nvPr>
        </p:nvSpPr>
        <p:spPr bwMode="auto">
          <a:xfrm>
            <a:off x="3900488" y="9515476"/>
            <a:ext cx="29845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9" tIns="46555" rIns="93109" bIns="46555" numCol="1" anchor="b" anchorCtr="0" compatLnSpc="1">
            <a:prstTxWarp prst="textNoShape">
              <a:avLst/>
            </a:prstTxWarp>
          </a:bodyPr>
          <a:lstStyle>
            <a:lvl1pPr algn="r">
              <a:buClrTx/>
              <a:buFontTx/>
              <a:buNone/>
              <a:tabLst>
                <a:tab pos="737121" algn="l"/>
                <a:tab pos="1474241" algn="l"/>
                <a:tab pos="2211361" algn="l"/>
                <a:tab pos="2948481" algn="l"/>
              </a:tabLst>
              <a:defRPr sz="1200">
                <a:solidFill>
                  <a:srgbClr val="000000"/>
                </a:solidFill>
                <a:latin typeface="Calibri" pitchFamily="32" charset="0"/>
                <a:ea typeface="ＭＳ Ｐ明朝" charset="-128"/>
              </a:defRPr>
            </a:lvl1pPr>
          </a:lstStyle>
          <a:p>
            <a:pPr>
              <a:defRPr/>
            </a:pPr>
            <a:fld id="{70372DC9-4E3A-48D7-B466-713EB35763B3}" type="slidenum">
              <a:rPr lang="en-US"/>
              <a:pPr>
                <a:defRPr/>
              </a:pPr>
              <a:t>‹#›</a:t>
            </a:fld>
            <a:endParaRPr lang="en-US"/>
          </a:p>
        </p:txBody>
      </p:sp>
    </p:spTree>
    <p:extLst>
      <p:ext uri="{BB962C8B-B14F-4D97-AF65-F5344CB8AC3E}">
        <p14:creationId xmlns:p14="http://schemas.microsoft.com/office/powerpoint/2010/main" val="4012460969"/>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1pPr>
            <a:lvl2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2pPr>
            <a:lvl3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3pPr>
            <a:lvl4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4pPr>
            <a:lvl5pPr eaLnBrk="0" hangingPunct="0">
              <a:spcBef>
                <a:spcPct val="30000"/>
              </a:spcBef>
              <a:tabLst>
                <a:tab pos="736501" algn="l"/>
                <a:tab pos="1473002" algn="l"/>
                <a:tab pos="2211090" algn="l"/>
                <a:tab pos="2947591" algn="l"/>
              </a:tabLst>
              <a:defRPr sz="1200">
                <a:solidFill>
                  <a:srgbClr val="000000"/>
                </a:solidFill>
                <a:latin typeface="Times New Roman" pitchFamily="16" charset="0"/>
              </a:defRPr>
            </a:lvl5pPr>
            <a:lvl6pPr marL="2514261"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6pPr>
            <a:lvl7pPr marL="2971399"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7pPr>
            <a:lvl8pPr marL="3428537"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8pPr>
            <a:lvl9pPr marL="3885676" indent="-228569" defTabSz="449202" eaLnBrk="0" fontAlgn="base" hangingPunct="0">
              <a:spcBef>
                <a:spcPct val="30000"/>
              </a:spcBef>
              <a:spcAft>
                <a:spcPct val="0"/>
              </a:spcAft>
              <a:buClr>
                <a:srgbClr val="000000"/>
              </a:buClr>
              <a:buSzPct val="100000"/>
              <a:buFont typeface="Times New Roman" pitchFamily="16" charset="0"/>
              <a:tabLst>
                <a:tab pos="736501" algn="l"/>
                <a:tab pos="1473002" algn="l"/>
                <a:tab pos="2211090" algn="l"/>
                <a:tab pos="2947591" algn="l"/>
              </a:tabLst>
              <a:defRPr sz="1200">
                <a:solidFill>
                  <a:srgbClr val="000000"/>
                </a:solidFill>
                <a:latin typeface="Times New Roman" pitchFamily="16" charset="0"/>
              </a:defRPr>
            </a:lvl9pPr>
          </a:lstStyle>
          <a:p>
            <a:pPr eaLnBrk="1" hangingPunct="1">
              <a:spcBef>
                <a:spcPct val="0"/>
              </a:spcBef>
            </a:pPr>
            <a:fld id="{D833CD37-A5C2-40CB-B5C2-759074D3FAD7}" type="slidenum">
              <a:rPr lang="en-US" altLang="ja-JP" smtClean="0">
                <a:latin typeface="Calibri" pitchFamily="34" charset="0"/>
              </a:rPr>
              <a:pPr eaLnBrk="1" hangingPunct="1">
                <a:spcBef>
                  <a:spcPct val="0"/>
                </a:spcBef>
              </a:pPr>
              <a:t>1</a:t>
            </a:fld>
            <a:endParaRPr lang="en-US" altLang="ja-JP" smtClean="0">
              <a:latin typeface="Calibri" pitchFamily="34" charset="0"/>
            </a:endParaRPr>
          </a:p>
        </p:txBody>
      </p:sp>
      <p:sp>
        <p:nvSpPr>
          <p:cNvPr id="17411" name="Rectangle 1"/>
          <p:cNvSpPr>
            <a:spLocks noGrp="1" noRot="1" noChangeAspect="1" noChangeArrowheads="1" noTextEdit="1"/>
          </p:cNvSpPr>
          <p:nvPr>
            <p:ph type="sldImg"/>
          </p:nvPr>
        </p:nvSpPr>
        <p:spPr>
          <a:xfrm>
            <a:off x="938213" y="750888"/>
            <a:ext cx="5011737" cy="37592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688976" y="4759325"/>
            <a:ext cx="5510213" cy="4508500"/>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ja-JP" smtClean="0"/>
          </a:p>
        </p:txBody>
      </p:sp>
    </p:spTree>
    <p:extLst>
      <p:ext uri="{BB962C8B-B14F-4D97-AF65-F5344CB8AC3E}">
        <p14:creationId xmlns:p14="http://schemas.microsoft.com/office/powerpoint/2010/main" val="312637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86BB1A90-CCA6-4785-8EF5-8F55E4601F25}" type="slidenum">
              <a:rPr lang="en-US"/>
              <a:pPr>
                <a:defRPr/>
              </a:pPr>
              <a:t>‹#›</a:t>
            </a:fld>
            <a:endParaRPr lang="en-US"/>
          </a:p>
        </p:txBody>
      </p:sp>
    </p:spTree>
    <p:extLst>
      <p:ext uri="{BB962C8B-B14F-4D97-AF65-F5344CB8AC3E}">
        <p14:creationId xmlns:p14="http://schemas.microsoft.com/office/powerpoint/2010/main" val="3501815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E0416F2A-E08A-44D3-B188-C3617D7E528B}" type="slidenum">
              <a:rPr lang="en-US"/>
              <a:pPr>
                <a:defRPr/>
              </a:pPr>
              <a:t>‹#›</a:t>
            </a:fld>
            <a:endParaRPr lang="en-US"/>
          </a:p>
        </p:txBody>
      </p:sp>
    </p:spTree>
    <p:extLst>
      <p:ext uri="{BB962C8B-B14F-4D97-AF65-F5344CB8AC3E}">
        <p14:creationId xmlns:p14="http://schemas.microsoft.com/office/powerpoint/2010/main" val="2410854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AB0D9613-125C-4401-96C8-536C7C099EF3}" type="slidenum">
              <a:rPr lang="en-US"/>
              <a:pPr>
                <a:defRPr/>
              </a:pPr>
              <a:t>‹#›</a:t>
            </a:fld>
            <a:endParaRPr lang="en-US"/>
          </a:p>
        </p:txBody>
      </p:sp>
    </p:spTree>
    <p:extLst>
      <p:ext uri="{BB962C8B-B14F-4D97-AF65-F5344CB8AC3E}">
        <p14:creationId xmlns:p14="http://schemas.microsoft.com/office/powerpoint/2010/main" val="50232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C4094BF6-CC6B-4219-BADF-B2D54980AF1B}" type="slidenum">
              <a:rPr lang="en-US"/>
              <a:pPr>
                <a:defRPr/>
              </a:pPr>
              <a:t>‹#›</a:t>
            </a:fld>
            <a:endParaRPr lang="en-US"/>
          </a:p>
        </p:txBody>
      </p:sp>
    </p:spTree>
    <p:extLst>
      <p:ext uri="{BB962C8B-B14F-4D97-AF65-F5344CB8AC3E}">
        <p14:creationId xmlns:p14="http://schemas.microsoft.com/office/powerpoint/2010/main" val="78183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3"/>
          <p:cNvSpPr>
            <a:spLocks noGrp="1" noChangeArrowheads="1"/>
          </p:cNvSpPr>
          <p:nvPr>
            <p:ph type="dt" idx="10"/>
          </p:nvPr>
        </p:nvSpPr>
        <p:spPr>
          <a:ln/>
        </p:spPr>
        <p:txBody>
          <a:bodyPr/>
          <a:lstStyle>
            <a:lvl1pPr>
              <a:defRPr/>
            </a:lvl1pPr>
          </a:lstStyle>
          <a:p>
            <a:pPr>
              <a:defRPr/>
            </a:pPr>
            <a:endParaRPr lang="en-US"/>
          </a:p>
        </p:txBody>
      </p:sp>
      <p:sp>
        <p:nvSpPr>
          <p:cNvPr id="8" name="Rectangle 5"/>
          <p:cNvSpPr>
            <a:spLocks noGrp="1" noChangeArrowheads="1"/>
          </p:cNvSpPr>
          <p:nvPr>
            <p:ph type="sldNum" idx="11"/>
          </p:nvPr>
        </p:nvSpPr>
        <p:spPr>
          <a:ln/>
        </p:spPr>
        <p:txBody>
          <a:bodyPr/>
          <a:lstStyle>
            <a:lvl1pPr>
              <a:defRPr/>
            </a:lvl1pPr>
          </a:lstStyle>
          <a:p>
            <a:pPr>
              <a:defRPr/>
            </a:pPr>
            <a:fld id="{2E4293C5-4EA4-4235-8F99-881B3650ACE2}" type="slidenum">
              <a:rPr lang="en-US"/>
              <a:pPr>
                <a:defRPr/>
              </a:pPr>
              <a:t>‹#›</a:t>
            </a:fld>
            <a:endParaRPr lang="en-US"/>
          </a:p>
        </p:txBody>
      </p:sp>
    </p:spTree>
    <p:extLst>
      <p:ext uri="{BB962C8B-B14F-4D97-AF65-F5344CB8AC3E}">
        <p14:creationId xmlns:p14="http://schemas.microsoft.com/office/powerpoint/2010/main" val="231029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3"/>
          <p:cNvSpPr>
            <a:spLocks noGrp="1" noChangeArrowheads="1"/>
          </p:cNvSpPr>
          <p:nvPr>
            <p:ph type="dt" idx="10"/>
          </p:nvPr>
        </p:nvSpPr>
        <p:spPr>
          <a:ln/>
        </p:spPr>
        <p:txBody>
          <a:bodyPr/>
          <a:lstStyle>
            <a:lvl1pPr>
              <a:defRPr/>
            </a:lvl1pPr>
          </a:lstStyle>
          <a:p>
            <a:pPr>
              <a:defRPr/>
            </a:pPr>
            <a:endParaRPr lang="en-US"/>
          </a:p>
        </p:txBody>
      </p:sp>
      <p:sp>
        <p:nvSpPr>
          <p:cNvPr id="4" name="Rectangle 5"/>
          <p:cNvSpPr>
            <a:spLocks noGrp="1" noChangeArrowheads="1"/>
          </p:cNvSpPr>
          <p:nvPr>
            <p:ph type="sldNum" idx="11"/>
          </p:nvPr>
        </p:nvSpPr>
        <p:spPr>
          <a:ln/>
        </p:spPr>
        <p:txBody>
          <a:bodyPr/>
          <a:lstStyle>
            <a:lvl1pPr>
              <a:defRPr/>
            </a:lvl1pPr>
          </a:lstStyle>
          <a:p>
            <a:pPr>
              <a:defRPr/>
            </a:pPr>
            <a:fld id="{F05F32B7-FE44-42BA-A997-5F3C98A26029}" type="slidenum">
              <a:rPr lang="en-US"/>
              <a:pPr>
                <a:defRPr/>
              </a:pPr>
              <a:t>‹#›</a:t>
            </a:fld>
            <a:endParaRPr lang="en-US"/>
          </a:p>
        </p:txBody>
      </p:sp>
    </p:spTree>
    <p:extLst>
      <p:ext uri="{BB962C8B-B14F-4D97-AF65-F5344CB8AC3E}">
        <p14:creationId xmlns:p14="http://schemas.microsoft.com/office/powerpoint/2010/main" val="817436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5"/>
          <p:cNvSpPr>
            <a:spLocks noGrp="1" noChangeArrowheads="1"/>
          </p:cNvSpPr>
          <p:nvPr>
            <p:ph type="sldNum" idx="11"/>
          </p:nvPr>
        </p:nvSpPr>
        <p:spPr>
          <a:ln/>
        </p:spPr>
        <p:txBody>
          <a:bodyPr/>
          <a:lstStyle>
            <a:lvl1pPr>
              <a:defRPr/>
            </a:lvl1pPr>
          </a:lstStyle>
          <a:p>
            <a:pPr>
              <a:defRPr/>
            </a:pPr>
            <a:fld id="{1727843A-9FCC-402B-9F15-AAE252B6C022}" type="slidenum">
              <a:rPr lang="en-US"/>
              <a:pPr>
                <a:defRPr/>
              </a:pPr>
              <a:t>‹#›</a:t>
            </a:fld>
            <a:endParaRPr lang="en-US"/>
          </a:p>
        </p:txBody>
      </p:sp>
    </p:spTree>
    <p:extLst>
      <p:ext uri="{BB962C8B-B14F-4D97-AF65-F5344CB8AC3E}">
        <p14:creationId xmlns:p14="http://schemas.microsoft.com/office/powerpoint/2010/main" val="241370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DF0D6D59-0130-4775-BC29-37135F6D30C7}" type="slidenum">
              <a:rPr lang="en-US"/>
              <a:pPr>
                <a:defRPr/>
              </a:pPr>
              <a:t>‹#›</a:t>
            </a:fld>
            <a:endParaRPr lang="en-US"/>
          </a:p>
        </p:txBody>
      </p:sp>
    </p:spTree>
    <p:extLst>
      <p:ext uri="{BB962C8B-B14F-4D97-AF65-F5344CB8AC3E}">
        <p14:creationId xmlns:p14="http://schemas.microsoft.com/office/powerpoint/2010/main" val="2082141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3"/>
          <p:cNvSpPr>
            <a:spLocks noGrp="1" noChangeArrowheads="1"/>
          </p:cNvSpPr>
          <p:nvPr>
            <p:ph type="dt" idx="10"/>
          </p:nvPr>
        </p:nvSpPr>
        <p:spPr>
          <a:ln/>
        </p:spPr>
        <p:txBody>
          <a:bodyPr/>
          <a:lstStyle>
            <a:lvl1pPr>
              <a:defRPr/>
            </a:lvl1pPr>
          </a:lstStyle>
          <a:p>
            <a:pPr>
              <a:defRPr/>
            </a:pPr>
            <a:endParaRPr lang="en-US"/>
          </a:p>
        </p:txBody>
      </p:sp>
      <p:sp>
        <p:nvSpPr>
          <p:cNvPr id="6" name="Rectangle 5"/>
          <p:cNvSpPr>
            <a:spLocks noGrp="1" noChangeArrowheads="1"/>
          </p:cNvSpPr>
          <p:nvPr>
            <p:ph type="sldNum" idx="11"/>
          </p:nvPr>
        </p:nvSpPr>
        <p:spPr>
          <a:ln/>
        </p:spPr>
        <p:txBody>
          <a:bodyPr/>
          <a:lstStyle>
            <a:lvl1pPr>
              <a:defRPr/>
            </a:lvl1pPr>
          </a:lstStyle>
          <a:p>
            <a:pPr>
              <a:defRPr/>
            </a:pPr>
            <a:fld id="{03263A39-A207-45FB-8447-C96BD0CD29AE}" type="slidenum">
              <a:rPr lang="en-US"/>
              <a:pPr>
                <a:defRPr/>
              </a:pPr>
              <a:t>‹#›</a:t>
            </a:fld>
            <a:endParaRPr lang="en-US"/>
          </a:p>
        </p:txBody>
      </p:sp>
    </p:spTree>
    <p:extLst>
      <p:ext uri="{BB962C8B-B14F-4D97-AF65-F5344CB8AC3E}">
        <p14:creationId xmlns:p14="http://schemas.microsoft.com/office/powerpoint/2010/main" val="47466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A197069B-24C8-4373-BD0E-408028E98C3C}" type="slidenum">
              <a:rPr lang="en-US"/>
              <a:pPr>
                <a:defRPr/>
              </a:pPr>
              <a:t>‹#›</a:t>
            </a:fld>
            <a:endParaRPr lang="en-US"/>
          </a:p>
        </p:txBody>
      </p:sp>
    </p:spTree>
    <p:extLst>
      <p:ext uri="{BB962C8B-B14F-4D97-AF65-F5344CB8AC3E}">
        <p14:creationId xmlns:p14="http://schemas.microsoft.com/office/powerpoint/2010/main" val="2830929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3"/>
          <p:cNvSpPr>
            <a:spLocks noGrp="1" noChangeArrowheads="1"/>
          </p:cNvSpPr>
          <p:nvPr>
            <p:ph type="dt" idx="10"/>
          </p:nvPr>
        </p:nvSpPr>
        <p:spPr>
          <a:ln/>
        </p:spPr>
        <p:txBody>
          <a:bodyPr/>
          <a:lstStyle>
            <a:lvl1pPr>
              <a:defRPr/>
            </a:lvl1pPr>
          </a:lstStyle>
          <a:p>
            <a:pPr>
              <a:defRPr/>
            </a:pPr>
            <a:endParaRPr lang="en-US"/>
          </a:p>
        </p:txBody>
      </p:sp>
      <p:sp>
        <p:nvSpPr>
          <p:cNvPr id="5" name="Rectangle 5"/>
          <p:cNvSpPr>
            <a:spLocks noGrp="1" noChangeArrowheads="1"/>
          </p:cNvSpPr>
          <p:nvPr>
            <p:ph type="sldNum" idx="11"/>
          </p:nvPr>
        </p:nvSpPr>
        <p:spPr>
          <a:ln/>
        </p:spPr>
        <p:txBody>
          <a:bodyPr/>
          <a:lstStyle>
            <a:lvl1pPr>
              <a:defRPr/>
            </a:lvl1pPr>
          </a:lstStyle>
          <a:p>
            <a:pPr>
              <a:defRPr/>
            </a:pPr>
            <a:fld id="{8002D1E2-E8B6-439A-B411-ECD33933ED23}" type="slidenum">
              <a:rPr lang="en-US"/>
              <a:pPr>
                <a:defRPr/>
              </a:pPr>
              <a:t>‹#›</a:t>
            </a:fld>
            <a:endParaRPr lang="en-US"/>
          </a:p>
        </p:txBody>
      </p:sp>
    </p:spTree>
    <p:extLst>
      <p:ext uri="{BB962C8B-B14F-4D97-AF65-F5344CB8AC3E}">
        <p14:creationId xmlns:p14="http://schemas.microsoft.com/office/powerpoint/2010/main" val="32686361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F184EE0-5BF9-42F7-91C0-DEA01FF9145A}" type="slidenum">
              <a:rPr lang="en-US"/>
              <a:pPr>
                <a:defRPr/>
              </a:pPr>
              <a:t>‹#›</a:t>
            </a:fld>
            <a:endParaRPr lang="en-US"/>
          </a:p>
        </p:txBody>
      </p:sp>
    </p:spTree>
    <p:extLst>
      <p:ext uri="{BB962C8B-B14F-4D97-AF65-F5344CB8AC3E}">
        <p14:creationId xmlns:p14="http://schemas.microsoft.com/office/powerpoint/2010/main" val="3889501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F265499D-4B11-4FD4-A1CA-412FAEE906C2}" type="slidenum">
              <a:rPr lang="en-US"/>
              <a:pPr>
                <a:defRPr/>
              </a:pPr>
              <a:t>‹#›</a:t>
            </a:fld>
            <a:endParaRPr lang="en-US"/>
          </a:p>
        </p:txBody>
      </p:sp>
    </p:spTree>
    <p:extLst>
      <p:ext uri="{BB962C8B-B14F-4D97-AF65-F5344CB8AC3E}">
        <p14:creationId xmlns:p14="http://schemas.microsoft.com/office/powerpoint/2010/main" val="2536520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5A7A415-C868-4F6F-AF26-BEFB5A838FB0}" type="slidenum">
              <a:rPr lang="en-US"/>
              <a:pPr>
                <a:defRPr/>
              </a:pPr>
              <a:t>‹#›</a:t>
            </a:fld>
            <a:endParaRPr lang="en-US"/>
          </a:p>
        </p:txBody>
      </p:sp>
    </p:spTree>
    <p:extLst>
      <p:ext uri="{BB962C8B-B14F-4D97-AF65-F5344CB8AC3E}">
        <p14:creationId xmlns:p14="http://schemas.microsoft.com/office/powerpoint/2010/main" val="3785078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032DD8BE-155B-40DD-8270-919E76111CF8}" type="slidenum">
              <a:rPr lang="en-US"/>
              <a:pPr>
                <a:defRPr/>
              </a:pPr>
              <a:t>‹#›</a:t>
            </a:fld>
            <a:endParaRPr lang="en-US"/>
          </a:p>
        </p:txBody>
      </p:sp>
    </p:spTree>
    <p:extLst>
      <p:ext uri="{BB962C8B-B14F-4D97-AF65-F5344CB8AC3E}">
        <p14:creationId xmlns:p14="http://schemas.microsoft.com/office/powerpoint/2010/main" val="1071412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A33FE243-010D-441E-B1ED-8CE945144B37}" type="slidenum">
              <a:rPr lang="en-US"/>
              <a:pPr>
                <a:defRPr/>
              </a:pPr>
              <a:t>‹#›</a:t>
            </a:fld>
            <a:endParaRPr lang="en-US"/>
          </a:p>
        </p:txBody>
      </p:sp>
    </p:spTree>
    <p:extLst>
      <p:ext uri="{BB962C8B-B14F-4D97-AF65-F5344CB8AC3E}">
        <p14:creationId xmlns:p14="http://schemas.microsoft.com/office/powerpoint/2010/main" val="2161166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18798AF7-4541-44CC-A1CB-8A9ED66A024F}" type="slidenum">
              <a:rPr lang="en-US"/>
              <a:pPr>
                <a:defRPr/>
              </a:pPr>
              <a:t>‹#›</a:t>
            </a:fld>
            <a:endParaRPr lang="en-US"/>
          </a:p>
        </p:txBody>
      </p:sp>
    </p:spTree>
    <p:extLst>
      <p:ext uri="{BB962C8B-B14F-4D97-AF65-F5344CB8AC3E}">
        <p14:creationId xmlns:p14="http://schemas.microsoft.com/office/powerpoint/2010/main" val="2255842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E35EF4B3-1EE3-46BC-BFEE-F7DE816F633E}" type="slidenum">
              <a:rPr lang="en-US"/>
              <a:pPr>
                <a:defRPr/>
              </a:pPr>
              <a:t>‹#›</a:t>
            </a:fld>
            <a:endParaRPr lang="en-US"/>
          </a:p>
        </p:txBody>
      </p:sp>
    </p:spTree>
    <p:extLst>
      <p:ext uri="{BB962C8B-B14F-4D97-AF65-F5344CB8AC3E}">
        <p14:creationId xmlns:p14="http://schemas.microsoft.com/office/powerpoint/2010/main" val="25134285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65E68599-2F4B-4F49-8E53-22D505F6EE27}" type="slidenum">
              <a:rPr lang="en-US"/>
              <a:pPr>
                <a:defRPr/>
              </a:pPr>
              <a:t>‹#›</a:t>
            </a:fld>
            <a:endParaRPr lang="en-US"/>
          </a:p>
        </p:txBody>
      </p:sp>
    </p:spTree>
    <p:extLst>
      <p:ext uri="{BB962C8B-B14F-4D97-AF65-F5344CB8AC3E}">
        <p14:creationId xmlns:p14="http://schemas.microsoft.com/office/powerpoint/2010/main" val="4073167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7D7452EE-F074-4641-B2BE-609B2A36A12E}" type="slidenum">
              <a:rPr lang="en-US"/>
              <a:pPr>
                <a:defRPr/>
              </a:pPr>
              <a:t>‹#›</a:t>
            </a:fld>
            <a:endParaRPr lang="en-US"/>
          </a:p>
        </p:txBody>
      </p:sp>
    </p:spTree>
    <p:extLst>
      <p:ext uri="{BB962C8B-B14F-4D97-AF65-F5344CB8AC3E}">
        <p14:creationId xmlns:p14="http://schemas.microsoft.com/office/powerpoint/2010/main" val="1422288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671E82A-3B9B-41AE-9540-FCCEC8975FF0}" type="slidenum">
              <a:rPr lang="en-US"/>
              <a:pPr>
                <a:defRPr/>
              </a:pPr>
              <a:t>‹#›</a:t>
            </a:fld>
            <a:endParaRPr lang="en-US"/>
          </a:p>
        </p:txBody>
      </p:sp>
    </p:spTree>
    <p:extLst>
      <p:ext uri="{BB962C8B-B14F-4D97-AF65-F5344CB8AC3E}">
        <p14:creationId xmlns:p14="http://schemas.microsoft.com/office/powerpoint/2010/main" val="31306821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B577567-8AF9-4DA6-A9B9-D94A79EA135E}" type="slidenum">
              <a:rPr lang="en-US"/>
              <a:pPr>
                <a:defRPr/>
              </a:pPr>
              <a:t>‹#›</a:t>
            </a:fld>
            <a:endParaRPr lang="en-US"/>
          </a:p>
        </p:txBody>
      </p:sp>
    </p:spTree>
    <p:extLst>
      <p:ext uri="{BB962C8B-B14F-4D97-AF65-F5344CB8AC3E}">
        <p14:creationId xmlns:p14="http://schemas.microsoft.com/office/powerpoint/2010/main" val="3524091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C9747BF-F464-43C8-9735-ACB2CD909AD0}" type="slidenum">
              <a:rPr lang="en-US"/>
              <a:pPr>
                <a:defRPr/>
              </a:pPr>
              <a:t>‹#›</a:t>
            </a:fld>
            <a:endParaRPr lang="en-US"/>
          </a:p>
        </p:txBody>
      </p:sp>
    </p:spTree>
    <p:extLst>
      <p:ext uri="{BB962C8B-B14F-4D97-AF65-F5344CB8AC3E}">
        <p14:creationId xmlns:p14="http://schemas.microsoft.com/office/powerpoint/2010/main" val="22507167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94FDA336-9FBC-4030-B64B-68130A281F1D}" type="slidenum">
              <a:rPr lang="en-US"/>
              <a:pPr>
                <a:defRPr/>
              </a:pPr>
              <a:t>‹#›</a:t>
            </a:fld>
            <a:endParaRPr lang="en-US"/>
          </a:p>
        </p:txBody>
      </p:sp>
    </p:spTree>
    <p:extLst>
      <p:ext uri="{BB962C8B-B14F-4D97-AF65-F5344CB8AC3E}">
        <p14:creationId xmlns:p14="http://schemas.microsoft.com/office/powerpoint/2010/main" val="36471336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48F3DF8-C885-4EBB-951D-E789082B0B67}" type="slidenum">
              <a:rPr lang="en-US"/>
              <a:pPr>
                <a:defRPr/>
              </a:pPr>
              <a:t>‹#›</a:t>
            </a:fld>
            <a:endParaRPr lang="en-US"/>
          </a:p>
        </p:txBody>
      </p:sp>
    </p:spTree>
    <p:extLst>
      <p:ext uri="{BB962C8B-B14F-4D97-AF65-F5344CB8AC3E}">
        <p14:creationId xmlns:p14="http://schemas.microsoft.com/office/powerpoint/2010/main" val="33060364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569ECCFE-9106-4C02-B6E6-98E3449321DB}" type="slidenum">
              <a:rPr lang="en-US"/>
              <a:pPr>
                <a:defRPr/>
              </a:pPr>
              <a:t>‹#›</a:t>
            </a:fld>
            <a:endParaRPr lang="en-US"/>
          </a:p>
        </p:txBody>
      </p:sp>
    </p:spTree>
    <p:extLst>
      <p:ext uri="{BB962C8B-B14F-4D97-AF65-F5344CB8AC3E}">
        <p14:creationId xmlns:p14="http://schemas.microsoft.com/office/powerpoint/2010/main" val="4010307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3879A398-D733-4B59-9157-44039C155AC6}" type="slidenum">
              <a:rPr lang="en-US"/>
              <a:pPr>
                <a:defRPr/>
              </a:pPr>
              <a:t>‹#›</a:t>
            </a:fld>
            <a:endParaRPr lang="en-US"/>
          </a:p>
        </p:txBody>
      </p:sp>
    </p:spTree>
    <p:extLst>
      <p:ext uri="{BB962C8B-B14F-4D97-AF65-F5344CB8AC3E}">
        <p14:creationId xmlns:p14="http://schemas.microsoft.com/office/powerpoint/2010/main" val="17963080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303798B2-D7FD-4B18-A513-E9012DF828C6}" type="slidenum">
              <a:rPr lang="en-US"/>
              <a:pPr>
                <a:defRPr/>
              </a:pPr>
              <a:t>‹#›</a:t>
            </a:fld>
            <a:endParaRPr lang="en-US"/>
          </a:p>
        </p:txBody>
      </p:sp>
    </p:spTree>
    <p:extLst>
      <p:ext uri="{BB962C8B-B14F-4D97-AF65-F5344CB8AC3E}">
        <p14:creationId xmlns:p14="http://schemas.microsoft.com/office/powerpoint/2010/main" val="18466013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66C5B613-4204-4FA2-A6DF-426DD0153213}" type="slidenum">
              <a:rPr lang="en-US"/>
              <a:pPr>
                <a:defRPr/>
              </a:pPr>
              <a:t>‹#›</a:t>
            </a:fld>
            <a:endParaRPr lang="en-US"/>
          </a:p>
        </p:txBody>
      </p:sp>
    </p:spTree>
    <p:extLst>
      <p:ext uri="{BB962C8B-B14F-4D97-AF65-F5344CB8AC3E}">
        <p14:creationId xmlns:p14="http://schemas.microsoft.com/office/powerpoint/2010/main" val="42842759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E1FB9C4C-3314-4B0F-B9A0-A77CCA50F695}" type="slidenum">
              <a:rPr lang="en-US"/>
              <a:pPr>
                <a:defRPr/>
              </a:pPr>
              <a:t>‹#›</a:t>
            </a:fld>
            <a:endParaRPr lang="en-US"/>
          </a:p>
        </p:txBody>
      </p:sp>
    </p:spTree>
    <p:extLst>
      <p:ext uri="{BB962C8B-B14F-4D97-AF65-F5344CB8AC3E}">
        <p14:creationId xmlns:p14="http://schemas.microsoft.com/office/powerpoint/2010/main" val="461347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39B2A254-56CF-4B7B-B46F-F29482F8B684}" type="slidenum">
              <a:rPr lang="en-US"/>
              <a:pPr>
                <a:defRPr/>
              </a:pPr>
              <a:t>‹#›</a:t>
            </a:fld>
            <a:endParaRPr lang="en-US"/>
          </a:p>
        </p:txBody>
      </p:sp>
    </p:spTree>
    <p:extLst>
      <p:ext uri="{BB962C8B-B14F-4D97-AF65-F5344CB8AC3E}">
        <p14:creationId xmlns:p14="http://schemas.microsoft.com/office/powerpoint/2010/main" val="274416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003D3117-2DF7-4F37-964D-942335BDE1ED}" type="slidenum">
              <a:rPr lang="en-US"/>
              <a:pPr>
                <a:defRPr/>
              </a:pPr>
              <a:t>‹#›</a:t>
            </a:fld>
            <a:endParaRPr lang="en-US"/>
          </a:p>
        </p:txBody>
      </p:sp>
    </p:spTree>
    <p:extLst>
      <p:ext uri="{BB962C8B-B14F-4D97-AF65-F5344CB8AC3E}">
        <p14:creationId xmlns:p14="http://schemas.microsoft.com/office/powerpoint/2010/main" val="8234816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65BF494-F976-435F-85C4-05E4FA39D829}" type="slidenum">
              <a:rPr lang="en-US"/>
              <a:pPr>
                <a:defRPr/>
              </a:pPr>
              <a:t>‹#›</a:t>
            </a:fld>
            <a:endParaRPr lang="en-US"/>
          </a:p>
        </p:txBody>
      </p:sp>
    </p:spTree>
    <p:extLst>
      <p:ext uri="{BB962C8B-B14F-4D97-AF65-F5344CB8AC3E}">
        <p14:creationId xmlns:p14="http://schemas.microsoft.com/office/powerpoint/2010/main" val="406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1027" name="Rectangle 2"/>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3"/>
          <p:cNvSpPr>
            <a:spLocks noGrp="1" noChangeArrowheads="1"/>
          </p:cNvSpPr>
          <p:nvPr>
            <p:ph type="dt"/>
          </p:nvPr>
        </p:nvSpPr>
        <p:spPr bwMode="auto">
          <a:xfrm>
            <a:off x="457200" y="6154738"/>
            <a:ext cx="3427413"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defRPr>
            </a:lvl1pPr>
          </a:lstStyle>
          <a:p>
            <a:pPr>
              <a:defRPr/>
            </a:pPr>
            <a:endParaRPr lang="en-US"/>
          </a:p>
        </p:txBody>
      </p:sp>
      <p:sp>
        <p:nvSpPr>
          <p:cNvPr id="1029" name="Text Box 4"/>
          <p:cNvSpPr txBox="1">
            <a:spLocks noChangeArrowheads="1"/>
          </p:cNvSpPr>
          <p:nvPr/>
        </p:nvSpPr>
        <p:spPr bwMode="auto">
          <a:xfrm>
            <a:off x="457200" y="6492875"/>
            <a:ext cx="34290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5"/>
          <p:cNvSpPr>
            <a:spLocks noGrp="1" noChangeArrowheads="1"/>
          </p:cNvSpPr>
          <p:nvPr>
            <p:ph type="sldNum"/>
          </p:nvPr>
        </p:nvSpPr>
        <p:spPr bwMode="auto">
          <a:xfrm>
            <a:off x="8701088" y="6726238"/>
            <a:ext cx="13144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defRPr>
            </a:lvl1pPr>
          </a:lstStyle>
          <a:p>
            <a:pPr>
              <a:defRPr/>
            </a:pPr>
            <a:fld id="{A14BE0CD-58CE-4D2A-995B-F6E66669B40C}" type="slidenum">
              <a:rPr lang="en-US"/>
              <a:pPr>
                <a:defRPr/>
              </a:pPr>
              <a:t>‹#›</a:t>
            </a:fld>
            <a:endParaRPr lang="en-US"/>
          </a:p>
        </p:txBody>
      </p:sp>
      <p:sp>
        <p:nvSpPr>
          <p:cNvPr id="1031" name="Rectangle 6"/>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1032" name="Rectangle 7"/>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1"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2"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3"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4"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2055"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2057"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F05F1092-DBCF-42E0-B00A-11C5A31D19D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5"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6"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7"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8"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3079"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3081"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C70881AF-5E91-4853-8375-7FC7BF4E016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8.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gif"/></Relationships>
</file>

<file path=ppt/slides/_rels/slide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457200" y="476250"/>
            <a:ext cx="8218488" cy="496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algn="ctr" eaLnBrk="1" hangingPunct="1">
              <a:spcBef>
                <a:spcPct val="0"/>
              </a:spcBef>
              <a:spcAft>
                <a:spcPct val="0"/>
              </a:spcAft>
              <a:buClrTx/>
              <a:buFontTx/>
              <a:buNone/>
            </a:pPr>
            <a:r>
              <a:rPr lang="en-US" altLang="ja-JP" sz="5400" b="0" dirty="0">
                <a:latin typeface="Arial Black" pitchFamily="32" charset="0"/>
              </a:rPr>
              <a:t/>
            </a:r>
            <a:br>
              <a:rPr lang="en-US" altLang="ja-JP" sz="5400" b="0" dirty="0">
                <a:latin typeface="Arial Black" pitchFamily="32" charset="0"/>
              </a:rPr>
            </a:br>
            <a:r>
              <a:rPr lang="ja-JP" altLang="en-US" sz="3200" b="0" dirty="0" smtClean="0">
                <a:latin typeface="HG丸ｺﾞｼｯｸM-PRO" pitchFamily="48" charset="-128"/>
                <a:ea typeface="HG丸ｺﾞｼｯｸM-PRO" pitchFamily="48" charset="-128"/>
              </a:rPr>
              <a:t>一般社団法人チャレンジドおのみち</a:t>
            </a:r>
            <a:endParaRPr lang="en-US" altLang="ja-JP" sz="3200" b="0" dirty="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a:latin typeface="HG丸ｺﾞｼｯｸM-PRO" pitchFamily="48" charset="-128"/>
                <a:ea typeface="HG丸ｺﾞｼｯｸM-PRO" pitchFamily="48" charset="-128"/>
              </a:rPr>
              <a:t>Ｂ型就労支援事業説明資料</a:t>
            </a:r>
            <a:endParaRPr lang="ja-JP" altLang="ja-JP" sz="5400" b="0" dirty="0">
              <a:latin typeface="HG丸ｺﾞｼｯｸM-PRO" pitchFamily="48" charset="-128"/>
              <a:ea typeface="HG丸ｺﾞｼｯｸM-PRO" pitchFamily="48" charset="-128"/>
            </a:endParaRPr>
          </a:p>
        </p:txBody>
      </p:sp>
      <p:sp>
        <p:nvSpPr>
          <p:cNvPr id="4099" name="テキスト ボックス 1"/>
          <p:cNvSpPr txBox="1">
            <a:spLocks noChangeArrowheads="1"/>
          </p:cNvSpPr>
          <p:nvPr/>
        </p:nvSpPr>
        <p:spPr bwMode="auto">
          <a:xfrm>
            <a:off x="4716463" y="5589588"/>
            <a:ext cx="4103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ja-JP" altLang="en-US">
                <a:solidFill>
                  <a:schemeClr val="tx1"/>
                </a:solidFill>
              </a:rPr>
              <a:t>設立準備室　</a:t>
            </a:r>
            <a:endParaRPr kumimoji="1" lang="en-US" altLang="ja-JP">
              <a:solidFill>
                <a:schemeClr val="tx1"/>
              </a:solidFill>
            </a:endParaRPr>
          </a:p>
          <a:p>
            <a:pPr algn="r"/>
            <a:r>
              <a:rPr kumimoji="1" lang="ja-JP" altLang="en-US">
                <a:solidFill>
                  <a:schemeClr val="tx1"/>
                </a:solidFill>
              </a:rPr>
              <a:t>山内雄司</a:t>
            </a:r>
            <a:r>
              <a:rPr kumimoji="1" lang="en-US" altLang="ja-JP">
                <a:solidFill>
                  <a:schemeClr val="tx1"/>
                </a:solidFill>
              </a:rPr>
              <a:t/>
            </a:r>
            <a:br>
              <a:rPr kumimoji="1" lang="en-US" altLang="ja-JP">
                <a:solidFill>
                  <a:schemeClr val="tx1"/>
                </a:solidFill>
              </a:rPr>
            </a:br>
            <a:r>
              <a:rPr kumimoji="1" lang="en-US" altLang="ja-JP">
                <a:solidFill>
                  <a:schemeClr val="tx1"/>
                </a:solidFill>
              </a:rPr>
              <a:t>090-6839-0670</a:t>
            </a:r>
          </a:p>
          <a:p>
            <a:pPr algn="r"/>
            <a:r>
              <a:rPr kumimoji="1" lang="en-US" altLang="ja-JP">
                <a:solidFill>
                  <a:schemeClr val="tx1"/>
                </a:solidFill>
              </a:rPr>
              <a:t>yamauchi4887@gmail.com</a:t>
            </a:r>
          </a:p>
          <a:p>
            <a:pPr algn="r"/>
            <a:endParaRPr kumimoji="1" lang="ja-JP" altLang="en-US">
              <a:solidFill>
                <a:schemeClr val="tx1"/>
              </a:solidFill>
            </a:endParaRPr>
          </a:p>
          <a:p>
            <a:endParaRPr kumimoji="1" lang="ja-JP"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sp>
        <p:nvSpPr>
          <p:cNvPr id="8" name="正方形/長方形 7"/>
          <p:cNvSpPr/>
          <p:nvPr/>
        </p:nvSpPr>
        <p:spPr>
          <a:xfrm>
            <a:off x="4916710" y="977384"/>
            <a:ext cx="3727302" cy="369332"/>
          </a:xfrm>
          <a:prstGeom prst="rect">
            <a:avLst/>
          </a:prstGeom>
        </p:spPr>
        <p:txBody>
          <a:bodyPr wrap="none">
            <a:spAutoFit/>
          </a:bodyPr>
          <a:lstStyle/>
          <a:p>
            <a:pPr fontAlgn="t"/>
            <a:r>
              <a:rPr lang="zh-TW" altLang="en-US" b="1" dirty="0">
                <a:solidFill>
                  <a:srgbClr val="333333"/>
                </a:solidFill>
                <a:latin typeface="Roboto"/>
              </a:rPr>
              <a:t>広島県尾道市御調町大田７１８−１２</a:t>
            </a:r>
            <a:endParaRPr lang="zh-TW" altLang="en-US" b="1" i="0" dirty="0">
              <a:solidFill>
                <a:srgbClr val="333333"/>
              </a:solidFill>
              <a:effectLst/>
              <a:latin typeface="Roboto"/>
            </a:endParaRPr>
          </a:p>
        </p:txBody>
      </p:sp>
      <p:pic>
        <p:nvPicPr>
          <p:cNvPr id="9" name="図 8"/>
          <p:cNvPicPr>
            <a:picLocks noChangeAspect="1"/>
          </p:cNvPicPr>
          <p:nvPr/>
        </p:nvPicPr>
        <p:blipFill>
          <a:blip r:embed="rId2"/>
          <a:stretch>
            <a:fillRect/>
          </a:stretch>
        </p:blipFill>
        <p:spPr>
          <a:xfrm>
            <a:off x="4039393" y="2276872"/>
            <a:ext cx="4896544" cy="4381749"/>
          </a:xfrm>
          <a:prstGeom prst="rect">
            <a:avLst/>
          </a:prstGeom>
        </p:spPr>
      </p:pic>
      <p:pic>
        <p:nvPicPr>
          <p:cNvPr id="7" name="図 6"/>
          <p:cNvPicPr>
            <a:picLocks noChangeAspect="1"/>
          </p:cNvPicPr>
          <p:nvPr/>
        </p:nvPicPr>
        <p:blipFill>
          <a:blip r:embed="rId3"/>
          <a:stretch>
            <a:fillRect/>
          </a:stretch>
        </p:blipFill>
        <p:spPr>
          <a:xfrm>
            <a:off x="251520" y="908720"/>
            <a:ext cx="4504929" cy="3384376"/>
          </a:xfrm>
          <a:prstGeom prst="rect">
            <a:avLst/>
          </a:prstGeom>
        </p:spPr>
      </p:pic>
    </p:spTree>
    <p:extLst>
      <p:ext uri="{BB962C8B-B14F-4D97-AF65-F5344CB8AC3E}">
        <p14:creationId xmlns:p14="http://schemas.microsoft.com/office/powerpoint/2010/main" val="18383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764704"/>
            <a:ext cx="2496278" cy="1872208"/>
          </a:xfrm>
          <a:prstGeom prst="rect">
            <a:avLst/>
          </a:prstGeom>
        </p:spPr>
      </p:pic>
      <p:pic>
        <p:nvPicPr>
          <p:cNvPr id="8" name="図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764704"/>
            <a:ext cx="2520280" cy="1890210"/>
          </a:xfrm>
          <a:prstGeom prst="rect">
            <a:avLst/>
          </a:prstGeom>
        </p:spPr>
      </p:pic>
      <p:pic>
        <p:nvPicPr>
          <p:cNvPr id="9" name="図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2527" y="772294"/>
            <a:ext cx="2511881" cy="1883910"/>
          </a:xfrm>
          <a:prstGeom prst="rect">
            <a:avLst/>
          </a:prstGeom>
        </p:spPr>
      </p:pic>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520" y="2996951"/>
            <a:ext cx="2496279" cy="1872209"/>
          </a:xfrm>
          <a:prstGeom prst="rect">
            <a:avLst/>
          </a:prstGeom>
        </p:spPr>
      </p:pic>
      <p:pic>
        <p:nvPicPr>
          <p:cNvPr id="11" name="図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80740" y="2985491"/>
            <a:ext cx="2511559" cy="1883669"/>
          </a:xfrm>
          <a:prstGeom prst="rect">
            <a:avLst/>
          </a:prstGeom>
        </p:spPr>
      </p:pic>
    </p:spTree>
    <p:extLst>
      <p:ext uri="{BB962C8B-B14F-4D97-AF65-F5344CB8AC3E}">
        <p14:creationId xmlns:p14="http://schemas.microsoft.com/office/powerpoint/2010/main" val="82346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　商流フロー</a:t>
            </a:r>
            <a:endParaRPr lang="ja-JP" altLang="ja-JP" b="0" dirty="0">
              <a:solidFill>
                <a:srgbClr val="DC5924"/>
              </a:solidFill>
            </a:endParaRPr>
          </a:p>
        </p:txBody>
      </p:sp>
      <p:pic>
        <p:nvPicPr>
          <p:cNvPr id="53252" name="Picture 4" descr="一般社団法人　遊技機リサイクル協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034" y="3764738"/>
            <a:ext cx="2190750" cy="6667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990" y="4363750"/>
            <a:ext cx="3567691"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6183408" y="4345359"/>
            <a:ext cx="1100108" cy="307777"/>
          </a:xfrm>
          <a:prstGeom prst="rect">
            <a:avLst/>
          </a:prstGeom>
          <a:noFill/>
        </p:spPr>
        <p:txBody>
          <a:bodyPr wrap="square" rtlCol="0">
            <a:spAutoFit/>
          </a:bodyPr>
          <a:lstStyle/>
          <a:p>
            <a:r>
              <a:rPr kumimoji="1" lang="ja-JP" altLang="en-US" sz="1400" b="1" dirty="0" smtClean="0">
                <a:solidFill>
                  <a:schemeClr val="tx1"/>
                </a:solidFill>
              </a:rPr>
              <a:t>指定事業者</a:t>
            </a:r>
            <a:endParaRPr kumimoji="1" lang="ja-JP" altLang="en-US" sz="1400" b="1" dirty="0">
              <a:solidFill>
                <a:schemeClr val="tx1"/>
              </a:solidFill>
            </a:endParaRPr>
          </a:p>
        </p:txBody>
      </p:sp>
      <p:pic>
        <p:nvPicPr>
          <p:cNvPr id="1028" name="Picture 4" descr="http://www.p-recycle.or.jp/system/images/guide_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2" y="1628800"/>
            <a:ext cx="5058048" cy="49569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カギ線コネクタ 5"/>
          <p:cNvCxnSpPr/>
          <p:nvPr/>
        </p:nvCxnSpPr>
        <p:spPr bwMode="auto">
          <a:xfrm>
            <a:off x="4445683" y="4797152"/>
            <a:ext cx="2033339" cy="936104"/>
          </a:xfrm>
          <a:prstGeom prst="bentConnector3">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テキスト ボックス 10"/>
          <p:cNvSpPr txBox="1"/>
          <p:nvPr/>
        </p:nvSpPr>
        <p:spPr>
          <a:xfrm>
            <a:off x="975415" y="2996952"/>
            <a:ext cx="1784946" cy="307777"/>
          </a:xfrm>
          <a:prstGeom prst="rect">
            <a:avLst/>
          </a:prstGeom>
          <a:noFill/>
        </p:spPr>
        <p:txBody>
          <a:bodyPr wrap="square" rtlCol="0">
            <a:spAutoFit/>
          </a:bodyPr>
          <a:lstStyle/>
          <a:p>
            <a:r>
              <a:rPr kumimoji="1" lang="ja-JP" altLang="en-US" sz="1400" b="1" dirty="0">
                <a:solidFill>
                  <a:schemeClr val="tx1"/>
                </a:solidFill>
              </a:rPr>
              <a:t>四国</a:t>
            </a:r>
            <a:r>
              <a:rPr kumimoji="1" lang="ja-JP" altLang="en-US" sz="1400" b="1" dirty="0" smtClean="0">
                <a:solidFill>
                  <a:schemeClr val="tx1"/>
                </a:solidFill>
              </a:rPr>
              <a:t>地方</a:t>
            </a:r>
            <a:endParaRPr kumimoji="1" lang="ja-JP" altLang="en-US" sz="1400" b="1" dirty="0">
              <a:solidFill>
                <a:schemeClr val="tx1"/>
              </a:solidFill>
            </a:endParaRPr>
          </a:p>
        </p:txBody>
      </p:sp>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6642622" y="1192388"/>
            <a:ext cx="2223477" cy="16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テキスト ボックス 12"/>
          <p:cNvSpPr txBox="1"/>
          <p:nvPr/>
        </p:nvSpPr>
        <p:spPr>
          <a:xfrm>
            <a:off x="7004835" y="954316"/>
            <a:ext cx="1367911" cy="523220"/>
          </a:xfrm>
          <a:prstGeom prst="rect">
            <a:avLst/>
          </a:prstGeom>
          <a:noFill/>
        </p:spPr>
        <p:txBody>
          <a:bodyPr wrap="square" rtlCol="0">
            <a:spAutoFit/>
          </a:bodyPr>
          <a:lstStyle/>
          <a:p>
            <a:r>
              <a:rPr kumimoji="1" lang="ja-JP" altLang="en-US" sz="1400" b="1" dirty="0">
                <a:solidFill>
                  <a:srgbClr val="FF0000"/>
                </a:solidFill>
              </a:rPr>
              <a:t>就労</a:t>
            </a:r>
            <a:r>
              <a:rPr kumimoji="1" lang="ja-JP" altLang="en-US" sz="1400" b="1" dirty="0" smtClean="0">
                <a:solidFill>
                  <a:srgbClr val="FF0000"/>
                </a:solidFill>
              </a:rPr>
              <a:t>継続</a:t>
            </a:r>
            <a:endParaRPr kumimoji="1" lang="en-US" altLang="ja-JP" sz="1400" b="1" dirty="0" smtClean="0">
              <a:solidFill>
                <a:srgbClr val="FF0000"/>
              </a:solidFill>
            </a:endParaRPr>
          </a:p>
          <a:p>
            <a:r>
              <a:rPr kumimoji="1" lang="ja-JP" altLang="en-US" sz="1400" b="1" dirty="0">
                <a:solidFill>
                  <a:srgbClr val="FF0000"/>
                </a:solidFill>
              </a:rPr>
              <a:t>　</a:t>
            </a:r>
            <a:r>
              <a:rPr kumimoji="1" lang="ja-JP" altLang="en-US" sz="1400" b="1" dirty="0" smtClean="0">
                <a:solidFill>
                  <a:srgbClr val="FF0000"/>
                </a:solidFill>
              </a:rPr>
              <a:t>支援</a:t>
            </a:r>
            <a:r>
              <a:rPr kumimoji="1" lang="ja-JP" altLang="en-US" sz="1400" b="1" dirty="0">
                <a:solidFill>
                  <a:srgbClr val="FF0000"/>
                </a:solidFill>
              </a:rPr>
              <a:t>事業所</a:t>
            </a:r>
          </a:p>
        </p:txBody>
      </p:sp>
      <p:cxnSp>
        <p:nvCxnSpPr>
          <p:cNvPr id="9" name="直線矢印コネクタ 8"/>
          <p:cNvCxnSpPr/>
          <p:nvPr/>
        </p:nvCxnSpPr>
        <p:spPr bwMode="auto">
          <a:xfrm flipH="1" flipV="1">
            <a:off x="8363469" y="3174501"/>
            <a:ext cx="9277" cy="1478635"/>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テキスト ボックス 18"/>
          <p:cNvSpPr txBox="1"/>
          <p:nvPr/>
        </p:nvSpPr>
        <p:spPr>
          <a:xfrm>
            <a:off x="8043892" y="4247665"/>
            <a:ext cx="1100108" cy="738664"/>
          </a:xfrm>
          <a:prstGeom prst="rect">
            <a:avLst/>
          </a:prstGeom>
          <a:noFill/>
        </p:spPr>
        <p:txBody>
          <a:bodyPr wrap="square" rtlCol="0">
            <a:spAutoFit/>
          </a:bodyPr>
          <a:lstStyle/>
          <a:p>
            <a:pPr algn="ctr"/>
            <a:r>
              <a:rPr kumimoji="1" lang="ja-JP" altLang="en-US" sz="1400" b="1" dirty="0" smtClean="0">
                <a:solidFill>
                  <a:schemeClr val="tx1"/>
                </a:solidFill>
              </a:rPr>
              <a:t>パチンコ台</a:t>
            </a:r>
            <a:endParaRPr kumimoji="1" lang="en-US" altLang="ja-JP" sz="1400" b="1" dirty="0" smtClean="0">
              <a:solidFill>
                <a:schemeClr val="tx1"/>
              </a:solidFill>
            </a:endParaRPr>
          </a:p>
          <a:p>
            <a:pPr algn="ctr"/>
            <a:r>
              <a:rPr kumimoji="1" lang="ja-JP" altLang="en-US" sz="1400" b="1" dirty="0" smtClean="0">
                <a:solidFill>
                  <a:schemeClr val="tx1"/>
                </a:solidFill>
              </a:rPr>
              <a:t>手作業</a:t>
            </a:r>
            <a:endParaRPr kumimoji="1" lang="en-US" altLang="ja-JP" sz="1400" b="1" dirty="0" smtClean="0">
              <a:solidFill>
                <a:schemeClr val="tx1"/>
              </a:solidFill>
            </a:endParaRPr>
          </a:p>
          <a:p>
            <a:pPr algn="ctr"/>
            <a:r>
              <a:rPr kumimoji="1" lang="ja-JP" altLang="en-US" sz="1400" b="1" dirty="0" smtClean="0">
                <a:solidFill>
                  <a:schemeClr val="tx1"/>
                </a:solidFill>
              </a:rPr>
              <a:t>解体依頼</a:t>
            </a:r>
            <a:endParaRPr kumimoji="1" lang="ja-JP" altLang="en-US" sz="1400" b="1" dirty="0">
              <a:solidFill>
                <a:schemeClr val="tx1"/>
              </a:solidFill>
            </a:endParaRPr>
          </a:p>
        </p:txBody>
      </p:sp>
      <p:cxnSp>
        <p:nvCxnSpPr>
          <p:cNvPr id="20" name="直線矢印コネクタ 19"/>
          <p:cNvCxnSpPr/>
          <p:nvPr/>
        </p:nvCxnSpPr>
        <p:spPr bwMode="auto">
          <a:xfrm>
            <a:off x="7596336" y="3174501"/>
            <a:ext cx="1" cy="1478636"/>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テキスト ボックス 22"/>
          <p:cNvSpPr txBox="1"/>
          <p:nvPr/>
        </p:nvSpPr>
        <p:spPr>
          <a:xfrm>
            <a:off x="6930870" y="3241517"/>
            <a:ext cx="1100108" cy="523220"/>
          </a:xfrm>
          <a:prstGeom prst="rect">
            <a:avLst/>
          </a:prstGeom>
          <a:noFill/>
        </p:spPr>
        <p:txBody>
          <a:bodyPr wrap="square" rtlCol="0">
            <a:spAutoFit/>
          </a:bodyPr>
          <a:lstStyle/>
          <a:p>
            <a:pPr algn="ctr"/>
            <a:r>
              <a:rPr kumimoji="1" lang="ja-JP" altLang="en-US" sz="1400" b="1" dirty="0" smtClean="0">
                <a:solidFill>
                  <a:schemeClr val="tx1"/>
                </a:solidFill>
              </a:rPr>
              <a:t>解体パーツ</a:t>
            </a:r>
            <a:endParaRPr kumimoji="1" lang="en-US" altLang="ja-JP" sz="1400" b="1" dirty="0" smtClean="0">
              <a:solidFill>
                <a:schemeClr val="tx1"/>
              </a:solidFill>
            </a:endParaRPr>
          </a:p>
          <a:p>
            <a:pPr algn="ctr"/>
            <a:endParaRPr kumimoji="1" lang="ja-JP" altLang="en-US" sz="1400" b="1" dirty="0">
              <a:solidFill>
                <a:schemeClr val="tx1"/>
              </a:solidFill>
            </a:endParaRPr>
          </a:p>
        </p:txBody>
      </p:sp>
      <p:sp>
        <p:nvSpPr>
          <p:cNvPr id="17" name="円/楕円 16"/>
          <p:cNvSpPr/>
          <p:nvPr/>
        </p:nvSpPr>
        <p:spPr bwMode="auto">
          <a:xfrm>
            <a:off x="7283516" y="3610849"/>
            <a:ext cx="1310429" cy="610239"/>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ja-JP" altLang="en-US" sz="1400" b="0" i="0" u="none" strike="noStrike" cap="none" normalizeH="0" baseline="0" dirty="0" smtClean="0">
                <a:ln>
                  <a:noFill/>
                </a:ln>
                <a:solidFill>
                  <a:schemeClr val="bg1"/>
                </a:solidFill>
                <a:effectLst/>
                <a:latin typeface="Arial" charset="0"/>
                <a:ea typeface="ＭＳ Ｐゴシック" charset="-128"/>
              </a:rPr>
              <a:t>継続売買契約</a:t>
            </a:r>
          </a:p>
        </p:txBody>
      </p:sp>
      <p:pic>
        <p:nvPicPr>
          <p:cNvPr id="25"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66718" y="988398"/>
            <a:ext cx="1412304" cy="210140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6" name="直線矢印コネクタ 25"/>
          <p:cNvCxnSpPr/>
          <p:nvPr/>
        </p:nvCxnSpPr>
        <p:spPr bwMode="auto">
          <a:xfrm flipH="1">
            <a:off x="6305410" y="2039102"/>
            <a:ext cx="721662" cy="1"/>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円/楕円 28"/>
          <p:cNvSpPr/>
          <p:nvPr/>
        </p:nvSpPr>
        <p:spPr bwMode="auto">
          <a:xfrm>
            <a:off x="6055182" y="1216354"/>
            <a:ext cx="1310429" cy="610239"/>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ja-JP" altLang="en-US" sz="1400" b="0" i="0" u="none" strike="noStrike" cap="none" normalizeH="0" baseline="0" dirty="0" smtClean="0">
                <a:ln>
                  <a:noFill/>
                </a:ln>
                <a:solidFill>
                  <a:schemeClr val="bg1"/>
                </a:solidFill>
                <a:effectLst/>
                <a:latin typeface="Arial" charset="0"/>
                <a:ea typeface="ＭＳ Ｐゴシック" charset="-128"/>
              </a:rPr>
              <a:t>銅線</a:t>
            </a:r>
            <a:endParaRPr kumimoji="0" lang="en-US" altLang="ja-JP" sz="1400" b="0" i="0" u="none" strike="noStrike" cap="none" normalizeH="0" baseline="0" dirty="0" smtClean="0">
              <a:ln>
                <a:noFill/>
              </a:ln>
              <a:solidFill>
                <a:schemeClr val="bg1"/>
              </a:solidFill>
              <a:effectLst/>
              <a:latin typeface="Arial" charset="0"/>
              <a:ea typeface="ＭＳ Ｐゴシック" charset="-128"/>
            </a:endParaRPr>
          </a:p>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lang="ja-JP" altLang="en-US" sz="1400" dirty="0"/>
              <a:t>剥離</a:t>
            </a:r>
            <a:endParaRPr kumimoji="0" lang="ja-JP" altLang="en-US" sz="1400" b="0" i="0" u="none" strike="noStrike" cap="none" normalizeH="0" baseline="0" dirty="0" smtClean="0">
              <a:ln>
                <a:noFill/>
              </a:ln>
              <a:solidFill>
                <a:schemeClr val="bg1"/>
              </a:solidFill>
              <a:effectLst/>
              <a:latin typeface="Arial" charset="0"/>
              <a:ea typeface="ＭＳ Ｐゴシック" charset="-128"/>
            </a:endParaRPr>
          </a:p>
        </p:txBody>
      </p:sp>
      <p:cxnSp>
        <p:nvCxnSpPr>
          <p:cNvPr id="30" name="直線矢印コネクタ 29"/>
          <p:cNvCxnSpPr/>
          <p:nvPr/>
        </p:nvCxnSpPr>
        <p:spPr bwMode="auto">
          <a:xfrm>
            <a:off x="6479022" y="2492896"/>
            <a:ext cx="1001902" cy="2124101"/>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テキスト ボックス 4"/>
          <p:cNvSpPr txBox="1"/>
          <p:nvPr/>
        </p:nvSpPr>
        <p:spPr>
          <a:xfrm>
            <a:off x="233252" y="764704"/>
            <a:ext cx="4482764"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600" b="1" dirty="0" smtClean="0">
                <a:solidFill>
                  <a:schemeClr val="tx1"/>
                </a:solidFill>
              </a:rPr>
              <a:t>当事業所は、遊技機リサイクル協会指定事業者「藤鳶工業株式会社」様との提携により安定した中古パチンコ台の確保を実現しています。</a:t>
            </a:r>
            <a:endParaRPr kumimoji="1" lang="ja-JP" altLang="en-US" sz="1600" b="1" dirty="0">
              <a:solidFill>
                <a:schemeClr val="tx1"/>
              </a:solidFill>
            </a:endParaRPr>
          </a:p>
        </p:txBody>
      </p:sp>
    </p:spTree>
    <p:extLst>
      <p:ext uri="{BB962C8B-B14F-4D97-AF65-F5344CB8AC3E}">
        <p14:creationId xmlns:p14="http://schemas.microsoft.com/office/powerpoint/2010/main" val="3673535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noChangeArrowheads="1"/>
            <a:extLst>
              <a:ext uri="{84589F7E-364E-4C9E-8A38-B11213B215E9}">
                <a14:cameraTool xmlns:a14="http://schemas.microsoft.com/office/drawing/2010/main" cellRange="$B$2:$K$41"/>
              </a:ext>
            </a:extLst>
          </p:cNvPicPr>
          <p:nvPr/>
        </p:nvPicPr>
        <p:blipFill>
          <a:blip r:embed="rId2"/>
          <a:srcRect/>
          <a:stretch>
            <a:fillRect/>
          </a:stretch>
        </p:blipFill>
        <p:spPr bwMode="auto">
          <a:xfrm>
            <a:off x="323528" y="692696"/>
            <a:ext cx="5760640" cy="6216165"/>
          </a:xfrm>
          <a:prstGeom prst="rect">
            <a:avLst/>
          </a:prstGeom>
          <a:noFill/>
          <a:ln w="9525">
            <a:noFill/>
            <a:miter lim="800000"/>
            <a:headEnd/>
            <a:tailEnd/>
          </a:ln>
        </p:spPr>
      </p:pic>
      <p:sp>
        <p:nvSpPr>
          <p:cNvPr id="3" name="Line 1"/>
          <p:cNvSpPr>
            <a:spLocks noChangeShapeType="1"/>
          </p:cNvSpPr>
          <p:nvPr/>
        </p:nvSpPr>
        <p:spPr bwMode="auto">
          <a:xfrm flipV="1">
            <a:off x="185793" y="531544"/>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81017" y="241031"/>
            <a:ext cx="8078787"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a:solidFill>
                <a:srgbClr val="DC5924"/>
              </a:solidFill>
            </a:endParaRPr>
          </a:p>
          <a:p>
            <a:pPr eaLnBrk="1" hangingPunct="1">
              <a:spcBef>
                <a:spcPct val="0"/>
              </a:spcBef>
              <a:spcAft>
                <a:spcPct val="0"/>
              </a:spcAft>
              <a:buClrTx/>
              <a:buFontTx/>
              <a:buNone/>
            </a:pPr>
            <a:r>
              <a:rPr lang="ja-JP" altLang="en-US" b="0" dirty="0" smtClean="0">
                <a:solidFill>
                  <a:srgbClr val="DC5924"/>
                </a:solidFill>
              </a:rPr>
              <a:t>パチンコ台　解体後売却予想額（市況また業者方針等により変更します。）</a:t>
            </a:r>
            <a:endParaRPr lang="ja-JP" altLang="ja-JP" b="0" dirty="0">
              <a:solidFill>
                <a:srgbClr val="DC5924"/>
              </a:solidFill>
            </a:endParaRPr>
          </a:p>
        </p:txBody>
      </p:sp>
    </p:spTree>
    <p:extLst>
      <p:ext uri="{BB962C8B-B14F-4D97-AF65-F5344CB8AC3E}">
        <p14:creationId xmlns:p14="http://schemas.microsoft.com/office/powerpoint/2010/main" val="2411181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06" y="919889"/>
            <a:ext cx="6788646" cy="528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パチンコ解体作業一般フロー</a:t>
            </a:r>
            <a:endParaRPr lang="ja-JP" altLang="ja-JP" b="0" dirty="0">
              <a:solidFill>
                <a:srgbClr val="DC5924"/>
              </a:solidFill>
            </a:endParaRPr>
          </a:p>
        </p:txBody>
      </p:sp>
    </p:spTree>
    <p:extLst>
      <p:ext uri="{BB962C8B-B14F-4D97-AF65-F5344CB8AC3E}">
        <p14:creationId xmlns:p14="http://schemas.microsoft.com/office/powerpoint/2010/main" val="216345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1"/>
          <p:cNvSpPr>
            <a:spLocks noChangeShapeType="1"/>
          </p:cNvSpPr>
          <p:nvPr/>
        </p:nvSpPr>
        <p:spPr bwMode="auto">
          <a:xfrm flipV="1">
            <a:off x="198438" y="76517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12291" name="Text Box 5"/>
          <p:cNvSpPr txBox="1">
            <a:spLocks noChangeArrowheads="1"/>
          </p:cNvSpPr>
          <p:nvPr/>
        </p:nvSpPr>
        <p:spPr bwMode="auto">
          <a:xfrm>
            <a:off x="93663" y="18415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a:solidFill>
                  <a:srgbClr val="DC5924"/>
                </a:solidFill>
              </a:rPr>
              <a:t>B</a:t>
            </a:r>
            <a:r>
              <a:rPr lang="ja-JP" altLang="en-US" b="0">
                <a:solidFill>
                  <a:srgbClr val="DC5924"/>
                </a:solidFill>
              </a:rPr>
              <a:t>型就労継続支援事業</a:t>
            </a:r>
            <a:endParaRPr lang="en-US" altLang="ja-JP" b="0">
              <a:solidFill>
                <a:srgbClr val="DC5924"/>
              </a:solidFill>
            </a:endParaRPr>
          </a:p>
          <a:p>
            <a:pPr eaLnBrk="1" hangingPunct="1">
              <a:spcBef>
                <a:spcPct val="0"/>
              </a:spcBef>
              <a:spcAft>
                <a:spcPct val="0"/>
              </a:spcAft>
              <a:buClrTx/>
              <a:buFontTx/>
              <a:buNone/>
            </a:pPr>
            <a:r>
              <a:rPr lang="ja-JP" altLang="en-US" b="0">
                <a:solidFill>
                  <a:srgbClr val="DC5924"/>
                </a:solidFill>
              </a:rPr>
              <a:t>　　７．ハーネス（廃電線はく離）事業　全体像</a:t>
            </a:r>
            <a:endParaRPr lang="ja-JP" altLang="ja-JP" b="0">
              <a:solidFill>
                <a:srgbClr val="DC5924"/>
              </a:solidFill>
            </a:endParaRPr>
          </a:p>
        </p:txBody>
      </p:sp>
      <p:pic>
        <p:nvPicPr>
          <p:cNvPr id="1229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2738438"/>
            <a:ext cx="1377950" cy="162242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1338" y="2738438"/>
            <a:ext cx="2498725" cy="37179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825" y="4803775"/>
            <a:ext cx="1358900" cy="1455738"/>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788" y="2727325"/>
            <a:ext cx="2497137" cy="37084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左矢印 5"/>
          <p:cNvSpPr/>
          <p:nvPr/>
        </p:nvSpPr>
        <p:spPr bwMode="auto">
          <a:xfrm>
            <a:off x="5219700" y="3760788"/>
            <a:ext cx="1081088" cy="1687512"/>
          </a:xfrm>
          <a:prstGeom prst="leftArrow">
            <a:avLst/>
          </a:prstGeom>
          <a:ln>
            <a:headEnd type="none" w="med" len="med"/>
            <a:tailEnd type="none" w="med" len="med"/>
          </a:ln>
          <a:extLst/>
        </p:spPr>
        <p:style>
          <a:lnRef idx="1">
            <a:schemeClr val="dk1"/>
          </a:lnRef>
          <a:fillRef idx="2">
            <a:schemeClr val="dk1"/>
          </a:fillRef>
          <a:effectRef idx="1">
            <a:schemeClr val="dk1"/>
          </a:effectRef>
          <a:fontRef idx="minor">
            <a:schemeClr val="dk1"/>
          </a:fontRef>
        </p:style>
        <p:txBody>
          <a:bodyPr/>
          <a:lstStyle/>
          <a:p>
            <a:pPr>
              <a:defRPr/>
            </a:pPr>
            <a:endParaRPr lang="ja-JP" altLang="en-US">
              <a:solidFill>
                <a:schemeClr val="bg1"/>
              </a:solidFill>
            </a:endParaRPr>
          </a:p>
        </p:txBody>
      </p:sp>
      <p:sp>
        <p:nvSpPr>
          <p:cNvPr id="12297" name="下矢印 6"/>
          <p:cNvSpPr>
            <a:spLocks noChangeArrowheads="1"/>
          </p:cNvSpPr>
          <p:nvPr/>
        </p:nvSpPr>
        <p:spPr bwMode="auto">
          <a:xfrm>
            <a:off x="3332163" y="2084388"/>
            <a:ext cx="2159000" cy="792162"/>
          </a:xfrm>
          <a:prstGeom prst="downArrow">
            <a:avLst>
              <a:gd name="adj1" fmla="val 73444"/>
              <a:gd name="adj2" fmla="val 50000"/>
            </a:avLst>
          </a:prstGeom>
          <a:solidFill>
            <a:srgbClr val="FF0000"/>
          </a:solidFill>
          <a:ln w="9525" algn="ctr">
            <a:solidFill>
              <a:srgbClr val="FF0000"/>
            </a:solidFill>
            <a:round/>
            <a:headEnd/>
            <a:tailEnd/>
          </a:ln>
        </p:spPr>
        <p:txBody>
          <a:bodyPr/>
          <a:lstStyle/>
          <a:p>
            <a:pPr algn="ctr"/>
            <a:r>
              <a:rPr lang="ja-JP" altLang="en-US" sz="1400"/>
              <a:t>当施設　</a:t>
            </a:r>
            <a:endParaRPr lang="en-US" altLang="ja-JP" sz="1400"/>
          </a:p>
          <a:p>
            <a:pPr algn="ctr"/>
            <a:r>
              <a:rPr lang="ja-JP" altLang="en-US" sz="1400"/>
              <a:t>障がい者作業部</a:t>
            </a:r>
          </a:p>
        </p:txBody>
      </p:sp>
      <p:sp>
        <p:nvSpPr>
          <p:cNvPr id="8" name="左矢印 7"/>
          <p:cNvSpPr/>
          <p:nvPr/>
        </p:nvSpPr>
        <p:spPr bwMode="auto">
          <a:xfrm>
            <a:off x="2411413" y="3065463"/>
            <a:ext cx="858837" cy="1295400"/>
          </a:xfrm>
          <a:prstGeom prst="leftArrow">
            <a:avLst/>
          </a:prstGeom>
          <a:ln>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lstStyle/>
          <a:p>
            <a:pPr>
              <a:defRPr/>
            </a:pPr>
            <a:r>
              <a:rPr lang="ja-JP" altLang="en-US" dirty="0"/>
              <a:t>銅線</a:t>
            </a:r>
            <a:endParaRPr lang="en-US" altLang="ja-JP" dirty="0"/>
          </a:p>
          <a:p>
            <a:pPr>
              <a:defRPr/>
            </a:pPr>
            <a:r>
              <a:rPr lang="ja-JP" altLang="en-US" dirty="0"/>
              <a:t>部分</a:t>
            </a:r>
            <a:endParaRPr lang="ja-JP" altLang="en-US" dirty="0">
              <a:solidFill>
                <a:schemeClr val="bg1"/>
              </a:solidFill>
            </a:endParaRPr>
          </a:p>
        </p:txBody>
      </p:sp>
      <p:sp>
        <p:nvSpPr>
          <p:cNvPr id="22" name="左矢印 21"/>
          <p:cNvSpPr/>
          <p:nvPr/>
        </p:nvSpPr>
        <p:spPr bwMode="auto">
          <a:xfrm>
            <a:off x="2384425" y="4883150"/>
            <a:ext cx="857250" cy="1296988"/>
          </a:xfrm>
          <a:prstGeom prst="leftArrow">
            <a:avLst/>
          </a:prstGeom>
          <a:ln>
            <a:headEnd type="none" w="med" len="med"/>
            <a:tailEnd type="none" w="med" len="med"/>
          </a:ln>
          <a:extLst/>
        </p:spPr>
        <p:style>
          <a:lnRef idx="1">
            <a:schemeClr val="accent4"/>
          </a:lnRef>
          <a:fillRef idx="2">
            <a:schemeClr val="accent4"/>
          </a:fillRef>
          <a:effectRef idx="1">
            <a:schemeClr val="accent4"/>
          </a:effectRef>
          <a:fontRef idx="minor">
            <a:schemeClr val="dk1"/>
          </a:fontRef>
        </p:style>
        <p:txBody>
          <a:bodyPr/>
          <a:lstStyle/>
          <a:p>
            <a:pPr>
              <a:defRPr/>
            </a:pPr>
            <a:r>
              <a:rPr lang="ja-JP" altLang="en-US" dirty="0"/>
              <a:t>被覆部分</a:t>
            </a:r>
            <a:endParaRPr lang="ja-JP" altLang="en-US" dirty="0">
              <a:solidFill>
                <a:schemeClr val="bg1"/>
              </a:solidFill>
            </a:endParaRPr>
          </a:p>
        </p:txBody>
      </p:sp>
      <p:sp>
        <p:nvSpPr>
          <p:cNvPr id="23" name="左矢印 22"/>
          <p:cNvSpPr/>
          <p:nvPr/>
        </p:nvSpPr>
        <p:spPr bwMode="auto">
          <a:xfrm>
            <a:off x="428625" y="3113088"/>
            <a:ext cx="974725" cy="1295400"/>
          </a:xfrm>
          <a:prstGeom prst="leftArrow">
            <a:avLst/>
          </a:prstGeom>
          <a:ln>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nchor="ctr"/>
          <a:lstStyle/>
          <a:p>
            <a:pPr>
              <a:defRPr/>
            </a:pPr>
            <a:r>
              <a:rPr lang="ja-JP" altLang="en-US" dirty="0">
                <a:solidFill>
                  <a:schemeClr val="tx1"/>
                </a:solidFill>
              </a:rPr>
              <a:t>売却</a:t>
            </a:r>
          </a:p>
        </p:txBody>
      </p:sp>
      <p:sp>
        <p:nvSpPr>
          <p:cNvPr id="24" name="左矢印 23"/>
          <p:cNvSpPr/>
          <p:nvPr/>
        </p:nvSpPr>
        <p:spPr bwMode="auto">
          <a:xfrm>
            <a:off x="428625" y="4964113"/>
            <a:ext cx="974725" cy="1295400"/>
          </a:xfrm>
          <a:prstGeom prst="leftArrow">
            <a:avLst/>
          </a:prstGeom>
          <a:ln>
            <a:headEnd type="none" w="med" len="med"/>
            <a:tailEnd type="none" w="med" len="med"/>
          </a:ln>
          <a:extLst/>
        </p:spPr>
        <p:style>
          <a:lnRef idx="1">
            <a:schemeClr val="accent1"/>
          </a:lnRef>
          <a:fillRef idx="2">
            <a:schemeClr val="accent1"/>
          </a:fillRef>
          <a:effectRef idx="1">
            <a:schemeClr val="accent1"/>
          </a:effectRef>
          <a:fontRef idx="minor">
            <a:schemeClr val="dk1"/>
          </a:fontRef>
        </p:style>
        <p:txBody>
          <a:bodyPr anchor="ctr"/>
          <a:lstStyle/>
          <a:p>
            <a:pPr>
              <a:defRPr/>
            </a:pPr>
            <a:r>
              <a:rPr lang="ja-JP" altLang="en-US" dirty="0">
                <a:solidFill>
                  <a:schemeClr val="tx1"/>
                </a:solidFill>
              </a:rPr>
              <a:t>廃棄</a:t>
            </a:r>
          </a:p>
        </p:txBody>
      </p:sp>
      <p:sp>
        <p:nvSpPr>
          <p:cNvPr id="9" name="テキスト ボックス 8"/>
          <p:cNvSpPr txBox="1"/>
          <p:nvPr/>
        </p:nvSpPr>
        <p:spPr>
          <a:xfrm>
            <a:off x="315913" y="981075"/>
            <a:ext cx="8191500" cy="922338"/>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ja-JP" altLang="en-US" dirty="0">
                <a:solidFill>
                  <a:schemeClr val="tx1"/>
                </a:solidFill>
              </a:rPr>
              <a:t>初年度の本事業は既に他事業者で全国でも</a:t>
            </a:r>
            <a:r>
              <a:rPr kumimoji="1" lang="en-US" altLang="ja-JP" dirty="0">
                <a:solidFill>
                  <a:schemeClr val="tx1"/>
                </a:solidFill>
              </a:rPr>
              <a:t>10</a:t>
            </a:r>
            <a:r>
              <a:rPr kumimoji="1" lang="ja-JP" altLang="en-US" dirty="0">
                <a:solidFill>
                  <a:schemeClr val="tx1"/>
                </a:solidFill>
              </a:rPr>
              <a:t>団体程度実績のあるハーネス事業に取り組む。ハーネス事業とは下記の図のように廃電線を約</a:t>
            </a:r>
            <a:r>
              <a:rPr kumimoji="1" lang="en-US" altLang="ja-JP" dirty="0">
                <a:solidFill>
                  <a:schemeClr val="tx1"/>
                </a:solidFill>
              </a:rPr>
              <a:t>300</a:t>
            </a:r>
            <a:r>
              <a:rPr kumimoji="1" lang="ja-JP" altLang="en-US" dirty="0">
                <a:solidFill>
                  <a:schemeClr val="tx1"/>
                </a:solidFill>
              </a:rPr>
              <a:t>円</a:t>
            </a:r>
            <a:r>
              <a:rPr kumimoji="1" lang="en-US" altLang="ja-JP" dirty="0">
                <a:solidFill>
                  <a:schemeClr val="tx1"/>
                </a:solidFill>
              </a:rPr>
              <a:t>/kg</a:t>
            </a:r>
            <a:r>
              <a:rPr kumimoji="1" lang="ja-JP" altLang="en-US" dirty="0">
                <a:solidFill>
                  <a:schemeClr val="tx1"/>
                </a:solidFill>
              </a:rPr>
              <a:t>で買い取り、被覆部をはく離後（全体の約</a:t>
            </a:r>
            <a:r>
              <a:rPr kumimoji="1" lang="en-US" altLang="ja-JP" dirty="0">
                <a:solidFill>
                  <a:schemeClr val="tx1"/>
                </a:solidFill>
              </a:rPr>
              <a:t>60%</a:t>
            </a:r>
            <a:r>
              <a:rPr kumimoji="1" lang="ja-JP" altLang="en-US" dirty="0">
                <a:solidFill>
                  <a:schemeClr val="tx1"/>
                </a:solidFill>
              </a:rPr>
              <a:t>が銅）、銅部分を約</a:t>
            </a:r>
            <a:r>
              <a:rPr kumimoji="1" lang="en-US" altLang="ja-JP" dirty="0">
                <a:solidFill>
                  <a:schemeClr val="tx1"/>
                </a:solidFill>
              </a:rPr>
              <a:t>600</a:t>
            </a:r>
            <a:r>
              <a:rPr kumimoji="1" lang="ja-JP" altLang="en-US" dirty="0">
                <a:solidFill>
                  <a:schemeClr val="tx1"/>
                </a:solidFill>
              </a:rPr>
              <a:t>円</a:t>
            </a:r>
            <a:r>
              <a:rPr kumimoji="1" lang="en-US" altLang="ja-JP" dirty="0">
                <a:solidFill>
                  <a:schemeClr val="tx1"/>
                </a:solidFill>
              </a:rPr>
              <a:t>/kg</a:t>
            </a:r>
            <a:r>
              <a:rPr kumimoji="1" lang="ja-JP" altLang="en-US" dirty="0">
                <a:solidFill>
                  <a:schemeClr val="tx1"/>
                </a:solidFill>
              </a:rPr>
              <a:t>で売却する。</a:t>
            </a:r>
            <a:endParaRPr kumimoji="1" lang="en-US" altLang="ja-JP"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Line 1"/>
          <p:cNvSpPr>
            <a:spLocks noChangeShapeType="1"/>
          </p:cNvSpPr>
          <p:nvPr/>
        </p:nvSpPr>
        <p:spPr bwMode="auto">
          <a:xfrm flipV="1">
            <a:off x="198438" y="76517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13315" name="Text Box 5"/>
          <p:cNvSpPr txBox="1">
            <a:spLocks noChangeArrowheads="1"/>
          </p:cNvSpPr>
          <p:nvPr/>
        </p:nvSpPr>
        <p:spPr bwMode="auto">
          <a:xfrm>
            <a:off x="93663" y="18415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a:solidFill>
                  <a:srgbClr val="DC5924"/>
                </a:solidFill>
              </a:rPr>
              <a:t>B</a:t>
            </a:r>
            <a:r>
              <a:rPr lang="ja-JP" altLang="en-US" b="0">
                <a:solidFill>
                  <a:srgbClr val="DC5924"/>
                </a:solidFill>
              </a:rPr>
              <a:t>型就労継続支援事業</a:t>
            </a:r>
            <a:endParaRPr lang="en-US" altLang="ja-JP" b="0">
              <a:solidFill>
                <a:srgbClr val="DC5924"/>
              </a:solidFill>
            </a:endParaRPr>
          </a:p>
          <a:p>
            <a:pPr eaLnBrk="1" hangingPunct="1">
              <a:spcBef>
                <a:spcPct val="0"/>
              </a:spcBef>
              <a:spcAft>
                <a:spcPct val="0"/>
              </a:spcAft>
              <a:buClrTx/>
              <a:buFontTx/>
              <a:buNone/>
            </a:pPr>
            <a:r>
              <a:rPr lang="ja-JP" altLang="en-US" b="0">
                <a:solidFill>
                  <a:srgbClr val="DC5924"/>
                </a:solidFill>
              </a:rPr>
              <a:t>　　８．ハーネス事業　機器特徴と作業イメージ</a:t>
            </a:r>
            <a:endParaRPr lang="ja-JP" altLang="ja-JP" b="0">
              <a:solidFill>
                <a:srgbClr val="DC5924"/>
              </a:solidFill>
            </a:endParaRPr>
          </a:p>
        </p:txBody>
      </p:sp>
      <p:pic>
        <p:nvPicPr>
          <p:cNvPr id="1331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0713" y="2125663"/>
            <a:ext cx="3892550" cy="458628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2125663"/>
            <a:ext cx="3643313" cy="463232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318" name="テキスト ボックス 3"/>
          <p:cNvSpPr txBox="1">
            <a:spLocks noChangeArrowheads="1"/>
          </p:cNvSpPr>
          <p:nvPr/>
        </p:nvSpPr>
        <p:spPr bwMode="auto">
          <a:xfrm>
            <a:off x="465138" y="1765300"/>
            <a:ext cx="2498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ja-JP" altLang="en-US">
                <a:solidFill>
                  <a:schemeClr val="tx1"/>
                </a:solidFill>
              </a:rPr>
              <a:t>機器特徴</a:t>
            </a:r>
          </a:p>
        </p:txBody>
      </p:sp>
      <p:sp>
        <p:nvSpPr>
          <p:cNvPr id="13319" name="テキスト ボックス 7"/>
          <p:cNvSpPr txBox="1">
            <a:spLocks noChangeArrowheads="1"/>
          </p:cNvSpPr>
          <p:nvPr/>
        </p:nvSpPr>
        <p:spPr bwMode="auto">
          <a:xfrm>
            <a:off x="4418013" y="1779588"/>
            <a:ext cx="2498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ja-JP" altLang="en-US">
                <a:solidFill>
                  <a:schemeClr val="tx1"/>
                </a:solidFill>
              </a:rPr>
              <a:t>機器操作イメージ</a:t>
            </a:r>
          </a:p>
        </p:txBody>
      </p:sp>
      <p:sp>
        <p:nvSpPr>
          <p:cNvPr id="9" name="テキスト ボックス 8"/>
          <p:cNvSpPr txBox="1"/>
          <p:nvPr/>
        </p:nvSpPr>
        <p:spPr>
          <a:xfrm>
            <a:off x="334963" y="908050"/>
            <a:ext cx="8193087" cy="647700"/>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kumimoji="1" lang="ja-JP" altLang="en-US" dirty="0">
                <a:solidFill>
                  <a:schemeClr val="tx1"/>
                </a:solidFill>
              </a:rPr>
              <a:t>剥離機器は</a:t>
            </a:r>
            <a:r>
              <a:rPr lang="ja-JP" altLang="en-US" dirty="0"/>
              <a:t>「細径ハーネス線が簡単・安全に剥離出来る」という評価で中小企業庁長官賞を受賞した株式会社アスク社の以下の機器「電線マン」導入を想定。</a:t>
            </a:r>
            <a:endParaRPr kumimoji="1" lang="en-US" altLang="ja-JP" dirty="0">
              <a:solidFill>
                <a:schemeClr val="tx1"/>
              </a:solidFill>
            </a:endParaRPr>
          </a:p>
        </p:txBody>
      </p:sp>
    </p:spTree>
  </p:cSld>
  <p:clrMapOvr>
    <a:masterClrMapping/>
  </p:clrMapOvr>
</p:sld>
</file>

<file path=ppt/theme/theme1.xml><?xml version="1.0" encoding="utf-8"?>
<a:theme xmlns:a="http://schemas.openxmlformats.org/drawingml/2006/main" name="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10136</TotalTime>
  <Words>208</Words>
  <Application>Microsoft Office PowerPoint</Application>
  <PresentationFormat>画面に合わせる (4:3)</PresentationFormat>
  <Paragraphs>42</Paragraphs>
  <Slides>8</Slides>
  <Notes>1</Notes>
  <HiddenSlides>0</HiddenSlides>
  <MMClips>0</MMClips>
  <ScaleCrop>false</ScaleCrop>
  <HeadingPairs>
    <vt:vector size="6" baseType="variant">
      <vt:variant>
        <vt:lpstr>使用されているフォント</vt:lpstr>
      </vt:variant>
      <vt:variant>
        <vt:i4>9</vt:i4>
      </vt:variant>
      <vt:variant>
        <vt:lpstr>テーマ</vt:lpstr>
      </vt:variant>
      <vt:variant>
        <vt:i4>3</vt:i4>
      </vt:variant>
      <vt:variant>
        <vt:lpstr>スライド タイトル</vt:lpstr>
      </vt:variant>
      <vt:variant>
        <vt:i4>8</vt:i4>
      </vt:variant>
    </vt:vector>
  </HeadingPairs>
  <TitlesOfParts>
    <vt:vector size="20" baseType="lpstr">
      <vt:lpstr>HG丸ｺﾞｼｯｸM-PRO</vt:lpstr>
      <vt:lpstr>ＭＳ Ｐゴシック</vt:lpstr>
      <vt:lpstr>ＭＳ Ｐ明朝</vt:lpstr>
      <vt:lpstr>Roboto</vt:lpstr>
      <vt:lpstr>Arial</vt:lpstr>
      <vt:lpstr>Arial Black</vt:lpstr>
      <vt:lpstr>Calibri</vt:lpstr>
      <vt:lpstr>Times New Roman</vt:lpstr>
      <vt:lpstr>Wingdings</vt:lpstr>
      <vt:lpstr>Office ​​テーマ</vt:lpstr>
      <vt:lpstr>1_Office ​​テーマ</vt:lpstr>
      <vt:lpstr>2_Office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31702</dc:creator>
  <cp:lastModifiedBy>山内雄司</cp:lastModifiedBy>
  <cp:revision>229</cp:revision>
  <cp:lastPrinted>2014-09-02T10:51:16Z</cp:lastPrinted>
  <dcterms:created xsi:type="dcterms:W3CDTF">2012-06-06T06:35:04Z</dcterms:created>
  <dcterms:modified xsi:type="dcterms:W3CDTF">2014-09-02T19:40:59Z</dcterms:modified>
</cp:coreProperties>
</file>