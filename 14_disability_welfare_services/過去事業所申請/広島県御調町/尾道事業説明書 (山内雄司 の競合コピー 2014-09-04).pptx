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0" r:id="rId2"/>
  </p:sldMasterIdLst>
  <p:notesMasterIdLst>
    <p:notesMasterId r:id="rId10"/>
  </p:notesMasterIdLst>
  <p:sldIdLst>
    <p:sldId id="256" r:id="rId3"/>
    <p:sldId id="300" r:id="rId4"/>
    <p:sldId id="297" r:id="rId5"/>
    <p:sldId id="298" r:id="rId6"/>
    <p:sldId id="288" r:id="rId7"/>
    <p:sldId id="290" r:id="rId8"/>
    <p:sldId id="289" r:id="rId9"/>
  </p:sldIdLst>
  <p:sldSz cx="9144000" cy="6858000" type="screen4x3"/>
  <p:notesSz cx="6888163" cy="10020300"/>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5pPr>
    <a:lvl6pPr marL="2286000" algn="l" defTabSz="914400" rtl="0" eaLnBrk="1" latinLnBrk="0" hangingPunct="1">
      <a:defRPr kern="1200">
        <a:solidFill>
          <a:schemeClr val="bg1"/>
        </a:solidFill>
        <a:latin typeface="Arial" charset="0"/>
        <a:ea typeface="ＭＳ Ｐゴシック" charset="-128"/>
        <a:cs typeface="+mn-cs"/>
      </a:defRPr>
    </a:lvl6pPr>
    <a:lvl7pPr marL="2743200" algn="l" defTabSz="914400" rtl="0" eaLnBrk="1" latinLnBrk="0" hangingPunct="1">
      <a:defRPr kern="1200">
        <a:solidFill>
          <a:schemeClr val="bg1"/>
        </a:solidFill>
        <a:latin typeface="Arial" charset="0"/>
        <a:ea typeface="ＭＳ Ｐゴシック" charset="-128"/>
        <a:cs typeface="+mn-cs"/>
      </a:defRPr>
    </a:lvl7pPr>
    <a:lvl8pPr marL="3200400" algn="l" defTabSz="914400" rtl="0" eaLnBrk="1" latinLnBrk="0" hangingPunct="1">
      <a:defRPr kern="1200">
        <a:solidFill>
          <a:schemeClr val="bg1"/>
        </a:solidFill>
        <a:latin typeface="Arial" charset="0"/>
        <a:ea typeface="ＭＳ Ｐゴシック" charset="-128"/>
        <a:cs typeface="+mn-cs"/>
      </a:defRPr>
    </a:lvl8pPr>
    <a:lvl9pPr marL="3657600" algn="l" defTabSz="914400" rtl="0" eaLnBrk="1" latinLnBrk="0" hangingPunct="1">
      <a:defRPr kern="1200">
        <a:solidFill>
          <a:schemeClr val="bg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5"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7" d="100"/>
          <a:sy n="87" d="100"/>
        </p:scale>
        <p:origin x="1494" y="84"/>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925"/>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AutoShape 1"/>
          <p:cNvSpPr>
            <a:spLocks noChangeArrowheads="1"/>
          </p:cNvSpPr>
          <p:nvPr/>
        </p:nvSpPr>
        <p:spPr bwMode="auto">
          <a:xfrm>
            <a:off x="1" y="1"/>
            <a:ext cx="6888163" cy="100203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3109" tIns="46555" rIns="93109" bIns="46555" anchor="ctr"/>
          <a:lstStyle/>
          <a:p>
            <a:endParaRPr lang="ja-JP" altLang="en-US"/>
          </a:p>
        </p:txBody>
      </p:sp>
      <p:sp>
        <p:nvSpPr>
          <p:cNvPr id="16387" name="Text Box 2"/>
          <p:cNvSpPr txBox="1">
            <a:spLocks noChangeArrowheads="1"/>
          </p:cNvSpPr>
          <p:nvPr/>
        </p:nvSpPr>
        <p:spPr bwMode="auto">
          <a:xfrm>
            <a:off x="0" y="1"/>
            <a:ext cx="29860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3109" tIns="46555" rIns="93109" bIns="46555" anchor="ctr"/>
          <a:lstStyle/>
          <a:p>
            <a:endParaRPr lang="ja-JP" altLang="en-US"/>
          </a:p>
        </p:txBody>
      </p:sp>
      <p:sp>
        <p:nvSpPr>
          <p:cNvPr id="4099" name="Rectangle 3"/>
          <p:cNvSpPr>
            <a:spLocks noGrp="1" noChangeArrowheads="1"/>
          </p:cNvSpPr>
          <p:nvPr>
            <p:ph type="dt"/>
          </p:nvPr>
        </p:nvSpPr>
        <p:spPr bwMode="auto">
          <a:xfrm>
            <a:off x="3900488" y="1"/>
            <a:ext cx="29845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9" tIns="46555" rIns="93109" bIns="46555" numCol="1" anchor="t" anchorCtr="0" compatLnSpc="1">
            <a:prstTxWarp prst="textNoShape">
              <a:avLst/>
            </a:prstTxWarp>
          </a:bodyPr>
          <a:lstStyle>
            <a:lvl1pPr algn="r">
              <a:buClrTx/>
              <a:buFontTx/>
              <a:buNone/>
              <a:tabLst>
                <a:tab pos="737121" algn="l"/>
                <a:tab pos="1474241" algn="l"/>
                <a:tab pos="2211361" algn="l"/>
                <a:tab pos="2948481" algn="l"/>
              </a:tabLst>
              <a:defRPr sz="1200">
                <a:solidFill>
                  <a:srgbClr val="000000"/>
                </a:solidFill>
                <a:latin typeface="Calibri" pitchFamily="32" charset="0"/>
                <a:ea typeface="ＭＳ Ｐ明朝" charset="-128"/>
              </a:defRPr>
            </a:lvl1pPr>
          </a:lstStyle>
          <a:p>
            <a:pPr>
              <a:defRPr/>
            </a:pPr>
            <a:endParaRPr lang="en-US"/>
          </a:p>
        </p:txBody>
      </p:sp>
      <p:sp>
        <p:nvSpPr>
          <p:cNvPr id="16389" name="Rectangle 4"/>
          <p:cNvSpPr>
            <a:spLocks noGrp="1" noRot="1" noChangeAspect="1" noChangeArrowheads="1"/>
          </p:cNvSpPr>
          <p:nvPr>
            <p:ph type="sldImg"/>
          </p:nvPr>
        </p:nvSpPr>
        <p:spPr bwMode="auto">
          <a:xfrm>
            <a:off x="938213" y="750888"/>
            <a:ext cx="5010150" cy="3757612"/>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101" name="Rectangle 5"/>
          <p:cNvSpPr>
            <a:spLocks noGrp="1" noChangeArrowheads="1"/>
          </p:cNvSpPr>
          <p:nvPr>
            <p:ph type="body"/>
          </p:nvPr>
        </p:nvSpPr>
        <p:spPr bwMode="auto">
          <a:xfrm>
            <a:off x="688976" y="4759326"/>
            <a:ext cx="5508625" cy="450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9" tIns="46555" rIns="93109" bIns="46555" numCol="1" anchor="t" anchorCtr="0" compatLnSpc="1">
            <a:prstTxWarp prst="textNoShape">
              <a:avLst/>
            </a:prstTxWarp>
          </a:bodyPr>
          <a:lstStyle/>
          <a:p>
            <a:pPr lvl="0"/>
            <a:endParaRPr lang="ja-JP" altLang="ja-JP" noProof="0" smtClean="0"/>
          </a:p>
        </p:txBody>
      </p:sp>
      <p:sp>
        <p:nvSpPr>
          <p:cNvPr id="16391" name="Text Box 6"/>
          <p:cNvSpPr txBox="1">
            <a:spLocks noChangeArrowheads="1"/>
          </p:cNvSpPr>
          <p:nvPr/>
        </p:nvSpPr>
        <p:spPr bwMode="auto">
          <a:xfrm>
            <a:off x="0" y="9515476"/>
            <a:ext cx="29860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3109" tIns="46555" rIns="93109" bIns="46555" anchor="ctr"/>
          <a:lstStyle/>
          <a:p>
            <a:endParaRPr lang="ja-JP" altLang="en-US"/>
          </a:p>
        </p:txBody>
      </p:sp>
      <p:sp>
        <p:nvSpPr>
          <p:cNvPr id="4103" name="Rectangle 7"/>
          <p:cNvSpPr>
            <a:spLocks noGrp="1" noChangeArrowheads="1"/>
          </p:cNvSpPr>
          <p:nvPr>
            <p:ph type="sldNum"/>
          </p:nvPr>
        </p:nvSpPr>
        <p:spPr bwMode="auto">
          <a:xfrm>
            <a:off x="3900488" y="9515476"/>
            <a:ext cx="29845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9" tIns="46555" rIns="93109" bIns="46555" numCol="1" anchor="b" anchorCtr="0" compatLnSpc="1">
            <a:prstTxWarp prst="textNoShape">
              <a:avLst/>
            </a:prstTxWarp>
          </a:bodyPr>
          <a:lstStyle>
            <a:lvl1pPr algn="r">
              <a:buClrTx/>
              <a:buFontTx/>
              <a:buNone/>
              <a:tabLst>
                <a:tab pos="737121" algn="l"/>
                <a:tab pos="1474241" algn="l"/>
                <a:tab pos="2211361" algn="l"/>
                <a:tab pos="2948481" algn="l"/>
              </a:tabLst>
              <a:defRPr sz="1200">
                <a:solidFill>
                  <a:srgbClr val="000000"/>
                </a:solidFill>
                <a:latin typeface="Calibri" pitchFamily="32" charset="0"/>
                <a:ea typeface="ＭＳ Ｐ明朝" charset="-128"/>
              </a:defRPr>
            </a:lvl1pPr>
          </a:lstStyle>
          <a:p>
            <a:pPr>
              <a:defRPr/>
            </a:pPr>
            <a:fld id="{70372DC9-4E3A-48D7-B466-713EB35763B3}" type="slidenum">
              <a:rPr lang="en-US"/>
              <a:pPr>
                <a:defRPr/>
              </a:pPr>
              <a:t>‹#›</a:t>
            </a:fld>
            <a:endParaRPr lang="en-US"/>
          </a:p>
        </p:txBody>
      </p:sp>
    </p:spTree>
    <p:extLst>
      <p:ext uri="{BB962C8B-B14F-4D97-AF65-F5344CB8AC3E}">
        <p14:creationId xmlns:p14="http://schemas.microsoft.com/office/powerpoint/2010/main" val="4012460969"/>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1pPr>
            <a:lvl2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2pPr>
            <a:lvl3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3pPr>
            <a:lvl4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4pPr>
            <a:lvl5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5pPr>
            <a:lvl6pPr marL="2514261"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6pPr>
            <a:lvl7pPr marL="2971399"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7pPr>
            <a:lvl8pPr marL="3428537"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8pPr>
            <a:lvl9pPr marL="3885676"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9pPr>
          </a:lstStyle>
          <a:p>
            <a:pPr eaLnBrk="1" hangingPunct="1">
              <a:spcBef>
                <a:spcPct val="0"/>
              </a:spcBef>
            </a:pPr>
            <a:fld id="{D833CD37-A5C2-40CB-B5C2-759074D3FAD7}" type="slidenum">
              <a:rPr lang="en-US" altLang="ja-JP" smtClean="0">
                <a:latin typeface="Calibri" pitchFamily="34" charset="0"/>
              </a:rPr>
              <a:pPr eaLnBrk="1" hangingPunct="1">
                <a:spcBef>
                  <a:spcPct val="0"/>
                </a:spcBef>
              </a:pPr>
              <a:t>1</a:t>
            </a:fld>
            <a:endParaRPr lang="en-US" altLang="ja-JP" smtClean="0">
              <a:latin typeface="Calibri" pitchFamily="34" charset="0"/>
            </a:endParaRPr>
          </a:p>
        </p:txBody>
      </p:sp>
      <p:sp>
        <p:nvSpPr>
          <p:cNvPr id="17411" name="Rectangle 1"/>
          <p:cNvSpPr>
            <a:spLocks noGrp="1" noRot="1" noChangeAspect="1" noChangeArrowheads="1" noTextEdit="1"/>
          </p:cNvSpPr>
          <p:nvPr>
            <p:ph type="sldImg"/>
          </p:nvPr>
        </p:nvSpPr>
        <p:spPr>
          <a:xfrm>
            <a:off x="938213" y="750888"/>
            <a:ext cx="5011737" cy="37592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p:cNvSpPr>
            <a:spLocks noGrp="1" noChangeArrowheads="1"/>
          </p:cNvSpPr>
          <p:nvPr>
            <p:ph type="body" idx="1"/>
          </p:nvPr>
        </p:nvSpPr>
        <p:spPr>
          <a:xfrm>
            <a:off x="688976" y="4759325"/>
            <a:ext cx="5510213" cy="4508500"/>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ja-JP" smtClean="0"/>
          </a:p>
        </p:txBody>
      </p:sp>
    </p:spTree>
    <p:extLst>
      <p:ext uri="{BB962C8B-B14F-4D97-AF65-F5344CB8AC3E}">
        <p14:creationId xmlns:p14="http://schemas.microsoft.com/office/powerpoint/2010/main" val="312637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F184EE0-5BF9-42F7-91C0-DEA01FF9145A}" type="slidenum">
              <a:rPr lang="en-US"/>
              <a:pPr>
                <a:defRPr/>
              </a:pPr>
              <a:t>‹#›</a:t>
            </a:fld>
            <a:endParaRPr lang="en-US"/>
          </a:p>
        </p:txBody>
      </p:sp>
    </p:spTree>
    <p:extLst>
      <p:ext uri="{BB962C8B-B14F-4D97-AF65-F5344CB8AC3E}">
        <p14:creationId xmlns:p14="http://schemas.microsoft.com/office/powerpoint/2010/main" val="3889501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F265499D-4B11-4FD4-A1CA-412FAEE906C2}" type="slidenum">
              <a:rPr lang="en-US"/>
              <a:pPr>
                <a:defRPr/>
              </a:pPr>
              <a:t>‹#›</a:t>
            </a:fld>
            <a:endParaRPr lang="en-US"/>
          </a:p>
        </p:txBody>
      </p:sp>
    </p:spTree>
    <p:extLst>
      <p:ext uri="{BB962C8B-B14F-4D97-AF65-F5344CB8AC3E}">
        <p14:creationId xmlns:p14="http://schemas.microsoft.com/office/powerpoint/2010/main" val="253652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5A7A415-C868-4F6F-AF26-BEFB5A838FB0}" type="slidenum">
              <a:rPr lang="en-US"/>
              <a:pPr>
                <a:defRPr/>
              </a:pPr>
              <a:t>‹#›</a:t>
            </a:fld>
            <a:endParaRPr lang="en-US"/>
          </a:p>
        </p:txBody>
      </p:sp>
    </p:spTree>
    <p:extLst>
      <p:ext uri="{BB962C8B-B14F-4D97-AF65-F5344CB8AC3E}">
        <p14:creationId xmlns:p14="http://schemas.microsoft.com/office/powerpoint/2010/main" val="378507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032DD8BE-155B-40DD-8270-919E76111CF8}" type="slidenum">
              <a:rPr lang="en-US"/>
              <a:pPr>
                <a:defRPr/>
              </a:pPr>
              <a:t>‹#›</a:t>
            </a:fld>
            <a:endParaRPr lang="en-US"/>
          </a:p>
        </p:txBody>
      </p:sp>
    </p:spTree>
    <p:extLst>
      <p:ext uri="{BB962C8B-B14F-4D97-AF65-F5344CB8AC3E}">
        <p14:creationId xmlns:p14="http://schemas.microsoft.com/office/powerpoint/2010/main" val="1071412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A33FE243-010D-441E-B1ED-8CE945144B37}" type="slidenum">
              <a:rPr lang="en-US"/>
              <a:pPr>
                <a:defRPr/>
              </a:pPr>
              <a:t>‹#›</a:t>
            </a:fld>
            <a:endParaRPr lang="en-US"/>
          </a:p>
        </p:txBody>
      </p:sp>
    </p:spTree>
    <p:extLst>
      <p:ext uri="{BB962C8B-B14F-4D97-AF65-F5344CB8AC3E}">
        <p14:creationId xmlns:p14="http://schemas.microsoft.com/office/powerpoint/2010/main" val="216116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18798AF7-4541-44CC-A1CB-8A9ED66A024F}" type="slidenum">
              <a:rPr lang="en-US"/>
              <a:pPr>
                <a:defRPr/>
              </a:pPr>
              <a:t>‹#›</a:t>
            </a:fld>
            <a:endParaRPr lang="en-US"/>
          </a:p>
        </p:txBody>
      </p:sp>
    </p:spTree>
    <p:extLst>
      <p:ext uri="{BB962C8B-B14F-4D97-AF65-F5344CB8AC3E}">
        <p14:creationId xmlns:p14="http://schemas.microsoft.com/office/powerpoint/2010/main" val="225584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E35EF4B3-1EE3-46BC-BFEE-F7DE816F633E}" type="slidenum">
              <a:rPr lang="en-US"/>
              <a:pPr>
                <a:defRPr/>
              </a:pPr>
              <a:t>‹#›</a:t>
            </a:fld>
            <a:endParaRPr lang="en-US"/>
          </a:p>
        </p:txBody>
      </p:sp>
    </p:spTree>
    <p:extLst>
      <p:ext uri="{BB962C8B-B14F-4D97-AF65-F5344CB8AC3E}">
        <p14:creationId xmlns:p14="http://schemas.microsoft.com/office/powerpoint/2010/main" val="2513428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65E68599-2F4B-4F49-8E53-22D505F6EE27}" type="slidenum">
              <a:rPr lang="en-US"/>
              <a:pPr>
                <a:defRPr/>
              </a:pPr>
              <a:t>‹#›</a:t>
            </a:fld>
            <a:endParaRPr lang="en-US"/>
          </a:p>
        </p:txBody>
      </p:sp>
    </p:spTree>
    <p:extLst>
      <p:ext uri="{BB962C8B-B14F-4D97-AF65-F5344CB8AC3E}">
        <p14:creationId xmlns:p14="http://schemas.microsoft.com/office/powerpoint/2010/main" val="4073167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7D7452EE-F074-4641-B2BE-609B2A36A12E}" type="slidenum">
              <a:rPr lang="en-US"/>
              <a:pPr>
                <a:defRPr/>
              </a:pPr>
              <a:t>‹#›</a:t>
            </a:fld>
            <a:endParaRPr lang="en-US"/>
          </a:p>
        </p:txBody>
      </p:sp>
    </p:spTree>
    <p:extLst>
      <p:ext uri="{BB962C8B-B14F-4D97-AF65-F5344CB8AC3E}">
        <p14:creationId xmlns:p14="http://schemas.microsoft.com/office/powerpoint/2010/main" val="142228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671E82A-3B9B-41AE-9540-FCCEC8975FF0}" type="slidenum">
              <a:rPr lang="en-US"/>
              <a:pPr>
                <a:defRPr/>
              </a:pPr>
              <a:t>‹#›</a:t>
            </a:fld>
            <a:endParaRPr lang="en-US"/>
          </a:p>
        </p:txBody>
      </p:sp>
    </p:spTree>
    <p:extLst>
      <p:ext uri="{BB962C8B-B14F-4D97-AF65-F5344CB8AC3E}">
        <p14:creationId xmlns:p14="http://schemas.microsoft.com/office/powerpoint/2010/main" val="3130682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B577567-8AF9-4DA6-A9B9-D94A79EA135E}" type="slidenum">
              <a:rPr lang="en-US"/>
              <a:pPr>
                <a:defRPr/>
              </a:pPr>
              <a:t>‹#›</a:t>
            </a:fld>
            <a:endParaRPr lang="en-US"/>
          </a:p>
        </p:txBody>
      </p:sp>
    </p:spTree>
    <p:extLst>
      <p:ext uri="{BB962C8B-B14F-4D97-AF65-F5344CB8AC3E}">
        <p14:creationId xmlns:p14="http://schemas.microsoft.com/office/powerpoint/2010/main" val="3524091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C9747BF-F464-43C8-9735-ACB2CD909AD0}" type="slidenum">
              <a:rPr lang="en-US"/>
              <a:pPr>
                <a:defRPr/>
              </a:pPr>
              <a:t>‹#›</a:t>
            </a:fld>
            <a:endParaRPr lang="en-US"/>
          </a:p>
        </p:txBody>
      </p:sp>
    </p:spTree>
    <p:extLst>
      <p:ext uri="{BB962C8B-B14F-4D97-AF65-F5344CB8AC3E}">
        <p14:creationId xmlns:p14="http://schemas.microsoft.com/office/powerpoint/2010/main" val="2250716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94FDA336-9FBC-4030-B64B-68130A281F1D}" type="slidenum">
              <a:rPr lang="en-US"/>
              <a:pPr>
                <a:defRPr/>
              </a:pPr>
              <a:t>‹#›</a:t>
            </a:fld>
            <a:endParaRPr lang="en-US"/>
          </a:p>
        </p:txBody>
      </p:sp>
    </p:spTree>
    <p:extLst>
      <p:ext uri="{BB962C8B-B14F-4D97-AF65-F5344CB8AC3E}">
        <p14:creationId xmlns:p14="http://schemas.microsoft.com/office/powerpoint/2010/main" val="3647133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48F3DF8-C885-4EBB-951D-E789082B0B67}" type="slidenum">
              <a:rPr lang="en-US"/>
              <a:pPr>
                <a:defRPr/>
              </a:pPr>
              <a:t>‹#›</a:t>
            </a:fld>
            <a:endParaRPr lang="en-US"/>
          </a:p>
        </p:txBody>
      </p:sp>
    </p:spTree>
    <p:extLst>
      <p:ext uri="{BB962C8B-B14F-4D97-AF65-F5344CB8AC3E}">
        <p14:creationId xmlns:p14="http://schemas.microsoft.com/office/powerpoint/2010/main" val="3306036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569ECCFE-9106-4C02-B6E6-98E3449321DB}" type="slidenum">
              <a:rPr lang="en-US"/>
              <a:pPr>
                <a:defRPr/>
              </a:pPr>
              <a:t>‹#›</a:t>
            </a:fld>
            <a:endParaRPr lang="en-US"/>
          </a:p>
        </p:txBody>
      </p:sp>
    </p:spTree>
    <p:extLst>
      <p:ext uri="{BB962C8B-B14F-4D97-AF65-F5344CB8AC3E}">
        <p14:creationId xmlns:p14="http://schemas.microsoft.com/office/powerpoint/2010/main" val="401030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3879A398-D733-4B59-9157-44039C155AC6}" type="slidenum">
              <a:rPr lang="en-US"/>
              <a:pPr>
                <a:defRPr/>
              </a:pPr>
              <a:t>‹#›</a:t>
            </a:fld>
            <a:endParaRPr lang="en-US"/>
          </a:p>
        </p:txBody>
      </p:sp>
    </p:spTree>
    <p:extLst>
      <p:ext uri="{BB962C8B-B14F-4D97-AF65-F5344CB8AC3E}">
        <p14:creationId xmlns:p14="http://schemas.microsoft.com/office/powerpoint/2010/main" val="1796308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303798B2-D7FD-4B18-A513-E9012DF828C6}" type="slidenum">
              <a:rPr lang="en-US"/>
              <a:pPr>
                <a:defRPr/>
              </a:pPr>
              <a:t>‹#›</a:t>
            </a:fld>
            <a:endParaRPr lang="en-US"/>
          </a:p>
        </p:txBody>
      </p:sp>
    </p:spTree>
    <p:extLst>
      <p:ext uri="{BB962C8B-B14F-4D97-AF65-F5344CB8AC3E}">
        <p14:creationId xmlns:p14="http://schemas.microsoft.com/office/powerpoint/2010/main" val="18466013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66C5B613-4204-4FA2-A6DF-426DD0153213}" type="slidenum">
              <a:rPr lang="en-US"/>
              <a:pPr>
                <a:defRPr/>
              </a:pPr>
              <a:t>‹#›</a:t>
            </a:fld>
            <a:endParaRPr lang="en-US"/>
          </a:p>
        </p:txBody>
      </p:sp>
    </p:spTree>
    <p:extLst>
      <p:ext uri="{BB962C8B-B14F-4D97-AF65-F5344CB8AC3E}">
        <p14:creationId xmlns:p14="http://schemas.microsoft.com/office/powerpoint/2010/main" val="4284275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E1FB9C4C-3314-4B0F-B9A0-A77CCA50F695}" type="slidenum">
              <a:rPr lang="en-US"/>
              <a:pPr>
                <a:defRPr/>
              </a:pPr>
              <a:t>‹#›</a:t>
            </a:fld>
            <a:endParaRPr lang="en-US"/>
          </a:p>
        </p:txBody>
      </p:sp>
    </p:spTree>
    <p:extLst>
      <p:ext uri="{BB962C8B-B14F-4D97-AF65-F5344CB8AC3E}">
        <p14:creationId xmlns:p14="http://schemas.microsoft.com/office/powerpoint/2010/main" val="46134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39B2A254-56CF-4B7B-B46F-F29482F8B684}" type="slidenum">
              <a:rPr lang="en-US"/>
              <a:pPr>
                <a:defRPr/>
              </a:pPr>
              <a:t>‹#›</a:t>
            </a:fld>
            <a:endParaRPr lang="en-US"/>
          </a:p>
        </p:txBody>
      </p:sp>
    </p:spTree>
    <p:extLst>
      <p:ext uri="{BB962C8B-B14F-4D97-AF65-F5344CB8AC3E}">
        <p14:creationId xmlns:p14="http://schemas.microsoft.com/office/powerpoint/2010/main" val="2744161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003D3117-2DF7-4F37-964D-942335BDE1ED}" type="slidenum">
              <a:rPr lang="en-US"/>
              <a:pPr>
                <a:defRPr/>
              </a:pPr>
              <a:t>‹#›</a:t>
            </a:fld>
            <a:endParaRPr lang="en-US"/>
          </a:p>
        </p:txBody>
      </p:sp>
    </p:spTree>
    <p:extLst>
      <p:ext uri="{BB962C8B-B14F-4D97-AF65-F5344CB8AC3E}">
        <p14:creationId xmlns:p14="http://schemas.microsoft.com/office/powerpoint/2010/main" val="823481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65BF494-F976-435F-85C4-05E4FA39D829}" type="slidenum">
              <a:rPr lang="en-US"/>
              <a:pPr>
                <a:defRPr/>
              </a:pPr>
              <a:t>‹#›</a:t>
            </a:fld>
            <a:endParaRPr lang="en-US"/>
          </a:p>
        </p:txBody>
      </p:sp>
    </p:spTree>
    <p:extLst>
      <p:ext uri="{BB962C8B-B14F-4D97-AF65-F5344CB8AC3E}">
        <p14:creationId xmlns:p14="http://schemas.microsoft.com/office/powerpoint/2010/main" val="4065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1"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2"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3"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4"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2055"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2057"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F05F1092-DBCF-42E0-B00A-11C5A31D19D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5"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6"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7"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8"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3079"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3081"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C70881AF-5E91-4853-8375-7FC7BF4E016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1"/>
          <p:cNvSpPr txBox="1">
            <a:spLocks noChangeArrowheads="1"/>
          </p:cNvSpPr>
          <p:nvPr/>
        </p:nvSpPr>
        <p:spPr bwMode="auto">
          <a:xfrm>
            <a:off x="457200" y="476250"/>
            <a:ext cx="8218488" cy="496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algn="ctr" eaLnBrk="1" hangingPunct="1">
              <a:spcBef>
                <a:spcPct val="0"/>
              </a:spcBef>
              <a:spcAft>
                <a:spcPct val="0"/>
              </a:spcAft>
              <a:buClrTx/>
              <a:buFontTx/>
              <a:buNone/>
            </a:pPr>
            <a:r>
              <a:rPr lang="en-US" altLang="ja-JP" sz="5400" b="0" dirty="0">
                <a:latin typeface="Arial Black" pitchFamily="32" charset="0"/>
              </a:rPr>
              <a:t/>
            </a:r>
            <a:br>
              <a:rPr lang="en-US" altLang="ja-JP" sz="5400" b="0" dirty="0">
                <a:latin typeface="Arial Black" pitchFamily="32" charset="0"/>
              </a:rPr>
            </a:br>
            <a:r>
              <a:rPr lang="ja-JP" altLang="en-US" sz="3200" b="0" dirty="0" smtClean="0">
                <a:latin typeface="HG丸ｺﾞｼｯｸM-PRO" pitchFamily="48" charset="-128"/>
                <a:ea typeface="HG丸ｺﾞｼｯｸM-PRO" pitchFamily="48" charset="-128"/>
              </a:rPr>
              <a:t>一般社団</a:t>
            </a:r>
            <a:r>
              <a:rPr lang="ja-JP" altLang="en-US" sz="3200" b="0" dirty="0" smtClean="0">
                <a:latin typeface="HG丸ｺﾞｼｯｸM-PRO" pitchFamily="48" charset="-128"/>
                <a:ea typeface="HG丸ｺﾞｼｯｸM-PRO" pitchFamily="48" charset="-128"/>
              </a:rPr>
              <a:t>法人チャレンジド尾道</a:t>
            </a: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smtClean="0">
                <a:latin typeface="HG丸ｺﾞｼｯｸM-PRO" pitchFamily="48" charset="-128"/>
                <a:ea typeface="HG丸ｺﾞｼｯｸM-PRO" pitchFamily="48" charset="-128"/>
              </a:rPr>
              <a:t>就労継続支援（Ｂ型）施設</a:t>
            </a:r>
            <a:r>
              <a:rPr lang="en-US" altLang="ja-JP" sz="3200" b="0" dirty="0" smtClean="0">
                <a:latin typeface="HG丸ｺﾞｼｯｸM-PRO" pitchFamily="48" charset="-128"/>
                <a:ea typeface="HG丸ｺﾞｼｯｸM-PRO" pitchFamily="48" charset="-128"/>
              </a:rPr>
              <a:t>『</a:t>
            </a:r>
            <a:r>
              <a:rPr lang="ja-JP" altLang="en-US" sz="3200" b="0" dirty="0" smtClean="0">
                <a:latin typeface="HG丸ｺﾞｼｯｸM-PRO" pitchFamily="48" charset="-128"/>
                <a:ea typeface="HG丸ｺﾞｼｯｸM-PRO" pitchFamily="48" charset="-128"/>
              </a:rPr>
              <a:t>カイト御調</a:t>
            </a:r>
            <a:r>
              <a:rPr lang="en-US" altLang="ja-JP" sz="3200" b="0" dirty="0" smtClean="0">
                <a:latin typeface="HG丸ｺﾞｼｯｸM-PRO" pitchFamily="48" charset="-128"/>
                <a:ea typeface="HG丸ｺﾞｼｯｸM-PRO" pitchFamily="48" charset="-128"/>
              </a:rPr>
              <a:t>』</a:t>
            </a:r>
          </a:p>
          <a:p>
            <a:pPr algn="ctr" eaLnBrk="1" hangingPunct="1">
              <a:spcBef>
                <a:spcPct val="0"/>
              </a:spcBef>
              <a:spcAft>
                <a:spcPct val="0"/>
              </a:spcAft>
              <a:buClrTx/>
              <a:buFontTx/>
              <a:buNone/>
            </a:pP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smtClean="0">
                <a:latin typeface="HG丸ｺﾞｼｯｸM-PRO" pitchFamily="48" charset="-128"/>
                <a:ea typeface="HG丸ｺﾞｼｯｸM-PRO" pitchFamily="48" charset="-128"/>
              </a:rPr>
              <a:t>事業</a:t>
            </a:r>
            <a:r>
              <a:rPr lang="ja-JP" altLang="en-US" sz="3200" b="0" dirty="0">
                <a:latin typeface="HG丸ｺﾞｼｯｸM-PRO" pitchFamily="48" charset="-128"/>
                <a:ea typeface="HG丸ｺﾞｼｯｸM-PRO" pitchFamily="48" charset="-128"/>
              </a:rPr>
              <a:t>説明資料</a:t>
            </a:r>
            <a:endParaRPr lang="ja-JP" altLang="ja-JP" sz="5400" b="0" dirty="0">
              <a:latin typeface="HG丸ｺﾞｼｯｸM-PRO" pitchFamily="48" charset="-128"/>
              <a:ea typeface="HG丸ｺﾞｼｯｸM-PRO" pitchFamily="48" charset="-128"/>
            </a:endParaRPr>
          </a:p>
        </p:txBody>
      </p:sp>
      <p:sp>
        <p:nvSpPr>
          <p:cNvPr id="4099" name="テキスト ボックス 1"/>
          <p:cNvSpPr txBox="1">
            <a:spLocks noChangeArrowheads="1"/>
          </p:cNvSpPr>
          <p:nvPr/>
        </p:nvSpPr>
        <p:spPr bwMode="auto">
          <a:xfrm>
            <a:off x="4716463" y="5589588"/>
            <a:ext cx="41036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kumimoji="1" lang="ja-JP" altLang="en-US">
                <a:solidFill>
                  <a:schemeClr val="tx1"/>
                </a:solidFill>
              </a:rPr>
              <a:t>設立準備室　</a:t>
            </a:r>
            <a:endParaRPr kumimoji="1" lang="en-US" altLang="ja-JP">
              <a:solidFill>
                <a:schemeClr val="tx1"/>
              </a:solidFill>
            </a:endParaRPr>
          </a:p>
          <a:p>
            <a:pPr algn="r"/>
            <a:r>
              <a:rPr kumimoji="1" lang="ja-JP" altLang="en-US">
                <a:solidFill>
                  <a:schemeClr val="tx1"/>
                </a:solidFill>
              </a:rPr>
              <a:t>山内雄司</a:t>
            </a:r>
            <a:r>
              <a:rPr kumimoji="1" lang="en-US" altLang="ja-JP">
                <a:solidFill>
                  <a:schemeClr val="tx1"/>
                </a:solidFill>
              </a:rPr>
              <a:t/>
            </a:r>
            <a:br>
              <a:rPr kumimoji="1" lang="en-US" altLang="ja-JP">
                <a:solidFill>
                  <a:schemeClr val="tx1"/>
                </a:solidFill>
              </a:rPr>
            </a:br>
            <a:r>
              <a:rPr kumimoji="1" lang="en-US" altLang="ja-JP">
                <a:solidFill>
                  <a:schemeClr val="tx1"/>
                </a:solidFill>
              </a:rPr>
              <a:t>090-6839-0670</a:t>
            </a:r>
          </a:p>
          <a:p>
            <a:pPr algn="r"/>
            <a:r>
              <a:rPr kumimoji="1" lang="en-US" altLang="ja-JP">
                <a:solidFill>
                  <a:schemeClr val="tx1"/>
                </a:solidFill>
              </a:rPr>
              <a:t>yamauchi4887@gmail.com</a:t>
            </a:r>
          </a:p>
          <a:p>
            <a:pPr algn="r"/>
            <a:endParaRPr kumimoji="1" lang="ja-JP" altLang="en-US">
              <a:solidFill>
                <a:schemeClr val="tx1"/>
              </a:solidFill>
            </a:endParaRPr>
          </a:p>
          <a:p>
            <a:endParaRPr kumimoji="1" lang="ja-JP"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一般社団法人　事業理念</a:t>
            </a:r>
            <a:endParaRPr lang="ja-JP" altLang="ja-JP" b="0" dirty="0">
              <a:solidFill>
                <a:srgbClr val="DC5924"/>
              </a:solidFill>
            </a:endParaRPr>
          </a:p>
        </p:txBody>
      </p:sp>
      <p:sp>
        <p:nvSpPr>
          <p:cNvPr id="4" name="テキスト ボックス 3"/>
          <p:cNvSpPr txBox="1"/>
          <p:nvPr/>
        </p:nvSpPr>
        <p:spPr>
          <a:xfrm>
            <a:off x="359531" y="836712"/>
            <a:ext cx="8208839" cy="480131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kumimoji="1" lang="ja-JP" altLang="en-US" dirty="0" smtClean="0">
                <a:solidFill>
                  <a:schemeClr val="tx1"/>
                </a:solidFill>
              </a:rPr>
              <a:t>当法人は、尾道を中心とする備後・尾三地域の福祉環境の持続可能な向上を目的とし、主に</a:t>
            </a:r>
            <a:r>
              <a:rPr kumimoji="1" lang="ja-JP" altLang="en-US" dirty="0" err="1" smtClean="0">
                <a:solidFill>
                  <a:schemeClr val="tx1"/>
                </a:solidFill>
              </a:rPr>
              <a:t>障がい</a:t>
            </a:r>
            <a:r>
              <a:rPr kumimoji="1" lang="ja-JP" altLang="en-US" dirty="0" smtClean="0">
                <a:solidFill>
                  <a:schemeClr val="tx1"/>
                </a:solidFill>
              </a:rPr>
              <a:t>者および高齢者の福祉環境の充実に取り組みます。</a:t>
            </a:r>
            <a:endParaRPr kumimoji="1" lang="en-US" altLang="ja-JP" dirty="0" smtClean="0">
              <a:solidFill>
                <a:schemeClr val="tx1"/>
              </a:solidFill>
            </a:endParaRPr>
          </a:p>
          <a:p>
            <a:endParaRPr kumimoji="1" lang="en-US" altLang="ja-JP" dirty="0">
              <a:solidFill>
                <a:schemeClr val="tx1"/>
              </a:solidFill>
            </a:endParaRPr>
          </a:p>
          <a:p>
            <a:r>
              <a:rPr kumimoji="1" lang="ja-JP" altLang="en-US" dirty="0">
                <a:solidFill>
                  <a:schemeClr val="tx1"/>
                </a:solidFill>
              </a:rPr>
              <a:t>尾道市</a:t>
            </a:r>
            <a:r>
              <a:rPr kumimoji="1" lang="ja-JP" altLang="en-US" dirty="0" smtClean="0">
                <a:solidFill>
                  <a:schemeClr val="tx1"/>
                </a:solidFill>
              </a:rPr>
              <a:t>は</a:t>
            </a:r>
            <a:r>
              <a:rPr lang="ja-JP" altLang="en-US" dirty="0"/>
              <a:t>古くは西国街道と呼ばれていた山陽道の</a:t>
            </a:r>
            <a:r>
              <a:rPr lang="ja-JP" altLang="en-US" dirty="0" smtClean="0"/>
              <a:t>中間点として備後都市圏の中心となる地域であり、</a:t>
            </a:r>
            <a:r>
              <a:rPr lang="ja-JP" altLang="en-US" dirty="0"/>
              <a:t>尾道松江</a:t>
            </a:r>
            <a:r>
              <a:rPr lang="ja-JP" altLang="en-US" dirty="0" smtClean="0"/>
              <a:t>線の開通によりしまなみ街道とあわせて「瀬戸内の十字路」として、中四国地域の文化と交流の担い手として期待されています。</a:t>
            </a:r>
            <a:endParaRPr lang="en-US" altLang="ja-JP" dirty="0" smtClean="0"/>
          </a:p>
          <a:p>
            <a:r>
              <a:rPr kumimoji="1" lang="ja-JP" altLang="en-US" dirty="0" smtClean="0">
                <a:solidFill>
                  <a:schemeClr val="tx1"/>
                </a:solidFill>
              </a:rPr>
              <a:t>しかし、平成</a:t>
            </a:r>
            <a:r>
              <a:rPr kumimoji="1" lang="en-US" altLang="ja-JP" dirty="0" smtClean="0">
                <a:solidFill>
                  <a:schemeClr val="tx1"/>
                </a:solidFill>
              </a:rPr>
              <a:t>2</a:t>
            </a:r>
            <a:r>
              <a:rPr kumimoji="1" lang="ja-JP" altLang="en-US" dirty="0" smtClean="0">
                <a:solidFill>
                  <a:schemeClr val="tx1"/>
                </a:solidFill>
              </a:rPr>
              <a:t>年の総人口約</a:t>
            </a:r>
            <a:r>
              <a:rPr kumimoji="1" lang="en-US" altLang="ja-JP" dirty="0" smtClean="0">
                <a:solidFill>
                  <a:schemeClr val="tx1"/>
                </a:solidFill>
              </a:rPr>
              <a:t>16</a:t>
            </a:r>
            <a:r>
              <a:rPr kumimoji="1" lang="ja-JP" altLang="en-US" dirty="0" smtClean="0">
                <a:solidFill>
                  <a:schemeClr val="tx1"/>
                </a:solidFill>
              </a:rPr>
              <a:t>万人をピークに</a:t>
            </a:r>
            <a:r>
              <a:rPr kumimoji="1" lang="en-US" altLang="ja-JP" dirty="0" smtClean="0">
                <a:solidFill>
                  <a:schemeClr val="tx1"/>
                </a:solidFill>
              </a:rPr>
              <a:t>20</a:t>
            </a:r>
            <a:r>
              <a:rPr kumimoji="1" lang="ja-JP" altLang="en-US" dirty="0" smtClean="0">
                <a:solidFill>
                  <a:schemeClr val="tx1"/>
                </a:solidFill>
              </a:rPr>
              <a:t>年後の平成</a:t>
            </a:r>
            <a:r>
              <a:rPr kumimoji="1" lang="en-US" altLang="ja-JP" dirty="0" smtClean="0">
                <a:solidFill>
                  <a:schemeClr val="tx1"/>
                </a:solidFill>
              </a:rPr>
              <a:t>22</a:t>
            </a:r>
            <a:r>
              <a:rPr kumimoji="1" lang="ja-JP" altLang="en-US" dirty="0" smtClean="0">
                <a:solidFill>
                  <a:schemeClr val="tx1"/>
                </a:solidFill>
              </a:rPr>
              <a:t>年には約</a:t>
            </a:r>
            <a:r>
              <a:rPr kumimoji="1" lang="en-US" altLang="ja-JP" dirty="0">
                <a:solidFill>
                  <a:schemeClr val="tx1"/>
                </a:solidFill>
              </a:rPr>
              <a:t>14</a:t>
            </a:r>
            <a:r>
              <a:rPr kumimoji="1" lang="ja-JP" altLang="en-US" dirty="0" smtClean="0">
                <a:solidFill>
                  <a:schemeClr val="tx1"/>
                </a:solidFill>
              </a:rPr>
              <a:t>万人と大きく減少し、また高齢化も全国平均を大きく上回るスピードで進んでおり、それに伴い障害者の数も増加すると見込まれています。</a:t>
            </a:r>
            <a:endParaRPr kumimoji="1" lang="en-US" altLang="ja-JP" dirty="0" smtClean="0">
              <a:solidFill>
                <a:schemeClr val="tx1"/>
              </a:solidFill>
            </a:endParaRPr>
          </a:p>
          <a:p>
            <a:endParaRPr kumimoji="1" lang="en-US" altLang="ja-JP" dirty="0">
              <a:solidFill>
                <a:schemeClr val="tx1"/>
              </a:solidFill>
            </a:endParaRPr>
          </a:p>
          <a:p>
            <a:r>
              <a:rPr kumimoji="1" lang="ja-JP" altLang="en-US" dirty="0" smtClean="0">
                <a:solidFill>
                  <a:schemeClr val="tx1"/>
                </a:solidFill>
              </a:rPr>
              <a:t>私どもは、社会保障負担が増加傾向にあるなかで、今後とも尾道が備後都市圏の中心であるために、障害者や高齢者が福祉サービスの受益者という立場だけでなく、就労を通して社会と密にかかわり、社会サービスの担い手として地域社会と連携することを目標に、尾道地域全体の福祉事業の充実推進に取り組んでまいります。</a:t>
            </a:r>
            <a:endParaRPr kumimoji="1" lang="en-US" altLang="ja-JP" dirty="0" smtClean="0">
              <a:solidFill>
                <a:schemeClr val="tx1"/>
              </a:solidFill>
            </a:endParaRPr>
          </a:p>
          <a:p>
            <a:endParaRPr kumimoji="1" lang="en-US" altLang="ja-JP" dirty="0">
              <a:solidFill>
                <a:schemeClr val="tx1"/>
              </a:solidFill>
            </a:endParaRPr>
          </a:p>
          <a:p>
            <a:endParaRPr kumimoji="1" lang="en-US" altLang="ja-JP" dirty="0" smtClean="0">
              <a:solidFill>
                <a:schemeClr val="tx1"/>
              </a:solidFill>
            </a:endParaRPr>
          </a:p>
          <a:p>
            <a:endParaRPr kumimoji="1" lang="ja-JP" altLang="en-US" dirty="0">
              <a:solidFill>
                <a:schemeClr val="tx1"/>
              </a:solidFill>
            </a:endParaRPr>
          </a:p>
        </p:txBody>
      </p:sp>
    </p:spTree>
    <p:extLst>
      <p:ext uri="{BB962C8B-B14F-4D97-AF65-F5344CB8AC3E}">
        <p14:creationId xmlns:p14="http://schemas.microsoft.com/office/powerpoint/2010/main" val="3451276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en-US" altLang="ja-JP" b="0" dirty="0" smtClean="0">
                <a:solidFill>
                  <a:srgbClr val="DC5924"/>
                </a:solidFill>
              </a:rPr>
              <a:t>B</a:t>
            </a:r>
            <a:r>
              <a:rPr lang="ja-JP" altLang="en-US" b="0" dirty="0">
                <a:solidFill>
                  <a:srgbClr val="DC5924"/>
                </a:solidFill>
              </a:rPr>
              <a:t>型就労継続支援</a:t>
            </a:r>
            <a:r>
              <a:rPr lang="ja-JP" altLang="en-US" b="0" dirty="0" smtClean="0">
                <a:solidFill>
                  <a:srgbClr val="DC5924"/>
                </a:solidFill>
              </a:rPr>
              <a:t>事業</a:t>
            </a:r>
            <a:r>
              <a:rPr lang="ja-JP" altLang="en-US" b="0" dirty="0">
                <a:solidFill>
                  <a:srgbClr val="DC5924"/>
                </a:solidFill>
              </a:rPr>
              <a:t>　　</a:t>
            </a:r>
            <a:r>
              <a:rPr lang="ja-JP" altLang="en-US" b="0" dirty="0" smtClean="0">
                <a:solidFill>
                  <a:srgbClr val="DC5924"/>
                </a:solidFill>
              </a:rPr>
              <a:t>事業所予定地</a:t>
            </a:r>
            <a:endParaRPr lang="ja-JP" altLang="ja-JP" b="0" dirty="0">
              <a:solidFill>
                <a:srgbClr val="DC5924"/>
              </a:solidFill>
            </a:endParaRPr>
          </a:p>
        </p:txBody>
      </p:sp>
      <p:sp>
        <p:nvSpPr>
          <p:cNvPr id="8" name="正方形/長方形 7"/>
          <p:cNvSpPr/>
          <p:nvPr/>
        </p:nvSpPr>
        <p:spPr>
          <a:xfrm>
            <a:off x="4916710" y="977384"/>
            <a:ext cx="3727302" cy="369332"/>
          </a:xfrm>
          <a:prstGeom prst="rect">
            <a:avLst/>
          </a:prstGeom>
        </p:spPr>
        <p:txBody>
          <a:bodyPr wrap="none">
            <a:spAutoFit/>
          </a:bodyPr>
          <a:lstStyle/>
          <a:p>
            <a:pPr fontAlgn="t"/>
            <a:r>
              <a:rPr lang="zh-TW" altLang="en-US" b="1" dirty="0">
                <a:solidFill>
                  <a:srgbClr val="333333"/>
                </a:solidFill>
                <a:latin typeface="Roboto"/>
              </a:rPr>
              <a:t>広島県尾道市御調町大田７１８−１２</a:t>
            </a:r>
            <a:endParaRPr lang="zh-TW" altLang="en-US" b="1" i="0" dirty="0">
              <a:solidFill>
                <a:srgbClr val="333333"/>
              </a:solidFill>
              <a:effectLst/>
              <a:latin typeface="Roboto"/>
            </a:endParaRPr>
          </a:p>
        </p:txBody>
      </p:sp>
      <p:pic>
        <p:nvPicPr>
          <p:cNvPr id="9" name="図 8"/>
          <p:cNvPicPr>
            <a:picLocks noChangeAspect="1"/>
          </p:cNvPicPr>
          <p:nvPr/>
        </p:nvPicPr>
        <p:blipFill>
          <a:blip r:embed="rId2"/>
          <a:stretch>
            <a:fillRect/>
          </a:stretch>
        </p:blipFill>
        <p:spPr>
          <a:xfrm>
            <a:off x="4039393" y="2276872"/>
            <a:ext cx="4896544" cy="4381749"/>
          </a:xfrm>
          <a:prstGeom prst="rect">
            <a:avLst/>
          </a:prstGeom>
        </p:spPr>
      </p:pic>
      <p:pic>
        <p:nvPicPr>
          <p:cNvPr id="7" name="図 6"/>
          <p:cNvPicPr>
            <a:picLocks noChangeAspect="1"/>
          </p:cNvPicPr>
          <p:nvPr/>
        </p:nvPicPr>
        <p:blipFill>
          <a:blip r:embed="rId3"/>
          <a:stretch>
            <a:fillRect/>
          </a:stretch>
        </p:blipFill>
        <p:spPr>
          <a:xfrm>
            <a:off x="251520" y="908720"/>
            <a:ext cx="4504929" cy="3384376"/>
          </a:xfrm>
          <a:prstGeom prst="rect">
            <a:avLst/>
          </a:prstGeom>
        </p:spPr>
      </p:pic>
    </p:spTree>
    <p:extLst>
      <p:ext uri="{BB962C8B-B14F-4D97-AF65-F5344CB8AC3E}">
        <p14:creationId xmlns:p14="http://schemas.microsoft.com/office/powerpoint/2010/main" val="183835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en-US" altLang="ja-JP" b="0" dirty="0" smtClean="0">
                <a:solidFill>
                  <a:srgbClr val="DC5924"/>
                </a:solidFill>
              </a:rPr>
              <a:t>B</a:t>
            </a:r>
            <a:r>
              <a:rPr lang="ja-JP" altLang="en-US" b="0" dirty="0">
                <a:solidFill>
                  <a:srgbClr val="DC5924"/>
                </a:solidFill>
              </a:rPr>
              <a:t>型就労継続支援</a:t>
            </a:r>
            <a:r>
              <a:rPr lang="ja-JP" altLang="en-US" b="0" dirty="0" smtClean="0">
                <a:solidFill>
                  <a:srgbClr val="DC5924"/>
                </a:solidFill>
              </a:rPr>
              <a:t>事業</a:t>
            </a:r>
            <a:r>
              <a:rPr lang="ja-JP" altLang="en-US" b="0" dirty="0">
                <a:solidFill>
                  <a:srgbClr val="DC5924"/>
                </a:solidFill>
              </a:rPr>
              <a:t>　　</a:t>
            </a:r>
            <a:r>
              <a:rPr lang="ja-JP" altLang="en-US" b="0" dirty="0" smtClean="0">
                <a:solidFill>
                  <a:srgbClr val="DC5924"/>
                </a:solidFill>
              </a:rPr>
              <a:t>事業所予定地</a:t>
            </a:r>
            <a:endParaRPr lang="ja-JP" altLang="ja-JP" b="0" dirty="0">
              <a:solidFill>
                <a:srgbClr val="DC5924"/>
              </a:solidFill>
            </a:endParaRPr>
          </a:p>
        </p:txBody>
      </p:sp>
      <p:pic>
        <p:nvPicPr>
          <p:cNvPr id="6" name="図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1" y="764704"/>
            <a:ext cx="2496278" cy="1872208"/>
          </a:xfrm>
          <a:prstGeom prst="rect">
            <a:avLst/>
          </a:prstGeom>
        </p:spPr>
      </p:pic>
      <p:pic>
        <p:nvPicPr>
          <p:cNvPr id="8" name="図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824" y="764704"/>
            <a:ext cx="2520280" cy="1890210"/>
          </a:xfrm>
          <a:prstGeom prst="rect">
            <a:avLst/>
          </a:prstGeom>
        </p:spPr>
      </p:pic>
      <p:pic>
        <p:nvPicPr>
          <p:cNvPr id="9" name="図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2527" y="772294"/>
            <a:ext cx="2511881" cy="1883910"/>
          </a:xfrm>
          <a:prstGeom prst="rect">
            <a:avLst/>
          </a:prstGeom>
        </p:spPr>
      </p:pic>
      <p:pic>
        <p:nvPicPr>
          <p:cNvPr id="10" name="図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520" y="2996951"/>
            <a:ext cx="2496279" cy="1872209"/>
          </a:xfrm>
          <a:prstGeom prst="rect">
            <a:avLst/>
          </a:prstGeom>
        </p:spPr>
      </p:pic>
      <p:pic>
        <p:nvPicPr>
          <p:cNvPr id="11" name="図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80740" y="2985491"/>
            <a:ext cx="2511559" cy="1883669"/>
          </a:xfrm>
          <a:prstGeom prst="rect">
            <a:avLst/>
          </a:prstGeom>
        </p:spPr>
      </p:pic>
    </p:spTree>
    <p:extLst>
      <p:ext uri="{BB962C8B-B14F-4D97-AF65-F5344CB8AC3E}">
        <p14:creationId xmlns:p14="http://schemas.microsoft.com/office/powerpoint/2010/main" val="82346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　商流フロー</a:t>
            </a:r>
            <a:endParaRPr lang="ja-JP" altLang="ja-JP" b="0" dirty="0">
              <a:solidFill>
                <a:srgbClr val="DC5924"/>
              </a:solidFill>
            </a:endParaRPr>
          </a:p>
        </p:txBody>
      </p:sp>
      <p:pic>
        <p:nvPicPr>
          <p:cNvPr id="53252" name="Picture 4" descr="一般社団法人　遊技機リサイクル協会"/>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0034" y="3764738"/>
            <a:ext cx="2190750" cy="6667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990" y="4363750"/>
            <a:ext cx="3567691" cy="20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テキスト ボックス 3"/>
          <p:cNvSpPr txBox="1"/>
          <p:nvPr/>
        </p:nvSpPr>
        <p:spPr>
          <a:xfrm>
            <a:off x="6183408" y="4345359"/>
            <a:ext cx="1100108" cy="307777"/>
          </a:xfrm>
          <a:prstGeom prst="rect">
            <a:avLst/>
          </a:prstGeom>
          <a:noFill/>
        </p:spPr>
        <p:txBody>
          <a:bodyPr wrap="square" rtlCol="0">
            <a:spAutoFit/>
          </a:bodyPr>
          <a:lstStyle/>
          <a:p>
            <a:r>
              <a:rPr kumimoji="1" lang="ja-JP" altLang="en-US" sz="1400" b="1" dirty="0" smtClean="0">
                <a:solidFill>
                  <a:schemeClr val="tx1"/>
                </a:solidFill>
              </a:rPr>
              <a:t>指定事業者</a:t>
            </a:r>
            <a:endParaRPr kumimoji="1" lang="ja-JP" altLang="en-US" sz="1400" b="1" dirty="0">
              <a:solidFill>
                <a:schemeClr val="tx1"/>
              </a:solidFill>
            </a:endParaRPr>
          </a:p>
        </p:txBody>
      </p:sp>
      <p:pic>
        <p:nvPicPr>
          <p:cNvPr id="1028" name="Picture 4" descr="http://www.p-recycle.or.jp/system/images/guide_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82" y="1628800"/>
            <a:ext cx="5058048" cy="495699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カギ線コネクタ 5"/>
          <p:cNvCxnSpPr/>
          <p:nvPr/>
        </p:nvCxnSpPr>
        <p:spPr bwMode="auto">
          <a:xfrm>
            <a:off x="4445683" y="4797152"/>
            <a:ext cx="2033339" cy="936104"/>
          </a:xfrm>
          <a:prstGeom prst="bentConnector3">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テキスト ボックス 10"/>
          <p:cNvSpPr txBox="1"/>
          <p:nvPr/>
        </p:nvSpPr>
        <p:spPr>
          <a:xfrm>
            <a:off x="975415" y="2996952"/>
            <a:ext cx="1784946" cy="307777"/>
          </a:xfrm>
          <a:prstGeom prst="rect">
            <a:avLst/>
          </a:prstGeom>
          <a:noFill/>
        </p:spPr>
        <p:txBody>
          <a:bodyPr wrap="square" rtlCol="0">
            <a:spAutoFit/>
          </a:bodyPr>
          <a:lstStyle/>
          <a:p>
            <a:r>
              <a:rPr kumimoji="1" lang="ja-JP" altLang="en-US" sz="1400" b="1" dirty="0">
                <a:solidFill>
                  <a:schemeClr val="tx1"/>
                </a:solidFill>
              </a:rPr>
              <a:t>四国</a:t>
            </a:r>
            <a:r>
              <a:rPr kumimoji="1" lang="ja-JP" altLang="en-US" sz="1400" b="1" dirty="0" smtClean="0">
                <a:solidFill>
                  <a:schemeClr val="tx1"/>
                </a:solidFill>
              </a:rPr>
              <a:t>地方</a:t>
            </a:r>
            <a:endParaRPr kumimoji="1" lang="ja-JP" altLang="en-US" sz="1400" b="1" dirty="0">
              <a:solidFill>
                <a:schemeClr val="tx1"/>
              </a:solidFill>
            </a:endParaRPr>
          </a:p>
        </p:txBody>
      </p:sp>
      <p:pic>
        <p:nvPicPr>
          <p:cNvPr id="10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6050863" y="600629"/>
            <a:ext cx="2223477" cy="287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テキスト ボックス 12"/>
          <p:cNvSpPr txBox="1"/>
          <p:nvPr/>
        </p:nvSpPr>
        <p:spPr>
          <a:xfrm>
            <a:off x="7004835" y="954316"/>
            <a:ext cx="1367911" cy="523220"/>
          </a:xfrm>
          <a:prstGeom prst="rect">
            <a:avLst/>
          </a:prstGeom>
          <a:noFill/>
        </p:spPr>
        <p:txBody>
          <a:bodyPr wrap="square" rtlCol="0">
            <a:spAutoFit/>
          </a:bodyPr>
          <a:lstStyle/>
          <a:p>
            <a:r>
              <a:rPr kumimoji="1" lang="ja-JP" altLang="en-US" sz="1400" b="1" dirty="0">
                <a:solidFill>
                  <a:srgbClr val="FF0000"/>
                </a:solidFill>
              </a:rPr>
              <a:t>就労</a:t>
            </a:r>
            <a:r>
              <a:rPr kumimoji="1" lang="ja-JP" altLang="en-US" sz="1400" b="1" dirty="0" smtClean="0">
                <a:solidFill>
                  <a:srgbClr val="FF0000"/>
                </a:solidFill>
              </a:rPr>
              <a:t>継続</a:t>
            </a:r>
            <a:endParaRPr kumimoji="1" lang="en-US" altLang="ja-JP" sz="1400" b="1" dirty="0" smtClean="0">
              <a:solidFill>
                <a:srgbClr val="FF0000"/>
              </a:solidFill>
            </a:endParaRPr>
          </a:p>
          <a:p>
            <a:r>
              <a:rPr kumimoji="1" lang="ja-JP" altLang="en-US" sz="1400" b="1" dirty="0">
                <a:solidFill>
                  <a:srgbClr val="FF0000"/>
                </a:solidFill>
              </a:rPr>
              <a:t>　</a:t>
            </a:r>
            <a:r>
              <a:rPr kumimoji="1" lang="ja-JP" altLang="en-US" sz="1400" b="1" dirty="0" smtClean="0">
                <a:solidFill>
                  <a:srgbClr val="FF0000"/>
                </a:solidFill>
              </a:rPr>
              <a:t>支援</a:t>
            </a:r>
            <a:r>
              <a:rPr kumimoji="1" lang="ja-JP" altLang="en-US" sz="1400" b="1" dirty="0">
                <a:solidFill>
                  <a:srgbClr val="FF0000"/>
                </a:solidFill>
              </a:rPr>
              <a:t>事業所</a:t>
            </a:r>
          </a:p>
        </p:txBody>
      </p:sp>
      <p:cxnSp>
        <p:nvCxnSpPr>
          <p:cNvPr id="9" name="直線矢印コネクタ 8"/>
          <p:cNvCxnSpPr/>
          <p:nvPr/>
        </p:nvCxnSpPr>
        <p:spPr bwMode="auto">
          <a:xfrm flipH="1" flipV="1">
            <a:off x="8363469" y="3174501"/>
            <a:ext cx="9277" cy="1478635"/>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テキスト ボックス 18"/>
          <p:cNvSpPr txBox="1"/>
          <p:nvPr/>
        </p:nvSpPr>
        <p:spPr>
          <a:xfrm>
            <a:off x="8043892" y="4247665"/>
            <a:ext cx="1100108" cy="738664"/>
          </a:xfrm>
          <a:prstGeom prst="rect">
            <a:avLst/>
          </a:prstGeom>
          <a:noFill/>
        </p:spPr>
        <p:txBody>
          <a:bodyPr wrap="square" rtlCol="0">
            <a:spAutoFit/>
          </a:bodyPr>
          <a:lstStyle/>
          <a:p>
            <a:pPr algn="ctr"/>
            <a:r>
              <a:rPr kumimoji="1" lang="ja-JP" altLang="en-US" sz="1400" b="1" dirty="0" smtClean="0">
                <a:solidFill>
                  <a:schemeClr val="tx1"/>
                </a:solidFill>
              </a:rPr>
              <a:t>パチンコ台</a:t>
            </a:r>
            <a:endParaRPr kumimoji="1" lang="en-US" altLang="ja-JP" sz="1400" b="1" dirty="0" smtClean="0">
              <a:solidFill>
                <a:schemeClr val="tx1"/>
              </a:solidFill>
            </a:endParaRPr>
          </a:p>
          <a:p>
            <a:pPr algn="ctr"/>
            <a:r>
              <a:rPr kumimoji="1" lang="ja-JP" altLang="en-US" sz="1400" b="1" dirty="0" smtClean="0">
                <a:solidFill>
                  <a:schemeClr val="tx1"/>
                </a:solidFill>
              </a:rPr>
              <a:t>手作業</a:t>
            </a:r>
            <a:endParaRPr kumimoji="1" lang="en-US" altLang="ja-JP" sz="1400" b="1" dirty="0" smtClean="0">
              <a:solidFill>
                <a:schemeClr val="tx1"/>
              </a:solidFill>
            </a:endParaRPr>
          </a:p>
          <a:p>
            <a:pPr algn="ctr"/>
            <a:r>
              <a:rPr kumimoji="1" lang="ja-JP" altLang="en-US" sz="1400" b="1" dirty="0" smtClean="0">
                <a:solidFill>
                  <a:schemeClr val="tx1"/>
                </a:solidFill>
              </a:rPr>
              <a:t>解体依頼</a:t>
            </a:r>
            <a:endParaRPr kumimoji="1" lang="ja-JP" altLang="en-US" sz="1400" b="1" dirty="0">
              <a:solidFill>
                <a:schemeClr val="tx1"/>
              </a:solidFill>
            </a:endParaRPr>
          </a:p>
        </p:txBody>
      </p:sp>
      <p:cxnSp>
        <p:nvCxnSpPr>
          <p:cNvPr id="20" name="直線矢印コネクタ 19"/>
          <p:cNvCxnSpPr/>
          <p:nvPr/>
        </p:nvCxnSpPr>
        <p:spPr bwMode="auto">
          <a:xfrm>
            <a:off x="7596336" y="3174501"/>
            <a:ext cx="1" cy="1478636"/>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テキスト ボックス 22"/>
          <p:cNvSpPr txBox="1"/>
          <p:nvPr/>
        </p:nvSpPr>
        <p:spPr>
          <a:xfrm>
            <a:off x="6930870" y="3241517"/>
            <a:ext cx="1100108" cy="523220"/>
          </a:xfrm>
          <a:prstGeom prst="rect">
            <a:avLst/>
          </a:prstGeom>
          <a:noFill/>
        </p:spPr>
        <p:txBody>
          <a:bodyPr wrap="square" rtlCol="0">
            <a:spAutoFit/>
          </a:bodyPr>
          <a:lstStyle/>
          <a:p>
            <a:pPr algn="ctr"/>
            <a:r>
              <a:rPr kumimoji="1" lang="ja-JP" altLang="en-US" sz="1400" b="1" dirty="0" smtClean="0">
                <a:solidFill>
                  <a:schemeClr val="tx1"/>
                </a:solidFill>
              </a:rPr>
              <a:t>解体パーツ</a:t>
            </a:r>
            <a:endParaRPr kumimoji="1" lang="en-US" altLang="ja-JP" sz="1400" b="1" dirty="0" smtClean="0">
              <a:solidFill>
                <a:schemeClr val="tx1"/>
              </a:solidFill>
            </a:endParaRPr>
          </a:p>
          <a:p>
            <a:pPr algn="ctr"/>
            <a:endParaRPr kumimoji="1" lang="ja-JP" altLang="en-US" sz="1400" b="1" dirty="0">
              <a:solidFill>
                <a:schemeClr val="tx1"/>
              </a:solidFill>
            </a:endParaRPr>
          </a:p>
        </p:txBody>
      </p:sp>
      <p:sp>
        <p:nvSpPr>
          <p:cNvPr id="17" name="円/楕円 16"/>
          <p:cNvSpPr/>
          <p:nvPr/>
        </p:nvSpPr>
        <p:spPr bwMode="auto">
          <a:xfrm>
            <a:off x="7283516" y="3610849"/>
            <a:ext cx="1310429" cy="610239"/>
          </a:xfrm>
          <a:prstGeom prst="ellips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kumimoji="0" lang="ja-JP" altLang="en-US" sz="1400" b="0" i="0" u="none" strike="noStrike" cap="none" normalizeH="0" baseline="0" dirty="0" smtClean="0">
                <a:ln>
                  <a:noFill/>
                </a:ln>
                <a:solidFill>
                  <a:schemeClr val="bg1"/>
                </a:solidFill>
                <a:effectLst/>
                <a:latin typeface="Arial" charset="0"/>
                <a:ea typeface="ＭＳ Ｐゴシック" charset="-128"/>
              </a:rPr>
              <a:t>継続売買契約</a:t>
            </a:r>
          </a:p>
        </p:txBody>
      </p:sp>
      <p:sp>
        <p:nvSpPr>
          <p:cNvPr id="5" name="テキスト ボックス 4"/>
          <p:cNvSpPr txBox="1"/>
          <p:nvPr/>
        </p:nvSpPr>
        <p:spPr>
          <a:xfrm>
            <a:off x="233252" y="764704"/>
            <a:ext cx="4482764"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600" b="1" dirty="0" smtClean="0">
                <a:solidFill>
                  <a:schemeClr val="tx1"/>
                </a:solidFill>
              </a:rPr>
              <a:t>当事業所は、遊技機リサイクル協会指定事業者「藤鳶工業株式会社」様との提携により安定した中古パチンコ台の確保を実現しています。</a:t>
            </a:r>
            <a:endParaRPr kumimoji="1" lang="ja-JP" altLang="en-US" sz="1600" b="1" dirty="0">
              <a:solidFill>
                <a:schemeClr val="tx1"/>
              </a:solidFill>
            </a:endParaRPr>
          </a:p>
        </p:txBody>
      </p:sp>
    </p:spTree>
    <p:extLst>
      <p:ext uri="{BB962C8B-B14F-4D97-AF65-F5344CB8AC3E}">
        <p14:creationId xmlns:p14="http://schemas.microsoft.com/office/powerpoint/2010/main" val="367353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706" y="919889"/>
            <a:ext cx="6788646" cy="528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パチンコ解体作業一般フロー</a:t>
            </a:r>
            <a:endParaRPr lang="ja-JP" altLang="ja-JP" b="0" dirty="0">
              <a:solidFill>
                <a:srgbClr val="DC5924"/>
              </a:solidFill>
            </a:endParaRPr>
          </a:p>
        </p:txBody>
      </p:sp>
    </p:spTree>
    <p:extLst>
      <p:ext uri="{BB962C8B-B14F-4D97-AF65-F5344CB8AC3E}">
        <p14:creationId xmlns:p14="http://schemas.microsoft.com/office/powerpoint/2010/main" val="2163456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noChangeArrowheads="1"/>
            <a:extLst>
              <a:ext uri="{84589F7E-364E-4C9E-8A38-B11213B215E9}">
                <a14:cameraTool xmlns:a14="http://schemas.microsoft.com/office/drawing/2010/main" cellRange="$B$2:$K$41"/>
              </a:ext>
            </a:extLst>
          </p:cNvPicPr>
          <p:nvPr/>
        </p:nvPicPr>
        <p:blipFill>
          <a:blip r:embed="rId2"/>
          <a:srcRect/>
          <a:stretch>
            <a:fillRect/>
          </a:stretch>
        </p:blipFill>
        <p:spPr bwMode="auto">
          <a:xfrm>
            <a:off x="323528" y="692696"/>
            <a:ext cx="5760640" cy="6216165"/>
          </a:xfrm>
          <a:prstGeom prst="rect">
            <a:avLst/>
          </a:prstGeom>
          <a:noFill/>
          <a:ln w="9525">
            <a:noFill/>
            <a:miter lim="800000"/>
            <a:headEnd/>
            <a:tailEnd/>
          </a:ln>
        </p:spPr>
      </p:pic>
      <p:sp>
        <p:nvSpPr>
          <p:cNvPr id="3" name="Line 1"/>
          <p:cNvSpPr>
            <a:spLocks noChangeShapeType="1"/>
          </p:cNvSpPr>
          <p:nvPr/>
        </p:nvSpPr>
        <p:spPr bwMode="auto">
          <a:xfrm flipV="1">
            <a:off x="185793" y="531544"/>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81017" y="241031"/>
            <a:ext cx="8078787"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endParaRPr lang="en-US" altLang="ja-JP" b="0" dirty="0" smtClean="0">
              <a:solidFill>
                <a:srgbClr val="DC5924"/>
              </a:solidFill>
            </a:endParaRPr>
          </a:p>
          <a:p>
            <a:pPr eaLnBrk="1" hangingPunct="1">
              <a:spcBef>
                <a:spcPct val="0"/>
              </a:spcBef>
              <a:spcAft>
                <a:spcPct val="0"/>
              </a:spcAft>
              <a:buClrTx/>
              <a:buFontTx/>
              <a:buNone/>
            </a:pPr>
            <a:endParaRPr lang="en-US" altLang="ja-JP" b="0" dirty="0" smtClean="0">
              <a:solidFill>
                <a:srgbClr val="DC5924"/>
              </a:solidFill>
            </a:endParaRPr>
          </a:p>
          <a:p>
            <a:pPr eaLnBrk="1" hangingPunct="1">
              <a:spcBef>
                <a:spcPct val="0"/>
              </a:spcBef>
              <a:spcAft>
                <a:spcPct val="0"/>
              </a:spcAft>
              <a:buClrTx/>
              <a:buFontTx/>
              <a:buNone/>
            </a:pPr>
            <a:endParaRPr lang="en-US" altLang="ja-JP" b="0" dirty="0">
              <a:solidFill>
                <a:srgbClr val="DC5924"/>
              </a:solidFill>
            </a:endParaRPr>
          </a:p>
          <a:p>
            <a:pPr eaLnBrk="1" hangingPunct="1">
              <a:spcBef>
                <a:spcPct val="0"/>
              </a:spcBef>
              <a:spcAft>
                <a:spcPct val="0"/>
              </a:spcAft>
              <a:buClrTx/>
              <a:buFontTx/>
              <a:buNone/>
            </a:pPr>
            <a:r>
              <a:rPr lang="ja-JP" altLang="en-US" b="0" dirty="0" smtClean="0">
                <a:solidFill>
                  <a:srgbClr val="DC5924"/>
                </a:solidFill>
              </a:rPr>
              <a:t>パチンコ台　解体後売却予想額（市況また業者方針等により変更します。）</a:t>
            </a:r>
            <a:endParaRPr lang="ja-JP" altLang="ja-JP" b="0" dirty="0">
              <a:solidFill>
                <a:srgbClr val="DC5924"/>
              </a:solidFill>
            </a:endParaRPr>
          </a:p>
        </p:txBody>
      </p:sp>
    </p:spTree>
    <p:extLst>
      <p:ext uri="{BB962C8B-B14F-4D97-AF65-F5344CB8AC3E}">
        <p14:creationId xmlns:p14="http://schemas.microsoft.com/office/powerpoint/2010/main" val="2411181460"/>
      </p:ext>
    </p:extLst>
  </p:cSld>
  <p:clrMapOvr>
    <a:masterClrMapping/>
  </p:clrMapOvr>
</p:sld>
</file>

<file path=ppt/theme/theme1.xml><?xml version="1.0" encoding="utf-8"?>
<a:theme xmlns:a="http://schemas.openxmlformats.org/drawingml/2006/main" name="1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10320</TotalTime>
  <Words>309</Words>
  <Application>Microsoft Office PowerPoint</Application>
  <PresentationFormat>画面に合わせる (4:3)</PresentationFormat>
  <Paragraphs>36</Paragraphs>
  <Slides>7</Slides>
  <Notes>1</Notes>
  <HiddenSlides>0</HiddenSlides>
  <MMClips>0</MMClips>
  <ScaleCrop>false</ScaleCrop>
  <HeadingPairs>
    <vt:vector size="6" baseType="variant">
      <vt:variant>
        <vt:lpstr>使用されているフォント</vt:lpstr>
      </vt:variant>
      <vt:variant>
        <vt:i4>9</vt:i4>
      </vt:variant>
      <vt:variant>
        <vt:lpstr>テーマ</vt:lpstr>
      </vt:variant>
      <vt:variant>
        <vt:i4>2</vt:i4>
      </vt:variant>
      <vt:variant>
        <vt:lpstr>スライド タイトル</vt:lpstr>
      </vt:variant>
      <vt:variant>
        <vt:i4>7</vt:i4>
      </vt:variant>
    </vt:vector>
  </HeadingPairs>
  <TitlesOfParts>
    <vt:vector size="18" baseType="lpstr">
      <vt:lpstr>HG丸ｺﾞｼｯｸM-PRO</vt:lpstr>
      <vt:lpstr>ＭＳ Ｐゴシック</vt:lpstr>
      <vt:lpstr>ＭＳ Ｐ明朝</vt:lpstr>
      <vt:lpstr>Roboto</vt:lpstr>
      <vt:lpstr>Arial</vt:lpstr>
      <vt:lpstr>Arial Black</vt:lpstr>
      <vt:lpstr>Calibri</vt:lpstr>
      <vt:lpstr>Times New Roman</vt:lpstr>
      <vt:lpstr>Wingdings</vt:lpstr>
      <vt:lpstr>1_Office ​​テーマ</vt:lpstr>
      <vt:lpstr>2_Office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31702</dc:creator>
  <cp:lastModifiedBy>山内雄司</cp:lastModifiedBy>
  <cp:revision>241</cp:revision>
  <cp:lastPrinted>2014-09-08T06:16:44Z</cp:lastPrinted>
  <dcterms:created xsi:type="dcterms:W3CDTF">2012-06-06T06:35:04Z</dcterms:created>
  <dcterms:modified xsi:type="dcterms:W3CDTF">2014-09-08T06:24:31Z</dcterms:modified>
</cp:coreProperties>
</file>