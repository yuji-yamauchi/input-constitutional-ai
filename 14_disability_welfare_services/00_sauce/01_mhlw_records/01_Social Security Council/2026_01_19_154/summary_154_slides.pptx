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養護者による障害者虐待の推移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相談・通報件数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H30</c:v>
                  </c:pt>
                  <c:pt idx="1">
                    <c:v>R元</c:v>
                  </c:pt>
                  <c:pt idx="2">
                    <c:v>R2</c:v>
                  </c:pt>
                  <c:pt idx="3">
                    <c:v>R3</c:v>
                  </c:pt>
                  <c:pt idx="4">
                    <c:v>R4</c:v>
                  </c:pt>
                  <c:pt idx="5">
                    <c:v>R5</c:v>
                  </c:pt>
                  <c:pt idx="6">
                    <c:v>R6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4649</c:v>
                </c:pt>
                <c:pt idx="1">
                  <c:v>5331</c:v>
                </c:pt>
                <c:pt idx="2">
                  <c:v>5758</c:v>
                </c:pt>
                <c:pt idx="3">
                  <c:v>6556</c:v>
                </c:pt>
                <c:pt idx="4">
                  <c:v>7337</c:v>
                </c:pt>
                <c:pt idx="5">
                  <c:v>9972</c:v>
                </c:pt>
                <c:pt idx="6">
                  <c:v>11656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虐待判断件数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H30</c:v>
                  </c:pt>
                  <c:pt idx="1">
                    <c:v>R元</c:v>
                  </c:pt>
                  <c:pt idx="2">
                    <c:v>R2</c:v>
                  </c:pt>
                  <c:pt idx="3">
                    <c:v>R3</c:v>
                  </c:pt>
                  <c:pt idx="4">
                    <c:v>R4</c:v>
                  </c:pt>
                  <c:pt idx="5">
                    <c:v>R5</c:v>
                  </c:pt>
                  <c:pt idx="6">
                    <c:v>R6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1612</c:v>
                </c:pt>
                <c:pt idx="1">
                  <c:v>1655</c:v>
                </c:pt>
                <c:pt idx="2">
                  <c:v>1768</c:v>
                </c:pt>
                <c:pt idx="3">
                  <c:v>1994</c:v>
                </c:pt>
                <c:pt idx="4">
                  <c:v>2123</c:v>
                </c:pt>
                <c:pt idx="5">
                  <c:v>2283</c:v>
                </c:pt>
                <c:pt idx="6">
                  <c:v>2503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虐待の類型（件数）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虐待の類型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bubble3D val="0"/>
            <c:spPr>
              <a:solidFill>
                <a:srgbClr val="2E86AB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bubble3D val="0"/>
            <c:spPr>
              <a:solidFill>
                <a:srgbClr val="0D737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身体的</c:v>
                </c:pt>
                <c:pt idx="1">
                  <c:v>心理的</c:v>
                </c:pt>
                <c:pt idx="2">
                  <c:v>性的</c:v>
                </c:pt>
                <c:pt idx="3">
                  <c:v>放棄・放置</c:v>
                </c:pt>
                <c:pt idx="4">
                  <c:v>経済的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158</c:v>
                </c:pt>
                <c:pt idx="1">
                  <c:v>131</c:v>
                </c:pt>
                <c:pt idx="2">
                  <c:v>23</c:v>
                </c:pt>
                <c:pt idx="3">
                  <c:v>23</c:v>
                </c:pt>
                <c:pt idx="4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就労継続支援A型事業所 平均賃金月額の推移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A型 平均賃金月額（円）</c:v>
                </c:pt>
              </c:strCache>
            </c:strRef>
          </c:tx>
          <c:spPr>
            <a:solidFill>
              <a:srgbClr val="0D7377"/>
            </a:solidFill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H24</c:v>
                  </c:pt>
                  <c:pt idx="1">
                    <c:v>H25</c:v>
                  </c:pt>
                  <c:pt idx="2">
                    <c:v>H26</c:v>
                  </c:pt>
                  <c:pt idx="3">
                    <c:v>H27</c:v>
                  </c:pt>
                  <c:pt idx="4">
                    <c:v>H28</c:v>
                  </c:pt>
                  <c:pt idx="5">
                    <c:v>H29</c:v>
                  </c:pt>
                  <c:pt idx="6">
                    <c:v>H30</c:v>
                  </c:pt>
                  <c:pt idx="7">
                    <c:v>R1</c:v>
                  </c:pt>
                  <c:pt idx="8">
                    <c:v>R2</c:v>
                  </c:pt>
                  <c:pt idx="9">
                    <c:v>R3</c:v>
                  </c:pt>
                  <c:pt idx="10">
                    <c:v>R4</c:v>
                  </c:pt>
                  <c:pt idx="11">
                    <c:v>R5</c:v>
                  </c:pt>
                  <c:pt idx="12">
                    <c:v>R6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68691</c:v>
                </c:pt>
                <c:pt idx="1">
                  <c:v>69458</c:v>
                </c:pt>
                <c:pt idx="2">
                  <c:v>66412</c:v>
                </c:pt>
                <c:pt idx="3">
                  <c:v>67795</c:v>
                </c:pt>
                <c:pt idx="4">
                  <c:v>70720</c:v>
                </c:pt>
                <c:pt idx="5">
                  <c:v>74085</c:v>
                </c:pt>
                <c:pt idx="6">
                  <c:v>76887</c:v>
                </c:pt>
                <c:pt idx="7">
                  <c:v>78975</c:v>
                </c:pt>
                <c:pt idx="8">
                  <c:v>79625</c:v>
                </c:pt>
                <c:pt idx="9">
                  <c:v>81645</c:v>
                </c:pt>
                <c:pt idx="10">
                  <c:v>83551</c:v>
                </c:pt>
                <c:pt idx="11">
                  <c:v>86752</c:v>
                </c:pt>
                <c:pt idx="12">
                  <c:v>91451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社会保障審議会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障害者部会（第154回）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こども家庭審議会 障害児支援部会（第18回）合同会議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320040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令和8年（2026年）1月19日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厚生労働省 / こども家庭庁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要約作成: Claude（Cowork Session）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会議の全体像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8つの主要議題と8つの参考資料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基本指針の見直し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第8期障害福祉計画の改正案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54864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35915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2040年に向けた提供体制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持続可能なサービス体制構築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182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高次脳機能障害者支援法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新法の成立・施行令（R8.4.1）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096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医療法等の改正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医療DX・医師偏在是正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2801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280160"/>
            <a:ext cx="54864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0" y="1444752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報酬改定の検討状況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処遇改善と制度持続可能性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1945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194560"/>
            <a:ext cx="54864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9" name="Shape 37"/>
          <p:cNvSpPr/>
          <p:nvPr/>
        </p:nvSpPr>
        <p:spPr>
          <a:xfrm>
            <a:off x="4937760" y="2359152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640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成年後見制度の見直し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補助への一元化案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108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108960"/>
            <a:ext cx="54864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5" name="Shape 43"/>
          <p:cNvSpPr/>
          <p:nvPr/>
        </p:nvSpPr>
        <p:spPr>
          <a:xfrm>
            <a:off x="4937760" y="32735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86400" y="3182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障害者虐待調査結果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R6年度調査（養護者・施設）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0233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023360"/>
            <a:ext cx="54864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1" name="Shape 49"/>
          <p:cNvSpPr/>
          <p:nvPr/>
        </p:nvSpPr>
        <p:spPr>
          <a:xfrm>
            <a:off x="4937760" y="41879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86400" y="4096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精神科病院の虐待状況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法改正後初の集計結果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資料1: 基本指針の見直し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第8期障害福祉計画（R9〜11年度）・第4期障害児福祉計画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53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地域連携の強化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2040年を見据えた提供体制構築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地域における連携体制の強化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53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地域生活移行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施設入所者の地域移行促進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施設入所者数の削減目標設定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精神障害対応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地域包括ケアシステムの構築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精神障害にも対応した体制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54864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82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就労・相談支援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一般就労への移行促進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工賃・賃金の向上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相談支援体制の充実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資料2: 2040年に向けた障害福祉サービスの提供体制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生産年齢人口の急減を見据えた持続可能な体制構築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目標年次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4倍超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予算額の増加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（自立支援法施行時比）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0" y="19202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総費用額の伸び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43200"/>
            <a:ext cx="54864" cy="2103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1635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主要課題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7909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障害福祉サービスの利用者数・費用総額は年々増加 → 制度の持続可能性が課題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人材確保が最重要課題（処遇改善・ICT活用・業務効率化）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地域生活支援の強化と施設・入院からの地域移行推進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障害特性に応じた多様なサービス提供体制の必要性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テクノロジー（介護ロボット・ICT）活用による生産性向上の推進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資料3: 高次脳機能障害者支援法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令和7年法律第96号（R7.12.24公布）／施行日: R8.4.1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約23万人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推計患者数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280160"/>
            <a:ext cx="56692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280160"/>
            <a:ext cx="54864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基本理念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600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自立と社会参加の機会の確保・尊厳の保持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社会的障壁の除去  (3) 切れ目ない支援  (4) 居住地域にかかわらず適切な支援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支援センターの設置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都道府県が設置、普及啓発・相談支援・研修を実施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6060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0604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専門医療機関の確保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診断・治療・リハビリ等を行う機関の確保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6060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60604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地域協議会の設置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医療・福祉・教育・労働等の多職種連携体制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先天性疾病による認知機能の障害、発達障害、認知症は定義から除外  ／  施行後3年を目途に見直し検討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資料4: 医療法等の一部改正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高齢化・人口減少を見据えた医療提供体制の改革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53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地域医療構想の見直し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2040年頃を見据えた医療提供体制の確保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かかりつけ医機能の制度整備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在宅医療の充実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オンライン診療の法定化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54864" cy="2286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53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医師偏在の是正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6459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重点的に医師確保すべき区域の設定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外来医師過多区域への対応強化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保険医療機関の指定期間短縮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80160"/>
            <a:ext cx="54864" cy="228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53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医療DXの推進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電子カルテ情報の共有基盤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R12年末まで普及率約100%目標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医療情報の二次利用推進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54864" cy="10058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障害福祉分野への影響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160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附帯決議で「介護・障害福祉従事者の適切な処遇の確保」が明記。施行日: R9.4.1（一部R8.4.1から段階施行）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資料5: 障害福祉サービス等報酬改定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令和8年度改定に向けた検討状況（第50回検討チーム）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基本給等の増加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(11,110円)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平均給与額の増加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(16,970円)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報酬改定率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280160"/>
            <a:ext cx="1645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4倍超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予算額の増加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(施行時比)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54864" cy="2103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33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論点1: 人材確保・処遇改善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2926080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障害福祉分野の有効求人倍率は依然高水準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給与は全産業平均を下回る状態が継続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R7補正予算で「支援パッケージ」前倒し実施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人材紹介会社への高額手数料が阻害要因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ICT・介護ロボット活用で生産性向上を推進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560320"/>
            <a:ext cx="54864" cy="21031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33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論点2: R6改定後の課題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総費用額は+12.1%の伸び（改定率+1.12%に対し）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制度趣旨に沿わない加算算定の事業者が存在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障害福祉サービス予算は施行時から4倍以上に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制度の持続可能性と質の両立が急務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資料6: 成年後見制度の見直し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法制審議会 民法（成年後見等関係）部会の検討状況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53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現行制度の課題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判断能力が回復しない限り利用をやめられない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包括的な取消権・代理権 → 自己決定が過度に制限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本人の状況変化に応じた後見人の交代が困難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53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見直しの方向性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後見・保佐の類型を廃止し「補助」に一元化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必要な支援内容に応じて制度を柔軟に選択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代理・取消し・取消しの特則を組み合わせ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" cy="1554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障害保健福祉関係法令への影響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909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身体障害者福祉法、精神保健福祉法、知的障害者福祉法、障害者総合支援法等の関係規定を修正予定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市町村長による審判請求に関する規定、「家族等」「保護者」等に関する規定の改正を想定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本人主権型の支援設計（SoE理念）と整合する制度改革の方向性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資料7: 障害者虐待事例 対応状況調査結果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令和6年度調査（令和7年12月公表）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3444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234440"/>
            <a:ext cx="3474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234440"/>
            <a:ext cx="54864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1307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養護者虐待の特徴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16002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通報の55.9%が警察経由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被虐待者: 精神障害47.6%が最多（初）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身体的虐待66.1%、心理的31.9%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2743200"/>
            <a:ext cx="34747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743200"/>
            <a:ext cx="54864" cy="14173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816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施設従事者虐待の特徴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0" y="31089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判断件数1,267件（+6.1%）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共同生活援助31.6%が最多事業所種別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教育・知識の問題67.5%が主因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倫理観・理念の欠如60.2%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資料8: 精神科病院における障害者虐待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精神保健福祉法改正（R6.4施行）に基づく初の集計結果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6,258件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通報・届出件数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260件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虐待認定件数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413人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被虐待者数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280160"/>
            <a:ext cx="1645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189件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改善計画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提出要求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56032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0" y="256032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560320"/>
            <a:ext cx="54864" cy="228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2633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今後の取組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54880" y="292608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精神科病院管理者に虐待防止措置を義務付け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通報者の不利益取扱い禁止を明確化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都道府県等による毎年度の虐待状況公表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国による虐待に係る調査・研究の実施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虐待者: 看護師202人が最多（准看護師58人）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参考資料1: 障害者就労に係る最近の動向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就労継続支援事業所における賃金・工賃の推移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344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13716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91,451円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675120" y="1965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 A型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平均賃金月額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75120" y="283464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+33.1%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675120" y="3429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H24年度比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増加率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H24年度 68,691円 → R6年度 91,451円（13年間で着実に増加傾向）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研究との接点メモ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本会議内容と Puu の研究テーマの対応関係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本人主権型アセスメント × 成年後見改革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819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「補助」一元化は、必要な支援を本人が選択する設計 → ケイパビリティ・アプローチにおける「選択の自由」の制度的保障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ICF環境因子 × 高次脳機能障害支援法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542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「社会的障壁の除去」「切れ目ない支援」はICF環境因子と直接対応。「見えにくい障害」は社会側のアセスメント能力が鍵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00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善意に依存しない支援評価 × 虐待データ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021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「教育・知識の問題67.5%」「倫理観の欠如60.2%」→ SoE構造倫理的アプローチの実証的根拠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資料7・8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準委任契約的評価 × 報酬改定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4622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制度趣旨に沿わない加算算定の問題 → 成果でなくプロセスの質を評価する枠組みの必要性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資料5・参1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社会保障審議会 障害者部会（第154回）要約資料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原資料: 厚生労働省 社会・援護局 障害保健福祉部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要約作成: Claude（Cowork Session）/ 2026-03-04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社会保障審議会 障害者部会（第154回）要約</dc:title>
  <dc:subject>PptxGenJS Presentation</dc:subject>
  <dc:creator>Claude (Cowork)</dc:creator>
  <cp:lastModifiedBy>Claude (Cowork)</cp:lastModifiedBy>
  <cp:revision>1</cp:revision>
  <dcterms:created xsi:type="dcterms:W3CDTF">2026-03-04T10:01:40Z</dcterms:created>
  <dcterms:modified xsi:type="dcterms:W3CDTF">2026-03-04T10:01:40Z</dcterms:modified>
</cp:coreProperties>
</file>