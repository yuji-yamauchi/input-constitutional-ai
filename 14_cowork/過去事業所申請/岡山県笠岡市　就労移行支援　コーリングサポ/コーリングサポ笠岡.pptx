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1"/>
  </p:notesMasterIdLst>
  <p:sldIdLst>
    <p:sldId id="256" r:id="rId2"/>
    <p:sldId id="280" r:id="rId3"/>
    <p:sldId id="298" r:id="rId4"/>
    <p:sldId id="329" r:id="rId5"/>
    <p:sldId id="331" r:id="rId6"/>
    <p:sldId id="310" r:id="rId7"/>
    <p:sldId id="312" r:id="rId8"/>
    <p:sldId id="313" r:id="rId9"/>
    <p:sldId id="314" r:id="rId10"/>
    <p:sldId id="321" r:id="rId11"/>
    <p:sldId id="315" r:id="rId12"/>
    <p:sldId id="316" r:id="rId13"/>
    <p:sldId id="317" r:id="rId14"/>
    <p:sldId id="319" r:id="rId15"/>
    <p:sldId id="322" r:id="rId16"/>
    <p:sldId id="323" r:id="rId17"/>
    <p:sldId id="324" r:id="rId18"/>
    <p:sldId id="320" r:id="rId19"/>
    <p:sldId id="318" r:id="rId20"/>
  </p:sldIdLst>
  <p:sldSz cx="9906000" cy="6858000" type="A4"/>
  <p:notesSz cx="6888163"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0000FF"/>
    <a:srgbClr val="4F81BD"/>
    <a:srgbClr val="F79646"/>
    <a:srgbClr val="FFFF00"/>
    <a:srgbClr val="FFFF99"/>
    <a:srgbClr val="2EF2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3" d="100"/>
          <a:sy n="83" d="100"/>
        </p:scale>
        <p:origin x="96" y="216"/>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6222A007-9379-4D8F-B298-B0147C1D11E0}" type="datetimeFigureOut">
              <a:rPr kumimoji="1" lang="ja-JP" altLang="en-US" smtClean="0"/>
              <a:t>2021/8/2</a:t>
            </a:fld>
            <a:endParaRPr kumimoji="1" lang="ja-JP" altLang="en-US"/>
          </a:p>
        </p:txBody>
      </p:sp>
      <p:sp>
        <p:nvSpPr>
          <p:cNvPr id="4" name="スライド イメージ プレースホルダー 3"/>
          <p:cNvSpPr>
            <a:spLocks noGrp="1" noRot="1" noChangeAspect="1"/>
          </p:cNvSpPr>
          <p:nvPr>
            <p:ph type="sldImg" idx="2"/>
          </p:nvPr>
        </p:nvSpPr>
        <p:spPr>
          <a:xfrm>
            <a:off x="1001713" y="1252538"/>
            <a:ext cx="4884737" cy="33813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8975" y="4821238"/>
            <a:ext cx="5510213" cy="394493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F689250D-B8AF-4561-8E76-06A142C80A6C}" type="slidenum">
              <a:rPr kumimoji="1" lang="ja-JP" altLang="en-US" smtClean="0"/>
              <a:t>‹#›</a:t>
            </a:fld>
            <a:endParaRPr kumimoji="1" lang="ja-JP" altLang="en-US"/>
          </a:p>
        </p:txBody>
      </p:sp>
    </p:spTree>
    <p:extLst>
      <p:ext uri="{BB962C8B-B14F-4D97-AF65-F5344CB8AC3E}">
        <p14:creationId xmlns:p14="http://schemas.microsoft.com/office/powerpoint/2010/main" val="31308514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689250D-B8AF-4561-8E76-06A142C80A6C}" type="slidenum">
              <a:rPr kumimoji="1" lang="ja-JP" altLang="en-US" smtClean="0"/>
              <a:t>8</a:t>
            </a:fld>
            <a:endParaRPr kumimoji="1" lang="ja-JP" altLang="en-US"/>
          </a:p>
        </p:txBody>
      </p:sp>
    </p:spTree>
    <p:extLst>
      <p:ext uri="{BB962C8B-B14F-4D97-AF65-F5344CB8AC3E}">
        <p14:creationId xmlns:p14="http://schemas.microsoft.com/office/powerpoint/2010/main" val="2597281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91540" y="758952"/>
            <a:ext cx="817245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893791" y="4455621"/>
            <a:ext cx="817245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pPr>
              <a:defRPr/>
            </a:pPr>
            <a:fld id="{54FEF001-12D1-4D96-84F6-90B9AF3FF1DF}" type="datetimeFigureOut">
              <a:rPr lang="ja-JP" altLang="en-US" smtClean="0"/>
              <a:pPr>
                <a:defRPr/>
              </a:pPr>
              <a:t>2021/8/2</a:t>
            </a:fld>
            <a:endParaRPr lang="ja-JP" altLang="en-US"/>
          </a:p>
        </p:txBody>
      </p:sp>
      <p:sp>
        <p:nvSpPr>
          <p:cNvPr id="5" name="Footer Placeholder 4"/>
          <p:cNvSpPr>
            <a:spLocks noGrp="1"/>
          </p:cNvSpPr>
          <p:nvPr>
            <p:ph type="ftr" sz="quarter" idx="11"/>
          </p:nvPr>
        </p:nvSpPr>
        <p:spPr/>
        <p:txBody>
          <a:bodyPr/>
          <a:lstStyle/>
          <a:p>
            <a:pPr>
              <a:defRPr/>
            </a:pPr>
            <a:endParaRPr lang="ja-JP" altLang="en-US"/>
          </a:p>
        </p:txBody>
      </p:sp>
      <p:sp>
        <p:nvSpPr>
          <p:cNvPr id="6" name="Slide Number Placeholder 5"/>
          <p:cNvSpPr>
            <a:spLocks noGrp="1"/>
          </p:cNvSpPr>
          <p:nvPr>
            <p:ph type="sldNum" sz="quarter" idx="12"/>
          </p:nvPr>
        </p:nvSpPr>
        <p:spPr/>
        <p:txBody>
          <a:bodyPr/>
          <a:lstStyle/>
          <a:p>
            <a:fld id="{881287CF-6097-47C1-BF11-D695A97524D8}" type="slidenum">
              <a:rPr lang="ja-JP" altLang="en-US" smtClean="0"/>
              <a:pPr/>
              <a:t>‹#›</a:t>
            </a:fld>
            <a:endParaRPr lang="ja-JP" altLang="en-US"/>
          </a:p>
        </p:txBody>
      </p:sp>
      <p:cxnSp>
        <p:nvCxnSpPr>
          <p:cNvPr id="9" name="Straight Connector 8"/>
          <p:cNvCxnSpPr/>
          <p:nvPr/>
        </p:nvCxnSpPr>
        <p:spPr>
          <a:xfrm>
            <a:off x="981223" y="4343400"/>
            <a:ext cx="80238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a:defRPr/>
            </a:pPr>
            <a:fld id="{18CF5561-0CEC-42C8-A15F-AD5BDC44F5FA}" type="datetimeFigureOut">
              <a:rPr lang="ja-JP" altLang="en-US" smtClean="0"/>
              <a:pPr>
                <a:defRPr/>
              </a:pPr>
              <a:t>2021/8/2</a:t>
            </a:fld>
            <a:endParaRPr lang="ja-JP" altLang="en-US"/>
          </a:p>
        </p:txBody>
      </p:sp>
      <p:sp>
        <p:nvSpPr>
          <p:cNvPr id="5" name="Footer Placeholder 4"/>
          <p:cNvSpPr>
            <a:spLocks noGrp="1"/>
          </p:cNvSpPr>
          <p:nvPr>
            <p:ph type="ftr" sz="quarter" idx="11"/>
          </p:nvPr>
        </p:nvSpPr>
        <p:spPr/>
        <p:txBody>
          <a:bodyPr/>
          <a:lstStyle/>
          <a:p>
            <a:pPr>
              <a:defRPr/>
            </a:pPr>
            <a:endParaRPr lang="ja-JP" altLang="en-US"/>
          </a:p>
        </p:txBody>
      </p:sp>
      <p:sp>
        <p:nvSpPr>
          <p:cNvPr id="6" name="Slide Number Placeholder 5"/>
          <p:cNvSpPr>
            <a:spLocks noGrp="1"/>
          </p:cNvSpPr>
          <p:nvPr>
            <p:ph type="sldNum" sz="quarter" idx="12"/>
          </p:nvPr>
        </p:nvSpPr>
        <p:spPr/>
        <p:txBody>
          <a:bodyPr/>
          <a:lstStyle/>
          <a:p>
            <a:fld id="{077090CD-12F8-4408-B3BF-3EBF03EC4924}" type="slidenum">
              <a:rPr lang="ja-JP" altLang="en-US" smtClean="0"/>
              <a:pPr/>
              <a:t>‹#›</a:t>
            </a:fld>
            <a:endParaRPr lang="ja-JP" altLang="en-US"/>
          </a:p>
        </p:txBody>
      </p:sp>
    </p:spTree>
    <p:extLst>
      <p:ext uri="{BB962C8B-B14F-4D97-AF65-F5344CB8AC3E}">
        <p14:creationId xmlns:p14="http://schemas.microsoft.com/office/powerpoint/2010/main" val="4120474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1540" y="758952"/>
            <a:ext cx="817245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91540" y="4453128"/>
            <a:ext cx="817245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a:defRPr/>
            </a:pPr>
            <a:fld id="{C46AB653-343D-44ED-84AD-006AB03ABBB0}" type="datetimeFigureOut">
              <a:rPr lang="ja-JP" altLang="en-US" smtClean="0"/>
              <a:pPr>
                <a:defRPr/>
              </a:pPr>
              <a:t>2021/8/2</a:t>
            </a:fld>
            <a:endParaRPr lang="ja-JP" altLang="en-US"/>
          </a:p>
        </p:txBody>
      </p:sp>
      <p:sp>
        <p:nvSpPr>
          <p:cNvPr id="5" name="Footer Placeholder 4"/>
          <p:cNvSpPr>
            <a:spLocks noGrp="1"/>
          </p:cNvSpPr>
          <p:nvPr>
            <p:ph type="ftr" sz="quarter" idx="11"/>
          </p:nvPr>
        </p:nvSpPr>
        <p:spPr/>
        <p:txBody>
          <a:bodyPr/>
          <a:lstStyle/>
          <a:p>
            <a:pPr>
              <a:defRPr/>
            </a:pPr>
            <a:endParaRPr lang="ja-JP" altLang="en-US"/>
          </a:p>
        </p:txBody>
      </p:sp>
      <p:sp>
        <p:nvSpPr>
          <p:cNvPr id="6" name="Slide Number Placeholder 5"/>
          <p:cNvSpPr>
            <a:spLocks noGrp="1"/>
          </p:cNvSpPr>
          <p:nvPr>
            <p:ph type="sldNum" sz="quarter" idx="12"/>
          </p:nvPr>
        </p:nvSpPr>
        <p:spPr/>
        <p:txBody>
          <a:bodyPr/>
          <a:lstStyle/>
          <a:p>
            <a:fld id="{FF762FA0-A8AC-4B5E-99FB-5D0457091396}" type="slidenum">
              <a:rPr lang="ja-JP" altLang="en-US" smtClean="0"/>
              <a:pPr/>
              <a:t>‹#›</a:t>
            </a:fld>
            <a:endParaRPr lang="ja-JP" altLang="en-US"/>
          </a:p>
        </p:txBody>
      </p:sp>
      <p:cxnSp>
        <p:nvCxnSpPr>
          <p:cNvPr id="9" name="Straight Connector 8"/>
          <p:cNvCxnSpPr/>
          <p:nvPr/>
        </p:nvCxnSpPr>
        <p:spPr>
          <a:xfrm>
            <a:off x="981223" y="4343400"/>
            <a:ext cx="80238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36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891540" y="286605"/>
            <a:ext cx="817245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91540" y="1845734"/>
            <a:ext cx="401193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52060" y="1845737"/>
            <a:ext cx="4011930" cy="402335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pPr>
              <a:defRPr/>
            </a:pPr>
            <a:fld id="{54111602-8A16-40B4-B475-AB941A4A7EAC}" type="datetimeFigureOut">
              <a:rPr lang="ja-JP" altLang="en-US" smtClean="0"/>
              <a:pPr>
                <a:defRPr/>
              </a:pPr>
              <a:t>2021/8/2</a:t>
            </a:fld>
            <a:endParaRPr lang="ja-JP" altLang="en-US"/>
          </a:p>
        </p:txBody>
      </p:sp>
      <p:sp>
        <p:nvSpPr>
          <p:cNvPr id="6" name="Footer Placeholder 5"/>
          <p:cNvSpPr>
            <a:spLocks noGrp="1"/>
          </p:cNvSpPr>
          <p:nvPr>
            <p:ph type="ftr" sz="quarter" idx="11"/>
          </p:nvPr>
        </p:nvSpPr>
        <p:spPr/>
        <p:txBody>
          <a:bodyPr/>
          <a:lstStyle/>
          <a:p>
            <a:pPr>
              <a:defRPr/>
            </a:pPr>
            <a:endParaRPr lang="ja-JP" altLang="en-US"/>
          </a:p>
        </p:txBody>
      </p:sp>
      <p:sp>
        <p:nvSpPr>
          <p:cNvPr id="7" name="Slide Number Placeholder 6"/>
          <p:cNvSpPr>
            <a:spLocks noGrp="1"/>
          </p:cNvSpPr>
          <p:nvPr>
            <p:ph type="sldNum" sz="quarter" idx="12"/>
          </p:nvPr>
        </p:nvSpPr>
        <p:spPr/>
        <p:txBody>
          <a:bodyPr/>
          <a:lstStyle/>
          <a:p>
            <a:fld id="{EBA48CB3-86B5-441F-A792-77B5F49AB075}" type="slidenum">
              <a:rPr lang="ja-JP" altLang="en-US" smtClean="0"/>
              <a:pPr/>
              <a:t>‹#›</a:t>
            </a:fld>
            <a:endParaRPr lang="ja-JP" altLang="en-US"/>
          </a:p>
        </p:txBody>
      </p:sp>
    </p:spTree>
    <p:extLst>
      <p:ext uri="{BB962C8B-B14F-4D97-AF65-F5344CB8AC3E}">
        <p14:creationId xmlns:p14="http://schemas.microsoft.com/office/powerpoint/2010/main" val="35907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891540" y="286605"/>
            <a:ext cx="817245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91540" y="1846052"/>
            <a:ext cx="401193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91540" y="2582334"/>
            <a:ext cx="401193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52060" y="1846052"/>
            <a:ext cx="401193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52060" y="2582334"/>
            <a:ext cx="401193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pPr>
              <a:defRPr/>
            </a:pPr>
            <a:fld id="{9CE4C443-2C31-429D-BEE8-4C595FEB7AD9}" type="datetimeFigureOut">
              <a:rPr lang="ja-JP" altLang="en-US" smtClean="0"/>
              <a:pPr>
                <a:defRPr/>
              </a:pPr>
              <a:t>2021/8/2</a:t>
            </a:fld>
            <a:endParaRPr lang="ja-JP" altLang="en-US"/>
          </a:p>
        </p:txBody>
      </p:sp>
      <p:sp>
        <p:nvSpPr>
          <p:cNvPr id="8" name="Footer Placeholder 7"/>
          <p:cNvSpPr>
            <a:spLocks noGrp="1"/>
          </p:cNvSpPr>
          <p:nvPr>
            <p:ph type="ftr" sz="quarter" idx="11"/>
          </p:nvPr>
        </p:nvSpPr>
        <p:spPr/>
        <p:txBody>
          <a:bodyPr/>
          <a:lstStyle/>
          <a:p>
            <a:pPr>
              <a:defRPr/>
            </a:pPr>
            <a:endParaRPr lang="ja-JP" altLang="en-US"/>
          </a:p>
        </p:txBody>
      </p:sp>
      <p:sp>
        <p:nvSpPr>
          <p:cNvPr id="9" name="Slide Number Placeholder 8"/>
          <p:cNvSpPr>
            <a:spLocks noGrp="1"/>
          </p:cNvSpPr>
          <p:nvPr>
            <p:ph type="sldNum" sz="quarter" idx="12"/>
          </p:nvPr>
        </p:nvSpPr>
        <p:spPr/>
        <p:txBody>
          <a:bodyPr/>
          <a:lstStyle/>
          <a:p>
            <a:fld id="{CB70AEF6-4256-4C93-A5B0-DE4856609457}" type="slidenum">
              <a:rPr lang="ja-JP" altLang="en-US" smtClean="0"/>
              <a:pPr/>
              <a:t>‹#›</a:t>
            </a:fld>
            <a:endParaRPr lang="ja-JP" altLang="en-US"/>
          </a:p>
        </p:txBody>
      </p:sp>
    </p:spTree>
    <p:extLst>
      <p:ext uri="{BB962C8B-B14F-4D97-AF65-F5344CB8AC3E}">
        <p14:creationId xmlns:p14="http://schemas.microsoft.com/office/powerpoint/2010/main" val="14895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pPr>
              <a:defRPr/>
            </a:pPr>
            <a:fld id="{68960329-391D-45B6-A46B-8BE46E61A521}" type="datetimeFigureOut">
              <a:rPr lang="ja-JP" altLang="en-US" smtClean="0"/>
              <a:pPr>
                <a:defRPr/>
              </a:pPr>
              <a:t>2021/8/2</a:t>
            </a:fld>
            <a:endParaRPr lang="ja-JP" altLang="en-US"/>
          </a:p>
        </p:txBody>
      </p:sp>
      <p:sp>
        <p:nvSpPr>
          <p:cNvPr id="4" name="Footer Placeholder 3"/>
          <p:cNvSpPr>
            <a:spLocks noGrp="1"/>
          </p:cNvSpPr>
          <p:nvPr>
            <p:ph type="ftr" sz="quarter" idx="11"/>
          </p:nvPr>
        </p:nvSpPr>
        <p:spPr/>
        <p:txBody>
          <a:bodyPr/>
          <a:lstStyle/>
          <a:p>
            <a:pPr>
              <a:defRPr/>
            </a:pPr>
            <a:endParaRPr lang="ja-JP" altLang="en-US"/>
          </a:p>
        </p:txBody>
      </p:sp>
      <p:sp>
        <p:nvSpPr>
          <p:cNvPr id="5" name="Slide Number Placeholder 4"/>
          <p:cNvSpPr>
            <a:spLocks noGrp="1"/>
          </p:cNvSpPr>
          <p:nvPr>
            <p:ph type="sldNum" sz="quarter" idx="12"/>
          </p:nvPr>
        </p:nvSpPr>
        <p:spPr/>
        <p:txBody>
          <a:bodyPr/>
          <a:lstStyle/>
          <a:p>
            <a:fld id="{1B5C28C2-C4DA-404D-ADC8-14B558546FD6}" type="slidenum">
              <a:rPr lang="ja-JP" altLang="en-US" smtClean="0"/>
              <a:pPr/>
              <a:t>‹#›</a:t>
            </a:fld>
            <a:endParaRPr lang="ja-JP" altLang="en-US"/>
          </a:p>
        </p:txBody>
      </p:sp>
    </p:spTree>
    <p:extLst>
      <p:ext uri="{BB962C8B-B14F-4D97-AF65-F5344CB8AC3E}">
        <p14:creationId xmlns:p14="http://schemas.microsoft.com/office/powerpoint/2010/main" val="209409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A3869DE3-FA6A-4CEB-8326-615B214F2311}" type="datetimeFigureOut">
              <a:rPr lang="ja-JP" altLang="en-US" smtClean="0"/>
              <a:pPr>
                <a:defRPr/>
              </a:pPr>
              <a:t>2021/8/2</a:t>
            </a:fld>
            <a:endParaRPr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ja-JP" altLang="en-US"/>
          </a:p>
        </p:txBody>
      </p:sp>
      <p:sp>
        <p:nvSpPr>
          <p:cNvPr id="9" name="Slide Number Placeholder 8"/>
          <p:cNvSpPr>
            <a:spLocks noGrp="1"/>
          </p:cNvSpPr>
          <p:nvPr>
            <p:ph type="sldNum" sz="quarter" idx="12"/>
          </p:nvPr>
        </p:nvSpPr>
        <p:spPr/>
        <p:txBody>
          <a:bodyPr/>
          <a:lstStyle/>
          <a:p>
            <a:fld id="{2D632F55-6F5B-45C4-95BD-640C7E2B6774}" type="slidenum">
              <a:rPr lang="ja-JP" altLang="en-US" smtClean="0"/>
              <a:pPr/>
              <a:t>‹#›</a:t>
            </a:fld>
            <a:endParaRPr lang="ja-JP" altLang="en-US"/>
          </a:p>
        </p:txBody>
      </p:sp>
    </p:spTree>
    <p:extLst>
      <p:ext uri="{BB962C8B-B14F-4D97-AF65-F5344CB8AC3E}">
        <p14:creationId xmlns:p14="http://schemas.microsoft.com/office/powerpoint/2010/main" val="388293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5" y="0"/>
            <a:ext cx="329126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282557" y="0"/>
            <a:ext cx="52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71475" y="594359"/>
            <a:ext cx="2600325"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748591" y="731520"/>
            <a:ext cx="5426842"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371475" y="2926080"/>
            <a:ext cx="2600325"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378229" y="6459787"/>
            <a:ext cx="2127540" cy="365125"/>
          </a:xfrm>
        </p:spPr>
        <p:txBody>
          <a:bodyPr/>
          <a:lstStyle>
            <a:lvl1pPr algn="l">
              <a:defRPr/>
            </a:lvl1pPr>
          </a:lstStyle>
          <a:p>
            <a:pPr>
              <a:defRPr/>
            </a:pPr>
            <a:fld id="{54111602-8A16-40B4-B475-AB941A4A7EAC}" type="datetimeFigureOut">
              <a:rPr lang="ja-JP" altLang="en-US" smtClean="0"/>
              <a:pPr>
                <a:defRPr/>
              </a:pPr>
              <a:t>2021/8/2</a:t>
            </a:fld>
            <a:endParaRPr lang="ja-JP" altLang="en-US"/>
          </a:p>
        </p:txBody>
      </p:sp>
      <p:sp>
        <p:nvSpPr>
          <p:cNvPr id="6" name="Footer Placeholder 5"/>
          <p:cNvSpPr>
            <a:spLocks noGrp="1"/>
          </p:cNvSpPr>
          <p:nvPr>
            <p:ph type="ftr" sz="quarter" idx="11"/>
          </p:nvPr>
        </p:nvSpPr>
        <p:spPr>
          <a:xfrm>
            <a:off x="3900487" y="6459787"/>
            <a:ext cx="3776663" cy="365125"/>
          </a:xfrm>
        </p:spPr>
        <p:txBody>
          <a:bodyPr/>
          <a:lstStyle>
            <a:lvl1pPr algn="l">
              <a:defRPr>
                <a:solidFill>
                  <a:schemeClr val="tx2"/>
                </a:solidFill>
              </a:defRPr>
            </a:lvl1pPr>
          </a:lstStyle>
          <a:p>
            <a:pPr>
              <a:defRPr/>
            </a:pPr>
            <a:endParaRPr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BA48CB3-86B5-441F-A792-77B5F49AB075}" type="slidenum">
              <a:rPr lang="ja-JP" altLang="en-US" smtClean="0"/>
              <a:pPr/>
              <a:t>‹#›</a:t>
            </a:fld>
            <a:endParaRPr lang="ja-JP" altLang="en-US"/>
          </a:p>
        </p:txBody>
      </p:sp>
    </p:spTree>
    <p:extLst>
      <p:ext uri="{BB962C8B-B14F-4D97-AF65-F5344CB8AC3E}">
        <p14:creationId xmlns:p14="http://schemas.microsoft.com/office/powerpoint/2010/main" val="36912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9903421"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491507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1540" y="5074920"/>
            <a:ext cx="8221980" cy="822960"/>
          </a:xfrm>
        </p:spPr>
        <p:txBody>
          <a:bodyPr tIns="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4" y="0"/>
            <a:ext cx="9905988"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91539" y="5907024"/>
            <a:ext cx="822198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pPr>
              <a:defRPr/>
            </a:pPr>
            <a:fld id="{54111602-8A16-40B4-B475-AB941A4A7EAC}" type="datetimeFigureOut">
              <a:rPr lang="ja-JP" altLang="en-US" smtClean="0"/>
              <a:pPr>
                <a:defRPr/>
              </a:pPr>
              <a:t>2021/8/2</a:t>
            </a:fld>
            <a:endParaRPr lang="ja-JP" altLang="en-US"/>
          </a:p>
        </p:txBody>
      </p:sp>
      <p:sp>
        <p:nvSpPr>
          <p:cNvPr id="6" name="Footer Placeholder 5"/>
          <p:cNvSpPr>
            <a:spLocks noGrp="1"/>
          </p:cNvSpPr>
          <p:nvPr>
            <p:ph type="ftr" sz="quarter" idx="11"/>
          </p:nvPr>
        </p:nvSpPr>
        <p:spPr/>
        <p:txBody>
          <a:bodyPr/>
          <a:lstStyle/>
          <a:p>
            <a:pPr>
              <a:defRPr/>
            </a:pPr>
            <a:endParaRPr lang="ja-JP" altLang="en-US"/>
          </a:p>
        </p:txBody>
      </p:sp>
      <p:sp>
        <p:nvSpPr>
          <p:cNvPr id="7" name="Slide Number Placeholder 6"/>
          <p:cNvSpPr>
            <a:spLocks noGrp="1"/>
          </p:cNvSpPr>
          <p:nvPr>
            <p:ph type="sldNum" sz="quarter" idx="12"/>
          </p:nvPr>
        </p:nvSpPr>
        <p:spPr/>
        <p:txBody>
          <a:bodyPr/>
          <a:lstStyle/>
          <a:p>
            <a:fld id="{EBA48CB3-86B5-441F-A792-77B5F49AB075}" type="slidenum">
              <a:rPr lang="ja-JP" altLang="en-US" smtClean="0"/>
              <a:pPr/>
              <a:t>‹#›</a:t>
            </a:fld>
            <a:endParaRPr lang="ja-JP" altLang="en-US"/>
          </a:p>
        </p:txBody>
      </p:sp>
    </p:spTree>
    <p:extLst>
      <p:ext uri="{BB962C8B-B14F-4D97-AF65-F5344CB8AC3E}">
        <p14:creationId xmlns:p14="http://schemas.microsoft.com/office/powerpoint/2010/main" val="139592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a:defRPr/>
            </a:pPr>
            <a:fld id="{54111602-8A16-40B4-B475-AB941A4A7EAC}" type="datetimeFigureOut">
              <a:rPr lang="ja-JP" altLang="en-US" smtClean="0"/>
              <a:pPr>
                <a:defRPr/>
              </a:pPr>
              <a:t>2021/8/2</a:t>
            </a:fld>
            <a:endParaRPr lang="ja-JP" altLang="en-US"/>
          </a:p>
        </p:txBody>
      </p:sp>
      <p:sp>
        <p:nvSpPr>
          <p:cNvPr id="5" name="Footer Placeholder 4"/>
          <p:cNvSpPr>
            <a:spLocks noGrp="1"/>
          </p:cNvSpPr>
          <p:nvPr>
            <p:ph type="ftr" sz="quarter" idx="11"/>
          </p:nvPr>
        </p:nvSpPr>
        <p:spPr/>
        <p:txBody>
          <a:bodyPr/>
          <a:lstStyle/>
          <a:p>
            <a:pPr>
              <a:defRPr/>
            </a:pPr>
            <a:endParaRPr lang="ja-JP" altLang="en-US"/>
          </a:p>
        </p:txBody>
      </p:sp>
      <p:sp>
        <p:nvSpPr>
          <p:cNvPr id="6" name="Slide Number Placeholder 5"/>
          <p:cNvSpPr>
            <a:spLocks noGrp="1"/>
          </p:cNvSpPr>
          <p:nvPr>
            <p:ph type="sldNum" sz="quarter" idx="12"/>
          </p:nvPr>
        </p:nvSpPr>
        <p:spPr/>
        <p:txBody>
          <a:bodyPr/>
          <a:lstStyle/>
          <a:p>
            <a:fld id="{EBA48CB3-86B5-441F-A792-77B5F49AB075}" type="slidenum">
              <a:rPr lang="ja-JP" altLang="en-US" smtClean="0"/>
              <a:pPr/>
              <a:t>‹#›</a:t>
            </a:fld>
            <a:endParaRPr lang="ja-JP" altLang="en-US"/>
          </a:p>
        </p:txBody>
      </p:sp>
    </p:spTree>
    <p:extLst>
      <p:ext uri="{BB962C8B-B14F-4D97-AF65-F5344CB8AC3E}">
        <p14:creationId xmlns:p14="http://schemas.microsoft.com/office/powerpoint/2010/main" val="2650542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088982" y="414780"/>
            <a:ext cx="2135981" cy="5757421"/>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414779"/>
            <a:ext cx="6284119" cy="5757420"/>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a:defRPr/>
            </a:pPr>
            <a:fld id="{C692506C-11E7-479A-9708-8E45A2343206}" type="datetimeFigureOut">
              <a:rPr lang="ja-JP" altLang="en-US" smtClean="0"/>
              <a:pPr>
                <a:defRPr/>
              </a:pPr>
              <a:t>2021/8/2</a:t>
            </a:fld>
            <a:endParaRPr lang="ja-JP" altLang="en-US"/>
          </a:p>
        </p:txBody>
      </p:sp>
      <p:sp>
        <p:nvSpPr>
          <p:cNvPr id="5" name="Footer Placeholder 4"/>
          <p:cNvSpPr>
            <a:spLocks noGrp="1"/>
          </p:cNvSpPr>
          <p:nvPr>
            <p:ph type="ftr" sz="quarter" idx="11"/>
          </p:nvPr>
        </p:nvSpPr>
        <p:spPr/>
        <p:txBody>
          <a:bodyPr/>
          <a:lstStyle/>
          <a:p>
            <a:pPr>
              <a:defRPr/>
            </a:pPr>
            <a:endParaRPr lang="ja-JP" altLang="en-US"/>
          </a:p>
        </p:txBody>
      </p:sp>
      <p:sp>
        <p:nvSpPr>
          <p:cNvPr id="6" name="Slide Number Placeholder 5"/>
          <p:cNvSpPr>
            <a:spLocks noGrp="1"/>
          </p:cNvSpPr>
          <p:nvPr>
            <p:ph type="sldNum" sz="quarter" idx="12"/>
          </p:nvPr>
        </p:nvSpPr>
        <p:spPr/>
        <p:txBody>
          <a:bodyPr/>
          <a:lstStyle/>
          <a:p>
            <a:fld id="{D9750449-93DA-43C7-9235-3404BD98BF17}" type="slidenum">
              <a:rPr lang="ja-JP" altLang="en-US" smtClean="0"/>
              <a:pPr/>
              <a:t>‹#›</a:t>
            </a:fld>
            <a:endParaRPr lang="ja-JP" altLang="en-US"/>
          </a:p>
        </p:txBody>
      </p:sp>
    </p:spTree>
    <p:extLst>
      <p:ext uri="{BB962C8B-B14F-4D97-AF65-F5344CB8AC3E}">
        <p14:creationId xmlns:p14="http://schemas.microsoft.com/office/powerpoint/2010/main" val="4259373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9906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9906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91540" y="286605"/>
            <a:ext cx="8172450" cy="1450757"/>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91539" y="1845734"/>
            <a:ext cx="8172451" cy="4023360"/>
          </a:xfrm>
          <a:prstGeom prst="rect">
            <a:avLst/>
          </a:prstGeom>
        </p:spPr>
        <p:txBody>
          <a:bodyPr vert="horz" lIns="0" tIns="45720" rIns="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91542" y="6459787"/>
            <a:ext cx="2008720" cy="365125"/>
          </a:xfrm>
          <a:prstGeom prst="rect">
            <a:avLst/>
          </a:prstGeom>
        </p:spPr>
        <p:txBody>
          <a:bodyPr vert="horz" lIns="91440" tIns="45720" rIns="91440" bIns="45720" rtlCol="0" anchor="ctr"/>
          <a:lstStyle>
            <a:lvl1pPr algn="l">
              <a:defRPr sz="900">
                <a:solidFill>
                  <a:srgbClr val="FFFFFF"/>
                </a:solidFill>
              </a:defRPr>
            </a:lvl1pPr>
          </a:lstStyle>
          <a:p>
            <a:pPr>
              <a:defRPr/>
            </a:pPr>
            <a:fld id="{54111602-8A16-40B4-B475-AB941A4A7EAC}" type="datetimeFigureOut">
              <a:rPr lang="ja-JP" altLang="en-US" smtClean="0"/>
              <a:pPr>
                <a:defRPr/>
              </a:pPr>
              <a:t>2021/8/2</a:t>
            </a:fld>
            <a:endParaRPr lang="ja-JP" altLang="en-US"/>
          </a:p>
        </p:txBody>
      </p:sp>
      <p:sp>
        <p:nvSpPr>
          <p:cNvPr id="5" name="Footer Placeholder 4"/>
          <p:cNvSpPr>
            <a:spLocks noGrp="1"/>
          </p:cNvSpPr>
          <p:nvPr>
            <p:ph type="ftr" sz="quarter" idx="3"/>
          </p:nvPr>
        </p:nvSpPr>
        <p:spPr>
          <a:xfrm>
            <a:off x="2995026" y="6459787"/>
            <a:ext cx="3918528"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ja-JP" altLang="en-US"/>
          </a:p>
        </p:txBody>
      </p:sp>
      <p:sp>
        <p:nvSpPr>
          <p:cNvPr id="6" name="Slide Number Placeholder 5"/>
          <p:cNvSpPr>
            <a:spLocks noGrp="1"/>
          </p:cNvSpPr>
          <p:nvPr>
            <p:ph type="sldNum" sz="quarter" idx="4"/>
          </p:nvPr>
        </p:nvSpPr>
        <p:spPr>
          <a:xfrm>
            <a:off x="8044123" y="6459787"/>
            <a:ext cx="1066021" cy="365125"/>
          </a:xfrm>
          <a:prstGeom prst="rect">
            <a:avLst/>
          </a:prstGeom>
        </p:spPr>
        <p:txBody>
          <a:bodyPr vert="horz" lIns="91440" tIns="45720" rIns="91440" bIns="45720" rtlCol="0" anchor="ctr"/>
          <a:lstStyle>
            <a:lvl1pPr algn="r">
              <a:defRPr sz="1050">
                <a:solidFill>
                  <a:srgbClr val="FFFFFF"/>
                </a:solidFill>
              </a:defRPr>
            </a:lvl1pPr>
          </a:lstStyle>
          <a:p>
            <a:fld id="{EBA48CB3-86B5-441F-A792-77B5F49AB075}" type="slidenum">
              <a:rPr lang="ja-JP" altLang="en-US" smtClean="0"/>
              <a:pPr/>
              <a:t>‹#›</a:t>
            </a:fld>
            <a:endParaRPr lang="ja-JP" altLang="en-US"/>
          </a:p>
        </p:txBody>
      </p:sp>
      <p:cxnSp>
        <p:nvCxnSpPr>
          <p:cNvPr id="10" name="Straight Connector 9"/>
          <p:cNvCxnSpPr/>
          <p:nvPr/>
        </p:nvCxnSpPr>
        <p:spPr>
          <a:xfrm>
            <a:off x="969745" y="1737845"/>
            <a:ext cx="809815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726246"/>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jlpt.jp/about/points.html"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jlpt.jp/about/points.html"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タイトル 1"/>
          <p:cNvSpPr>
            <a:spLocks noGrp="1"/>
          </p:cNvSpPr>
          <p:nvPr>
            <p:ph type="ctrTitle"/>
          </p:nvPr>
        </p:nvSpPr>
        <p:spPr>
          <a:xfrm>
            <a:off x="-1095672" y="1268760"/>
            <a:ext cx="8097546" cy="1512168"/>
          </a:xfrm>
        </p:spPr>
        <p:txBody>
          <a:bodyPr>
            <a:normAutofit/>
          </a:bodyPr>
          <a:lstStyle/>
          <a:p>
            <a:pPr algn="ctr"/>
            <a:r>
              <a:rPr kumimoji="1" lang="ja-JP" altLang="en-US" sz="4800" dirty="0">
                <a:latin typeface="UD Digi Kyokasho NP-B" panose="02020700000000000000" pitchFamily="18" charset="-128"/>
                <a:ea typeface="UD Digi Kyokasho NP-B" panose="02020700000000000000" pitchFamily="18" charset="-128"/>
              </a:rPr>
              <a:t>就労移行支援</a:t>
            </a:r>
            <a:br>
              <a:rPr lang="en-US" altLang="ja-JP" sz="4800" dirty="0">
                <a:latin typeface="UD Digi Kyokasho NP-B" panose="02020700000000000000" pitchFamily="18" charset="-128"/>
                <a:ea typeface="UD Digi Kyokasho NP-B" panose="02020700000000000000" pitchFamily="18" charset="-128"/>
              </a:rPr>
            </a:br>
            <a:endParaRPr lang="ja-JP" altLang="en-US" sz="2400" dirty="0">
              <a:latin typeface="UD デジタル 教科書体 NK-B" panose="02020700000000000000" pitchFamily="18" charset="-128"/>
              <a:ea typeface="UD デジタル 教科書体 NK-B" panose="02020700000000000000" pitchFamily="18" charset="-128"/>
            </a:endParaRPr>
          </a:p>
        </p:txBody>
      </p:sp>
      <p:sp>
        <p:nvSpPr>
          <p:cNvPr id="5" name="字幕 4">
            <a:extLst>
              <a:ext uri="{FF2B5EF4-FFF2-40B4-BE49-F238E27FC236}">
                <a16:creationId xmlns:a16="http://schemas.microsoft.com/office/drawing/2014/main" id="{86650DA2-E0A8-41FA-B2B4-8817234312A2}"/>
              </a:ext>
            </a:extLst>
          </p:cNvPr>
          <p:cNvSpPr>
            <a:spLocks noGrp="1"/>
          </p:cNvSpPr>
          <p:nvPr>
            <p:ph type="subTitle" idx="1"/>
          </p:nvPr>
        </p:nvSpPr>
        <p:spPr>
          <a:xfrm>
            <a:off x="2864768" y="5373216"/>
            <a:ext cx="6934200" cy="626013"/>
          </a:xfrm>
        </p:spPr>
        <p:txBody>
          <a:bodyPr>
            <a:normAutofit fontScale="92500" lnSpcReduction="10000"/>
          </a:bodyPr>
          <a:lstStyle/>
          <a:p>
            <a:r>
              <a:rPr lang="ja-JP" altLang="en-US" sz="4400" dirty="0">
                <a:latin typeface="UD デジタル 教科書体 NP-B" panose="02020700000000000000" pitchFamily="18" charset="-128"/>
                <a:ea typeface="UD デジタル 教科書体 NP-B" panose="02020700000000000000" pitchFamily="18" charset="-128"/>
              </a:rPr>
              <a:t>合同会社ＤＵＧ研究所</a:t>
            </a:r>
            <a:endParaRPr kumimoji="1" lang="ja-JP" altLang="en-US" sz="4400" dirty="0">
              <a:latin typeface="UD デジタル 教科書体 NP-B" panose="02020700000000000000" pitchFamily="18" charset="-128"/>
              <a:ea typeface="UD デジタル 教科書体 NP-B" panose="02020700000000000000" pitchFamily="18" charset="-128"/>
            </a:endParaRPr>
          </a:p>
        </p:txBody>
      </p:sp>
      <p:sp>
        <p:nvSpPr>
          <p:cNvPr id="4" name="サブタイトル 2">
            <a:extLst>
              <a:ext uri="{FF2B5EF4-FFF2-40B4-BE49-F238E27FC236}">
                <a16:creationId xmlns:a16="http://schemas.microsoft.com/office/drawing/2014/main" id="{3C6A3EBD-AA36-4D41-984B-424F0097770B}"/>
              </a:ext>
            </a:extLst>
          </p:cNvPr>
          <p:cNvSpPr txBox="1">
            <a:spLocks/>
          </p:cNvSpPr>
          <p:nvPr/>
        </p:nvSpPr>
        <p:spPr bwMode="auto">
          <a:xfrm>
            <a:off x="7961784" y="116632"/>
            <a:ext cx="194421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0" indent="0" algn="ctr" rtl="0" eaLnBrk="1" fontAlgn="base" hangingPunct="1">
              <a:spcBef>
                <a:spcPct val="20000"/>
              </a:spcBef>
              <a:spcAft>
                <a:spcPct val="0"/>
              </a:spcAft>
              <a:buFont typeface="Arial" panose="020B0604020202020204" pitchFamily="34" charset="0"/>
              <a:buNone/>
              <a:defRPr kumimoji="1" sz="1600" kern="1200">
                <a:solidFill>
                  <a:schemeClr val="tx1">
                    <a:lumMod val="75000"/>
                    <a:lumOff val="25000"/>
                  </a:schemeClr>
                </a:solidFill>
                <a:latin typeface="HGP創英角ｺﾞｼｯｸUB" pitchFamily="50" charset="-128"/>
                <a:ea typeface="HGP創英角ｺﾞｼｯｸUB" pitchFamily="50" charset="-128"/>
                <a:cs typeface="+mn-cs"/>
              </a:defRPr>
            </a:lvl1pPr>
            <a:lvl2pPr marL="457200" indent="0" algn="ctr" rtl="0" eaLnBrk="1" fontAlgn="base" hangingPunct="1">
              <a:spcBef>
                <a:spcPct val="20000"/>
              </a:spcBef>
              <a:spcAft>
                <a:spcPct val="0"/>
              </a:spcAft>
              <a:buFont typeface="Arial" panose="020B0604020202020204" pitchFamily="34" charset="0"/>
              <a:buNone/>
              <a:defRPr kumimoji="1" kern="1200">
                <a:solidFill>
                  <a:schemeClr val="tx1">
                    <a:tint val="75000"/>
                  </a:schemeClr>
                </a:solidFill>
                <a:latin typeface="HGP創英角ｺﾞｼｯｸUB" pitchFamily="50" charset="-128"/>
                <a:ea typeface="HGP創英角ｺﾞｼｯｸUB" pitchFamily="50" charset="-128"/>
                <a:cs typeface="+mn-cs"/>
              </a:defRPr>
            </a:lvl2pPr>
            <a:lvl3pPr marL="914400" indent="0" algn="ctr" rtl="0" eaLnBrk="1" fontAlgn="base" hangingPunct="1">
              <a:spcBef>
                <a:spcPct val="20000"/>
              </a:spcBef>
              <a:spcAft>
                <a:spcPct val="0"/>
              </a:spcAft>
              <a:buFont typeface="Arial" panose="020B0604020202020204" pitchFamily="34" charset="0"/>
              <a:buNone/>
              <a:defRPr kumimoji="1" sz="1600" kern="1200">
                <a:solidFill>
                  <a:schemeClr val="tx1">
                    <a:tint val="75000"/>
                  </a:schemeClr>
                </a:solidFill>
                <a:latin typeface="HGP創英角ｺﾞｼｯｸUB" pitchFamily="50" charset="-128"/>
                <a:ea typeface="HGP創英角ｺﾞｼｯｸUB" pitchFamily="50" charset="-128"/>
                <a:cs typeface="+mn-cs"/>
              </a:defRPr>
            </a:lvl3pPr>
            <a:lvl4pPr marL="1371600" indent="0" algn="ctr" rtl="0" eaLnBrk="1" fontAlgn="base" hangingPunct="1">
              <a:spcBef>
                <a:spcPct val="20000"/>
              </a:spcBef>
              <a:spcAft>
                <a:spcPct val="0"/>
              </a:spcAft>
              <a:buFont typeface="Arial" panose="020B0604020202020204" pitchFamily="34" charset="0"/>
              <a:buNone/>
              <a:defRPr kumimoji="1" sz="1400" kern="1200">
                <a:solidFill>
                  <a:schemeClr val="tx1">
                    <a:tint val="75000"/>
                  </a:schemeClr>
                </a:solidFill>
                <a:latin typeface="HGP創英角ｺﾞｼｯｸUB" pitchFamily="50" charset="-128"/>
                <a:ea typeface="HGP創英角ｺﾞｼｯｸUB" pitchFamily="50" charset="-128"/>
                <a:cs typeface="+mn-cs"/>
              </a:defRPr>
            </a:lvl4pPr>
            <a:lvl5pPr marL="1828800" indent="0" algn="ctr" rtl="0" eaLnBrk="1" fontAlgn="base" hangingPunct="1">
              <a:spcBef>
                <a:spcPct val="20000"/>
              </a:spcBef>
              <a:spcAft>
                <a:spcPct val="0"/>
              </a:spcAft>
              <a:buFont typeface="Arial" panose="020B0604020202020204" pitchFamily="34" charset="0"/>
              <a:buNone/>
              <a:defRPr kumimoji="1" sz="1200" kern="1200">
                <a:solidFill>
                  <a:schemeClr val="tx1">
                    <a:tint val="75000"/>
                  </a:schemeClr>
                </a:solidFill>
                <a:latin typeface="HGP創英角ｺﾞｼｯｸUB" pitchFamily="50" charset="-128"/>
                <a:ea typeface="HGP創英角ｺﾞｼｯｸUB" pitchFamily="50" charset="-128"/>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fontAlgn="auto">
              <a:spcAft>
                <a:spcPts val="0"/>
              </a:spcAft>
              <a:defRPr/>
            </a:pPr>
            <a:r>
              <a:rPr lang="ja-JP" altLang="en-US" dirty="0">
                <a:latin typeface="UD デジタル 教科書体 NK-B" panose="02020700000000000000" pitchFamily="18" charset="-128"/>
                <a:ea typeface="UD デジタル 教科書体 NK-B" panose="02020700000000000000" pitchFamily="18" charset="-128"/>
              </a:rPr>
              <a:t>令和</a:t>
            </a:r>
            <a:r>
              <a:rPr lang="en-US" altLang="ja-JP" dirty="0">
                <a:latin typeface="UD デジタル 教科書体 NK-B" panose="02020700000000000000" pitchFamily="18" charset="-128"/>
                <a:ea typeface="UD デジタル 教科書体 NK-B" panose="02020700000000000000" pitchFamily="18" charset="-128"/>
              </a:rPr>
              <a:t>3</a:t>
            </a:r>
            <a:r>
              <a:rPr lang="ja-JP" altLang="en-US" dirty="0">
                <a:latin typeface="UD デジタル 教科書体 NK-B" panose="02020700000000000000" pitchFamily="18" charset="-128"/>
                <a:ea typeface="UD デジタル 教科書体 NK-B" panose="02020700000000000000" pitchFamily="18" charset="-128"/>
              </a:rPr>
              <a:t>年８月吉日</a:t>
            </a:r>
            <a:endParaRPr lang="en-US" altLang="ja-JP" dirty="0">
              <a:latin typeface="UD デジタル 教科書体 NK-B" panose="02020700000000000000" pitchFamily="18" charset="-128"/>
              <a:ea typeface="UD デジタル 教科書体 NK-B" panose="02020700000000000000" pitchFamily="18" charset="-128"/>
            </a:endParaRPr>
          </a:p>
        </p:txBody>
      </p:sp>
      <p:sp>
        <p:nvSpPr>
          <p:cNvPr id="2" name="テキスト ボックス 1">
            <a:extLst>
              <a:ext uri="{FF2B5EF4-FFF2-40B4-BE49-F238E27FC236}">
                <a16:creationId xmlns:a16="http://schemas.microsoft.com/office/drawing/2014/main" id="{496E538A-CEAA-4DE2-B57A-9DEE31F96108}"/>
              </a:ext>
            </a:extLst>
          </p:cNvPr>
          <p:cNvSpPr txBox="1"/>
          <p:nvPr/>
        </p:nvSpPr>
        <p:spPr>
          <a:xfrm>
            <a:off x="992560" y="2581453"/>
            <a:ext cx="9183536" cy="830997"/>
          </a:xfrm>
          <a:prstGeom prst="rect">
            <a:avLst/>
          </a:prstGeom>
          <a:noFill/>
        </p:spPr>
        <p:txBody>
          <a:bodyPr wrap="square" rtlCol="0">
            <a:spAutoFit/>
          </a:bodyPr>
          <a:lstStyle/>
          <a:p>
            <a:r>
              <a:rPr kumimoji="1" lang="ja-JP" altLang="en-US" sz="4800" dirty="0">
                <a:latin typeface="UD デジタル 教科書体 NP-B" panose="02020700000000000000" pitchFamily="18" charset="-128"/>
                <a:ea typeface="UD デジタル 教科書体 NP-B" panose="02020700000000000000" pitchFamily="18" charset="-128"/>
              </a:rPr>
              <a:t>　コーリングサポ笠岡（仮称）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E1F89-63BD-430C-AE4A-A61DA2A8316A}"/>
              </a:ext>
            </a:extLst>
          </p:cNvPr>
          <p:cNvSpPr>
            <a:spLocks noGrp="1"/>
          </p:cNvSpPr>
          <p:nvPr>
            <p:ph type="title"/>
          </p:nvPr>
        </p:nvSpPr>
        <p:spPr>
          <a:xfrm>
            <a:off x="632520" y="445433"/>
            <a:ext cx="3629412" cy="1450757"/>
          </a:xfrm>
        </p:spPr>
        <p:txBody>
          <a:bodyPr anchor="ctr">
            <a:normAutofit/>
          </a:bodyPr>
          <a:lstStyle/>
          <a:p>
            <a:r>
              <a:rPr lang="ja-JP" altLang="en-US" sz="2000" dirty="0">
                <a:solidFill>
                  <a:schemeClr val="tx1"/>
                </a:solidFill>
                <a:latin typeface="UD デジタル 教科書体 NP-B" panose="02020700000000000000" pitchFamily="18" charset="-128"/>
                <a:ea typeface="UD デジタル 教科書体 NP-B" panose="02020700000000000000" pitchFamily="18" charset="-128"/>
              </a:rPr>
              <a:t>合同会社</a:t>
            </a:r>
            <a:br>
              <a:rPr lang="en-US" altLang="ja-JP" sz="2000" dirty="0">
                <a:solidFill>
                  <a:schemeClr val="tx1"/>
                </a:solidFill>
                <a:latin typeface="UD デジタル 教科書体 NP-B" panose="02020700000000000000" pitchFamily="18" charset="-128"/>
                <a:ea typeface="UD デジタル 教科書体 NP-B" panose="02020700000000000000" pitchFamily="18" charset="-128"/>
              </a:rPr>
            </a:br>
            <a:r>
              <a:rPr lang="ja-JP" altLang="en-US" sz="2000" dirty="0">
                <a:solidFill>
                  <a:schemeClr val="tx1"/>
                </a:solidFill>
                <a:latin typeface="UD デジタル 教科書体 NP-B" panose="02020700000000000000" pitchFamily="18" charset="-128"/>
                <a:ea typeface="UD デジタル 教科書体 NP-B" panose="02020700000000000000" pitchFamily="18" charset="-128"/>
              </a:rPr>
              <a:t>　</a:t>
            </a:r>
            <a:r>
              <a:rPr lang="en-US" altLang="ja-JP" sz="2000" dirty="0">
                <a:solidFill>
                  <a:schemeClr val="tx1"/>
                </a:solidFill>
                <a:latin typeface="UD デジタル 教科書体 NP-B" panose="02020700000000000000" pitchFamily="18" charset="-128"/>
                <a:ea typeface="UD デジタル 教科書体 NP-B" panose="02020700000000000000" pitchFamily="18" charset="-128"/>
              </a:rPr>
              <a:t>DUG</a:t>
            </a:r>
            <a:r>
              <a:rPr lang="ja-JP" altLang="en-US" sz="2000" dirty="0">
                <a:solidFill>
                  <a:schemeClr val="tx1"/>
                </a:solidFill>
                <a:latin typeface="UD デジタル 教科書体 NP-B" panose="02020700000000000000" pitchFamily="18" charset="-128"/>
                <a:ea typeface="UD デジタル 教科書体 NP-B" panose="02020700000000000000" pitchFamily="18" charset="-128"/>
              </a:rPr>
              <a:t>研究所</a:t>
            </a:r>
            <a:br>
              <a:rPr lang="en-US" altLang="ja-JP" sz="2000" dirty="0">
                <a:solidFill>
                  <a:schemeClr val="tx1"/>
                </a:solidFill>
                <a:latin typeface="UD デジタル 教科書体 NP-B" panose="02020700000000000000" pitchFamily="18" charset="-128"/>
                <a:ea typeface="UD デジタル 教科書体 NP-B" panose="02020700000000000000" pitchFamily="18" charset="-128"/>
              </a:rPr>
            </a:br>
            <a:r>
              <a:rPr lang="ja-JP" altLang="en-US" sz="2000" dirty="0">
                <a:solidFill>
                  <a:schemeClr val="tx1"/>
                </a:solidFill>
                <a:latin typeface="UD デジタル 教科書体 NP-B" panose="02020700000000000000" pitchFamily="18" charset="-128"/>
                <a:ea typeface="UD デジタル 教科書体 NP-B" panose="02020700000000000000" pitchFamily="18" charset="-128"/>
              </a:rPr>
              <a:t>　法人理念</a:t>
            </a:r>
            <a:endParaRPr kumimoji="1" lang="ja-JP" altLang="en-US" sz="2000" dirty="0">
              <a:solidFill>
                <a:schemeClr val="tx1"/>
              </a:solidFill>
              <a:latin typeface="UD デジタル 教科書体 NP-B" panose="02020700000000000000" pitchFamily="18" charset="-128"/>
              <a:ea typeface="UD デジタル 教科書体 NP-B" panose="02020700000000000000" pitchFamily="18" charset="-128"/>
            </a:endParaRPr>
          </a:p>
        </p:txBody>
      </p:sp>
      <p:sp>
        <p:nvSpPr>
          <p:cNvPr id="8" name="コンテンツ プレースホルダー 2">
            <a:extLst>
              <a:ext uri="{FF2B5EF4-FFF2-40B4-BE49-F238E27FC236}">
                <a16:creationId xmlns:a16="http://schemas.microsoft.com/office/drawing/2014/main" id="{4490F77A-F9D0-4027-B110-16E92520C7BC}"/>
              </a:ext>
            </a:extLst>
          </p:cNvPr>
          <p:cNvSpPr>
            <a:spLocks noGrp="1"/>
          </p:cNvSpPr>
          <p:nvPr>
            <p:ph sz="half" idx="1"/>
          </p:nvPr>
        </p:nvSpPr>
        <p:spPr>
          <a:xfrm>
            <a:off x="200472" y="1845734"/>
            <a:ext cx="4702998" cy="4463586"/>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normAutofit fontScale="77500" lnSpcReduction="20000"/>
          </a:bodyPr>
          <a:lstStyle/>
          <a:p>
            <a:pPr marL="0" lvl="0" indent="0">
              <a:lnSpc>
                <a:spcPct val="110000"/>
              </a:lnSpc>
              <a:buNone/>
            </a:pPr>
            <a:r>
              <a:rPr lang="ja-JP" altLang="en-US" sz="1800" dirty="0">
                <a:solidFill>
                  <a:schemeClr val="bg1"/>
                </a:solidFill>
                <a:latin typeface="UD Digi Kyokasho NP-B" panose="02020700000000000000" pitchFamily="18" charset="-128"/>
                <a:ea typeface="UD Digi Kyokasho NP-B" panose="02020700000000000000" pitchFamily="18" charset="-128"/>
              </a:rPr>
              <a:t> </a:t>
            </a:r>
            <a:r>
              <a:rPr lang="ja-JP" altLang="en-US" sz="1700" dirty="0">
                <a:solidFill>
                  <a:schemeClr val="tx1"/>
                </a:solidFill>
                <a:latin typeface="UD Digi Kyokasho NP-B" panose="02020700000000000000" pitchFamily="18" charset="-128"/>
                <a:ea typeface="UD Digi Kyokasho NP-B" panose="02020700000000000000" pitchFamily="18" charset="-128"/>
              </a:rPr>
              <a:t>●</a:t>
            </a:r>
            <a:r>
              <a:rPr kumimoji="1" lang="ja-JP" altLang="en-US" sz="1700" dirty="0">
                <a:solidFill>
                  <a:schemeClr val="tx1"/>
                </a:solidFill>
                <a:latin typeface="UD Digi Kyokasho NP-B" panose="02020700000000000000" pitchFamily="18" charset="-128"/>
                <a:ea typeface="UD Digi Kyokasho NP-B" panose="02020700000000000000" pitchFamily="18" charset="-128"/>
              </a:rPr>
              <a:t>社名由来</a:t>
            </a:r>
            <a:br>
              <a:rPr kumimoji="1" lang="en-US" altLang="ja-JP" sz="1700" dirty="0">
                <a:solidFill>
                  <a:schemeClr val="tx1"/>
                </a:solidFill>
                <a:latin typeface="UD Digi Kyokasho NP-B" panose="02020700000000000000" pitchFamily="18" charset="-128"/>
                <a:ea typeface="UD Digi Kyokasho NP-B" panose="02020700000000000000" pitchFamily="18" charset="-128"/>
              </a:rPr>
            </a:br>
            <a:r>
              <a:rPr lang="ja-JP" altLang="en-US" sz="1700" b="0" i="0" u="none" strike="noStrike" kern="1200" baseline="0" dirty="0">
                <a:solidFill>
                  <a:schemeClr val="tx1"/>
                </a:solidFill>
                <a:latin typeface="UD Digi Kyokasho NP-B" panose="02020700000000000000" pitchFamily="18" charset="-128"/>
                <a:ea typeface="UD Digi Kyokasho NP-B" panose="02020700000000000000" pitchFamily="18" charset="-128"/>
              </a:rPr>
              <a:t>　</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DUG</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　     ＝　</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Dig-Up-Gifted </a:t>
            </a:r>
            <a:b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b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   </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Dig-Up    </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　掘り起こす</a:t>
            </a:r>
            <a:b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b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   </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Gifted  </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　＝  アンバランスな才能</a:t>
            </a:r>
            <a:b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b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  『</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アンバランスな才能を掘り起こせ！</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a:t>
            </a:r>
          </a:p>
          <a:p>
            <a:pPr marL="0" lvl="0" indent="0">
              <a:lnSpc>
                <a:spcPct val="110000"/>
              </a:lnSpc>
              <a:buNone/>
            </a:pPr>
            <a:r>
              <a:rPr lang="ja-JP" altLang="en-US" sz="1700" b="0" i="0" u="none" strike="noStrike" kern="1200" baseline="0" dirty="0">
                <a:solidFill>
                  <a:schemeClr val="tx1"/>
                </a:solidFill>
                <a:latin typeface="UD Digi Kyokasho NP-B" panose="02020700000000000000" pitchFamily="18" charset="-128"/>
                <a:ea typeface="UD Digi Kyokasho NP-B" panose="02020700000000000000" pitchFamily="18" charset="-128"/>
              </a:rPr>
              <a:t> ●経営理念</a:t>
            </a:r>
            <a:br>
              <a:rPr lang="en-US" altLang="ja-JP" sz="1700" b="0" i="0" u="none" strike="noStrike" kern="1200" baseline="0" dirty="0">
                <a:solidFill>
                  <a:schemeClr val="tx1"/>
                </a:solidFill>
                <a:latin typeface="UD Digi Kyokasho NP-B" panose="02020700000000000000" pitchFamily="18" charset="-128"/>
                <a:ea typeface="UD Digi Kyokasho NP-B" panose="02020700000000000000" pitchFamily="18" charset="-128"/>
              </a:rPr>
            </a:br>
            <a:r>
              <a:rPr lang="ja-JP" altLang="en-US" sz="1700" dirty="0">
                <a:solidFill>
                  <a:schemeClr val="tx1"/>
                </a:solidFill>
                <a:latin typeface="UD Digi Kyokasho NP-B" panose="02020700000000000000" pitchFamily="18" charset="-128"/>
                <a:ea typeface="UD Digi Kyokasho NP-B" panose="02020700000000000000" pitchFamily="18" charset="-128"/>
              </a:rPr>
              <a:t>  </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私たちは</a:t>
            </a:r>
            <a:b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b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 『</a:t>
            </a:r>
            <a:r>
              <a:rPr lang="ja-JP" altLang="en-US" sz="1700" dirty="0">
                <a:solidFill>
                  <a:schemeClr val="tx1"/>
                </a:solidFill>
                <a:latin typeface="UD デジタル 教科書体 NP-B" panose="02020700000000000000" pitchFamily="18" charset="-128"/>
                <a:ea typeface="UD デジタル 教科書体 NP-B" panose="02020700000000000000" pitchFamily="18" charset="-128"/>
              </a:rPr>
              <a:t>あなたの人生の主役があなたであることを保障する</a:t>
            </a:r>
            <a:r>
              <a:rPr lang="en-US" altLang="ja-JP" sz="1700" dirty="0">
                <a:solidFill>
                  <a:schemeClr val="tx1"/>
                </a:solidFill>
                <a:latin typeface="UD デジタル 教科書体 NP-B" panose="02020700000000000000" pitchFamily="18" charset="-128"/>
                <a:ea typeface="UD デジタル 教科書体 NP-B" panose="02020700000000000000" pitchFamily="18" charset="-128"/>
              </a:rPr>
              <a:t>』</a:t>
            </a:r>
          </a:p>
          <a:p>
            <a:pPr marL="0" lvl="0" indent="0">
              <a:lnSpc>
                <a:spcPct val="110000"/>
              </a:lnSpc>
              <a:buNone/>
            </a:pPr>
            <a:r>
              <a:rPr lang="en-US" altLang="ja-JP" sz="1700" dirty="0">
                <a:solidFill>
                  <a:schemeClr val="tx1"/>
                </a:solidFill>
                <a:latin typeface="UD Digi Kyokasho NP-B" panose="02020700000000000000" pitchFamily="18" charset="-128"/>
                <a:ea typeface="UD Digi Kyokasho NP-B" panose="02020700000000000000" pitchFamily="18" charset="-128"/>
              </a:rPr>
              <a:t>  </a:t>
            </a:r>
            <a:r>
              <a:rPr lang="ja-JP" altLang="en-US" sz="1700" dirty="0">
                <a:solidFill>
                  <a:schemeClr val="tx1"/>
                </a:solidFill>
                <a:latin typeface="UD Digi Kyokasho NP-B" panose="02020700000000000000" pitchFamily="18" charset="-128"/>
                <a:ea typeface="UD Digi Kyokasho NP-B" panose="02020700000000000000" pitchFamily="18" charset="-128"/>
              </a:rPr>
              <a:t>●事業フレーム</a:t>
            </a:r>
            <a:endParaRPr lang="en-US" altLang="ja-JP" sz="1700" dirty="0">
              <a:solidFill>
                <a:schemeClr val="tx1"/>
              </a:solidFill>
              <a:latin typeface="UD Digi Kyokasho NP-B" panose="02020700000000000000" pitchFamily="18" charset="-128"/>
              <a:ea typeface="UD Digi Kyokasho NP-B" panose="02020700000000000000" pitchFamily="18" charset="-128"/>
            </a:endParaRPr>
          </a:p>
          <a:p>
            <a:pPr marL="0" lvl="0" indent="0">
              <a:lnSpc>
                <a:spcPct val="110000"/>
              </a:lnSpc>
              <a:buNone/>
            </a:pPr>
            <a:endParaRPr lang="en-US" altLang="ja-JP" sz="1700" dirty="0">
              <a:solidFill>
                <a:schemeClr val="bg1"/>
              </a:solidFill>
              <a:latin typeface="UD Digi Kyokasho NP-B" panose="02020700000000000000" pitchFamily="18" charset="-128"/>
              <a:ea typeface="UD Digi Kyokasho NP-B" panose="02020700000000000000" pitchFamily="18" charset="-128"/>
            </a:endParaRPr>
          </a:p>
          <a:p>
            <a:pPr marL="0" lvl="0" indent="0">
              <a:lnSpc>
                <a:spcPct val="110000"/>
              </a:lnSpc>
              <a:buNone/>
            </a:pPr>
            <a:endParaRPr lang="en-US" altLang="ja-JP" sz="1700" dirty="0">
              <a:solidFill>
                <a:schemeClr val="bg1"/>
              </a:solidFill>
              <a:latin typeface="UD Digi Kyokasho NP-B" panose="02020700000000000000" pitchFamily="18" charset="-128"/>
              <a:ea typeface="UD Digi Kyokasho NP-B" panose="02020700000000000000" pitchFamily="18" charset="-128"/>
            </a:endParaRPr>
          </a:p>
          <a:p>
            <a:pPr marL="0" lvl="0" indent="0">
              <a:lnSpc>
                <a:spcPct val="110000"/>
              </a:lnSpc>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lvl="0" indent="0">
              <a:lnSpc>
                <a:spcPct val="110000"/>
              </a:lnSpc>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lvl="0" indent="0">
              <a:lnSpc>
                <a:spcPct val="110000"/>
              </a:lnSpc>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lvl="0" indent="0">
              <a:lnSpc>
                <a:spcPct val="110000"/>
              </a:lnSpc>
              <a:buNone/>
            </a:pPr>
            <a:r>
              <a:rPr lang="ja-JP" altLang="en-US" sz="1800" dirty="0">
                <a:solidFill>
                  <a:schemeClr val="bg1"/>
                </a:solidFill>
                <a:latin typeface="UD Digi Kyokasho NP-B" panose="02020700000000000000" pitchFamily="18" charset="-128"/>
                <a:ea typeface="UD Digi Kyokasho NP-B" panose="02020700000000000000" pitchFamily="18" charset="-128"/>
              </a:rPr>
              <a:t>　</a:t>
            </a:r>
            <a:endParaRPr kumimoji="1" lang="ja-JP" altLang="en-US" sz="1800" b="0" i="0" u="none" strike="noStrike" kern="1200" baseline="0" dirty="0">
              <a:solidFill>
                <a:schemeClr val="bg1"/>
              </a:solidFill>
              <a:latin typeface="UD Digi Kyokasho NP-B" panose="02020700000000000000" pitchFamily="18" charset="-128"/>
              <a:ea typeface="UD Digi Kyokasho NP-B" panose="02020700000000000000" pitchFamily="18" charset="-128"/>
            </a:endParaRPr>
          </a:p>
        </p:txBody>
      </p:sp>
      <p:sp>
        <p:nvSpPr>
          <p:cNvPr id="9" name="テキスト ボックス 8">
            <a:extLst>
              <a:ext uri="{FF2B5EF4-FFF2-40B4-BE49-F238E27FC236}">
                <a16:creationId xmlns:a16="http://schemas.microsoft.com/office/drawing/2014/main" id="{08D16405-B2B0-4504-ABEA-02B3B0AA5686}"/>
              </a:ext>
            </a:extLst>
          </p:cNvPr>
          <p:cNvSpPr txBox="1"/>
          <p:nvPr/>
        </p:nvSpPr>
        <p:spPr>
          <a:xfrm>
            <a:off x="4903470" y="662981"/>
            <a:ext cx="4104456" cy="1015663"/>
          </a:xfrm>
          <a:prstGeom prst="rect">
            <a:avLst/>
          </a:prstGeom>
          <a:noFill/>
        </p:spPr>
        <p:txBody>
          <a:bodyPr wrap="square" rtlCol="0">
            <a:spAutoFit/>
          </a:bodyPr>
          <a:lstStyle/>
          <a:p>
            <a:r>
              <a:rPr kumimoji="1" lang="ja-JP" altLang="en-US" sz="2000" dirty="0">
                <a:latin typeface="UD デジタル 教科書体 NP-B" panose="02020700000000000000" pitchFamily="18" charset="-128"/>
                <a:ea typeface="UD デジタル 教科書体 NP-B" panose="02020700000000000000" pitchFamily="18" charset="-128"/>
              </a:rPr>
              <a:t>就労移行支援施設</a:t>
            </a:r>
            <a:endParaRPr kumimoji="1" lang="en-US" altLang="ja-JP" sz="2000" dirty="0">
              <a:latin typeface="UD デジタル 教科書体 NP-B" panose="02020700000000000000" pitchFamily="18" charset="-128"/>
              <a:ea typeface="UD デジタル 教科書体 NP-B" panose="02020700000000000000" pitchFamily="18" charset="-128"/>
            </a:endParaRPr>
          </a:p>
          <a:p>
            <a:r>
              <a:rPr kumimoji="1" lang="ja-JP" altLang="en-US" sz="2000" dirty="0">
                <a:latin typeface="UD デジタル 教科書体 NP-B" panose="02020700000000000000" pitchFamily="18" charset="-128"/>
                <a:ea typeface="UD デジタル 教科書体 NP-B" panose="02020700000000000000" pitchFamily="18" charset="-128"/>
              </a:rPr>
              <a:t>　コーリング</a:t>
            </a:r>
            <a:r>
              <a:rPr kumimoji="1" lang="en-US" altLang="ja-JP" sz="2000" dirty="0">
                <a:latin typeface="UD デジタル 教科書体 NP-B" panose="02020700000000000000" pitchFamily="18" charset="-128"/>
                <a:ea typeface="UD デジタル 教科書体 NP-B" panose="02020700000000000000" pitchFamily="18" charset="-128"/>
              </a:rPr>
              <a:t>-</a:t>
            </a:r>
            <a:r>
              <a:rPr kumimoji="1" lang="ja-JP" altLang="en-US" sz="2000" dirty="0">
                <a:latin typeface="UD デジタル 教科書体 NP-B" panose="02020700000000000000" pitchFamily="18" charset="-128"/>
                <a:ea typeface="UD デジタル 教科書体 NP-B" panose="02020700000000000000" pitchFamily="18" charset="-128"/>
              </a:rPr>
              <a:t>サポ笠岡</a:t>
            </a:r>
            <a:endParaRPr kumimoji="1" lang="en-US" altLang="ja-JP" sz="2000" dirty="0">
              <a:latin typeface="UD デジタル 教科書体 NP-B" panose="02020700000000000000" pitchFamily="18" charset="-128"/>
              <a:ea typeface="UD デジタル 教科書体 NP-B" panose="02020700000000000000" pitchFamily="18" charset="-128"/>
            </a:endParaRPr>
          </a:p>
          <a:p>
            <a:r>
              <a:rPr kumimoji="1" lang="ja-JP" altLang="en-US" sz="2000" dirty="0">
                <a:latin typeface="UD デジタル 教科書体 NP-B" panose="02020700000000000000" pitchFamily="18" charset="-128"/>
                <a:ea typeface="UD デジタル 教科書体 NP-B" panose="02020700000000000000" pitchFamily="18" charset="-128"/>
              </a:rPr>
              <a:t>　施設理念</a:t>
            </a:r>
            <a:endParaRPr kumimoji="1" lang="en-US" altLang="ja-JP" sz="2000" dirty="0">
              <a:latin typeface="UD デジタル 教科書体 NP-B" panose="02020700000000000000" pitchFamily="18" charset="-128"/>
              <a:ea typeface="UD デジタル 教科書体 NP-B" panose="02020700000000000000" pitchFamily="18" charset="-128"/>
            </a:endParaRPr>
          </a:p>
        </p:txBody>
      </p:sp>
      <p:pic>
        <p:nvPicPr>
          <p:cNvPr id="5" name="図 4">
            <a:extLst>
              <a:ext uri="{FF2B5EF4-FFF2-40B4-BE49-F238E27FC236}">
                <a16:creationId xmlns:a16="http://schemas.microsoft.com/office/drawing/2014/main" id="{557B6BE4-F916-4612-ADD3-85F8BDBB66C1}"/>
              </a:ext>
            </a:extLst>
          </p:cNvPr>
          <p:cNvPicPr>
            <a:picLocks noChangeAspect="1"/>
          </p:cNvPicPr>
          <p:nvPr/>
        </p:nvPicPr>
        <p:blipFill>
          <a:blip r:embed="rId2"/>
          <a:stretch>
            <a:fillRect/>
          </a:stretch>
        </p:blipFill>
        <p:spPr>
          <a:xfrm>
            <a:off x="416496" y="4077072"/>
            <a:ext cx="4248472" cy="2156171"/>
          </a:xfrm>
          <a:prstGeom prst="rect">
            <a:avLst/>
          </a:prstGeom>
        </p:spPr>
      </p:pic>
      <p:sp>
        <p:nvSpPr>
          <p:cNvPr id="11" name="コンテンツ プレースホルダー 2">
            <a:extLst>
              <a:ext uri="{FF2B5EF4-FFF2-40B4-BE49-F238E27FC236}">
                <a16:creationId xmlns:a16="http://schemas.microsoft.com/office/drawing/2014/main" id="{2F6AD9E9-6A02-423F-B38A-2489DB5822A1}"/>
              </a:ext>
            </a:extLst>
          </p:cNvPr>
          <p:cNvSpPr txBox="1">
            <a:spLocks/>
          </p:cNvSpPr>
          <p:nvPr/>
        </p:nvSpPr>
        <p:spPr>
          <a:xfrm>
            <a:off x="5093118" y="1845734"/>
            <a:ext cx="4702998" cy="4463586"/>
          </a:xfrm>
          <a:prstGeom prst="rect">
            <a:avLst/>
          </a:prstGeom>
          <a:solidFill>
            <a:schemeClr val="accent1">
              <a:alpha val="50000"/>
            </a:schemeClr>
          </a:solidFill>
        </p:spPr>
        <p:style>
          <a:lnRef idx="0">
            <a:scrgbClr r="0" g="0" b="0"/>
          </a:lnRef>
          <a:fillRef idx="0">
            <a:scrgbClr r="0" g="0" b="0"/>
          </a:fillRef>
          <a:effectRef idx="0">
            <a:scrgbClr r="0" g="0" b="0"/>
          </a:effectRef>
          <a:fontRef idx="minor">
            <a:schemeClr val="lt1"/>
          </a:fontRef>
        </p:style>
        <p:txBody>
          <a:bodyPr vert="horz" lIns="0" tIns="45720" rIns="0" bIns="45720" rtlCol="0" anchor="ctr">
            <a:normAutofit fontScale="70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lt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lt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lt1"/>
                </a:solidFill>
                <a:latin typeface="+mn-lt"/>
                <a:ea typeface="+mn-ea"/>
                <a:cs typeface="+mn-cs"/>
              </a:defRPr>
            </a:lvl9pPr>
          </a:lstStyle>
          <a:p>
            <a:pPr marL="0" indent="0">
              <a:lnSpc>
                <a:spcPct val="110000"/>
              </a:lnSpc>
              <a:buFont typeface="Calibri" panose="020F0502020204030204" pitchFamily="34" charset="0"/>
              <a:buNone/>
            </a:pPr>
            <a:r>
              <a:rPr lang="ja-JP" altLang="en-US" sz="1800" dirty="0">
                <a:solidFill>
                  <a:schemeClr val="bg1"/>
                </a:solidFill>
                <a:latin typeface="UD Digi Kyokasho NP-B" panose="02020700000000000000" pitchFamily="18" charset="-128"/>
                <a:ea typeface="UD Digi Kyokasho NP-B" panose="02020700000000000000" pitchFamily="18" charset="-128"/>
              </a:rPr>
              <a:t> </a:t>
            </a:r>
            <a:r>
              <a:rPr lang="ja-JP" altLang="en-US" sz="1900" dirty="0">
                <a:solidFill>
                  <a:schemeClr val="tx1"/>
                </a:solidFill>
                <a:latin typeface="UD Digi Kyokasho NP-B" panose="02020700000000000000" pitchFamily="18" charset="-128"/>
                <a:ea typeface="UD Digi Kyokasho NP-B" panose="02020700000000000000" pitchFamily="18" charset="-128"/>
              </a:rPr>
              <a:t>●施設名由来</a:t>
            </a:r>
            <a:br>
              <a:rPr lang="en-US" altLang="ja-JP" sz="1900" dirty="0">
                <a:solidFill>
                  <a:schemeClr val="tx1"/>
                </a:solidFill>
                <a:latin typeface="UD Digi Kyokasho NP-B" panose="02020700000000000000" pitchFamily="18" charset="-128"/>
                <a:ea typeface="UD Digi Kyokasho NP-B" panose="02020700000000000000" pitchFamily="18" charset="-128"/>
              </a:rPr>
            </a:br>
            <a:r>
              <a:rPr lang="ja-JP" altLang="en-US" sz="1900" dirty="0">
                <a:solidFill>
                  <a:schemeClr val="tx1"/>
                </a:solidFill>
                <a:latin typeface="UD Digi Kyokasho NP-B" panose="02020700000000000000" pitchFamily="18" charset="-128"/>
                <a:ea typeface="UD Digi Kyokasho NP-B" panose="02020700000000000000" pitchFamily="18" charset="-128"/>
              </a:rPr>
              <a:t>　コーリング　＝　</a:t>
            </a:r>
            <a:r>
              <a:rPr lang="en-US" altLang="ja-JP" sz="1900" dirty="0">
                <a:solidFill>
                  <a:schemeClr val="tx1"/>
                </a:solidFill>
                <a:latin typeface="UD Digi Kyokasho NP-B" panose="02020700000000000000" pitchFamily="18" charset="-128"/>
                <a:ea typeface="UD Digi Kyokasho NP-B" panose="02020700000000000000" pitchFamily="18" charset="-128"/>
              </a:rPr>
              <a:t>Calling</a:t>
            </a:r>
            <a:r>
              <a:rPr lang="ja-JP" altLang="en-US" sz="1900" dirty="0">
                <a:solidFill>
                  <a:schemeClr val="tx1"/>
                </a:solidFill>
                <a:latin typeface="UD Digi Kyokasho NP-B" panose="02020700000000000000" pitchFamily="18" charset="-128"/>
                <a:ea typeface="UD Digi Kyokasho NP-B" panose="02020700000000000000" pitchFamily="18" charset="-128"/>
              </a:rPr>
              <a:t>　＝　天職　</a:t>
            </a:r>
            <a:br>
              <a:rPr lang="en-US" altLang="ja-JP" sz="1900" dirty="0">
                <a:solidFill>
                  <a:schemeClr val="tx1"/>
                </a:solidFill>
                <a:latin typeface="UD Digi Kyokasho NP-B" panose="02020700000000000000" pitchFamily="18" charset="-128"/>
                <a:ea typeface="UD Digi Kyokasho NP-B" panose="02020700000000000000" pitchFamily="18" charset="-128"/>
              </a:rPr>
            </a:br>
            <a:r>
              <a:rPr lang="ja-JP" altLang="en-US" sz="1900" dirty="0">
                <a:solidFill>
                  <a:schemeClr val="tx1"/>
                </a:solidFill>
                <a:latin typeface="UD Digi Kyokasho NP-B" panose="02020700000000000000" pitchFamily="18" charset="-128"/>
                <a:ea typeface="UD Digi Kyokasho NP-B" panose="02020700000000000000" pitchFamily="18" charset="-128"/>
              </a:rPr>
              <a:t>　サポ　　　　＝　</a:t>
            </a:r>
            <a:r>
              <a:rPr lang="en-US" altLang="ja-JP" sz="1900" dirty="0">
                <a:solidFill>
                  <a:schemeClr val="tx1"/>
                </a:solidFill>
                <a:latin typeface="UD Digi Kyokasho NP-B" panose="02020700000000000000" pitchFamily="18" charset="-128"/>
                <a:ea typeface="UD Digi Kyokasho NP-B" panose="02020700000000000000" pitchFamily="18" charset="-128"/>
              </a:rPr>
              <a:t>Support</a:t>
            </a:r>
            <a:r>
              <a:rPr lang="ja-JP" altLang="en-US" sz="1900" dirty="0">
                <a:solidFill>
                  <a:schemeClr val="tx1"/>
                </a:solidFill>
                <a:latin typeface="UD Digi Kyokasho NP-B" panose="02020700000000000000" pitchFamily="18" charset="-128"/>
                <a:ea typeface="UD Digi Kyokasho NP-B" panose="02020700000000000000" pitchFamily="18" charset="-128"/>
              </a:rPr>
              <a:t>  </a:t>
            </a:r>
            <a:r>
              <a:rPr lang="en-US" altLang="ja-JP" sz="1900" dirty="0">
                <a:solidFill>
                  <a:schemeClr val="tx1"/>
                </a:solidFill>
                <a:latin typeface="UD Digi Kyokasho NP-B" panose="02020700000000000000" pitchFamily="18" charset="-128"/>
                <a:ea typeface="UD Digi Kyokasho NP-B" panose="02020700000000000000" pitchFamily="18" charset="-128"/>
              </a:rPr>
              <a:t>=</a:t>
            </a:r>
            <a:r>
              <a:rPr lang="ja-JP" altLang="en-US" sz="1900" dirty="0">
                <a:solidFill>
                  <a:schemeClr val="tx1"/>
                </a:solidFill>
                <a:latin typeface="UD Digi Kyokasho NP-B" panose="02020700000000000000" pitchFamily="18" charset="-128"/>
                <a:ea typeface="UD Digi Kyokasho NP-B" panose="02020700000000000000" pitchFamily="18" charset="-128"/>
              </a:rPr>
              <a:t>   支援　≒　伴走</a:t>
            </a:r>
            <a:br>
              <a:rPr lang="en-US" altLang="ja-JP" sz="1900" dirty="0">
                <a:solidFill>
                  <a:schemeClr val="tx1"/>
                </a:solidFill>
                <a:latin typeface="UD Digi Kyokasho NP-B" panose="02020700000000000000" pitchFamily="18" charset="-128"/>
                <a:ea typeface="UD Digi Kyokasho NP-B" panose="02020700000000000000" pitchFamily="18" charset="-128"/>
              </a:rPr>
            </a:br>
            <a:r>
              <a:rPr lang="ja-JP" altLang="en-US" sz="1900" dirty="0">
                <a:solidFill>
                  <a:schemeClr val="tx1"/>
                </a:solidFill>
                <a:latin typeface="UD Digi Kyokasho NP-B" panose="02020700000000000000" pitchFamily="18" charset="-128"/>
                <a:ea typeface="UD Digi Kyokasho NP-B" panose="02020700000000000000" pitchFamily="18" charset="-128"/>
              </a:rPr>
              <a:t>　</a:t>
            </a:r>
            <a:r>
              <a:rPr lang="en-US" altLang="ja-JP" sz="1900" dirty="0">
                <a:solidFill>
                  <a:schemeClr val="tx1"/>
                </a:solidFill>
                <a:latin typeface="UD Digi Kyokasho NP-B" panose="02020700000000000000" pitchFamily="18" charset="-128"/>
                <a:ea typeface="UD Digi Kyokasho NP-B" panose="02020700000000000000" pitchFamily="18" charset="-128"/>
              </a:rPr>
              <a:t>『</a:t>
            </a:r>
            <a:r>
              <a:rPr lang="ja-JP" altLang="en-US" sz="1900" dirty="0">
                <a:solidFill>
                  <a:schemeClr val="tx1"/>
                </a:solidFill>
                <a:latin typeface="UD Digi Kyokasho NP-B" panose="02020700000000000000" pitchFamily="18" charset="-128"/>
                <a:ea typeface="UD Digi Kyokasho NP-B" panose="02020700000000000000" pitchFamily="18" charset="-128"/>
              </a:rPr>
              <a:t>一生を捧げる役割を共に探し見つける</a:t>
            </a:r>
            <a:r>
              <a:rPr lang="en-US" altLang="ja-JP" sz="1900" dirty="0">
                <a:solidFill>
                  <a:schemeClr val="tx1"/>
                </a:solidFill>
                <a:latin typeface="UD Digi Kyokasho NP-B" panose="02020700000000000000" pitchFamily="18" charset="-128"/>
                <a:ea typeface="UD Digi Kyokasho NP-B" panose="02020700000000000000" pitchFamily="18" charset="-128"/>
              </a:rPr>
              <a:t>』</a:t>
            </a:r>
          </a:p>
          <a:p>
            <a:pPr marL="0" indent="0">
              <a:lnSpc>
                <a:spcPct val="110000"/>
              </a:lnSpc>
              <a:buFont typeface="Calibri" panose="020F0502020204030204" pitchFamily="34" charset="0"/>
              <a:buNone/>
            </a:pPr>
            <a:r>
              <a:rPr lang="ja-JP" altLang="en-US" sz="1900" dirty="0">
                <a:solidFill>
                  <a:schemeClr val="tx1"/>
                </a:solidFill>
                <a:latin typeface="UD Digi Kyokasho NP-B" panose="02020700000000000000" pitchFamily="18" charset="-128"/>
                <a:ea typeface="UD Digi Kyokasho NP-B" panose="02020700000000000000" pitchFamily="18" charset="-128"/>
              </a:rPr>
              <a:t> ●施設理念</a:t>
            </a:r>
            <a:br>
              <a:rPr lang="en-US" altLang="ja-JP" sz="1900" dirty="0">
                <a:solidFill>
                  <a:schemeClr val="tx1"/>
                </a:solidFill>
                <a:latin typeface="UD デジタル 教科書体 NP-B" panose="02020700000000000000" pitchFamily="18" charset="-128"/>
                <a:ea typeface="UD デジタル 教科書体 NP-B" panose="02020700000000000000" pitchFamily="18" charset="-128"/>
              </a:rPr>
            </a:br>
            <a:r>
              <a:rPr lang="en-US" altLang="ja-JP" sz="1900" dirty="0">
                <a:solidFill>
                  <a:schemeClr val="tx1"/>
                </a:solidFill>
                <a:latin typeface="UD デジタル 教科書体 NP-B" panose="02020700000000000000" pitchFamily="18" charset="-128"/>
                <a:ea typeface="UD デジタル 教科書体 NP-B" panose="02020700000000000000" pitchFamily="18" charset="-128"/>
              </a:rPr>
              <a:t> 『</a:t>
            </a:r>
            <a:r>
              <a:rPr lang="ja-JP" altLang="en-US" sz="1900" dirty="0">
                <a:solidFill>
                  <a:schemeClr val="tx1"/>
                </a:solidFill>
                <a:latin typeface="UD デジタル 教科書体 NP-B" panose="02020700000000000000" pitchFamily="18" charset="-128"/>
                <a:ea typeface="UD デジタル 教科書体 NP-B" panose="02020700000000000000" pitchFamily="18" charset="-128"/>
              </a:rPr>
              <a:t>あなたの人生の目的を充足する役割にチャレンジできる環境</a:t>
            </a:r>
            <a:br>
              <a:rPr lang="en-US" altLang="ja-JP" sz="1900" dirty="0">
                <a:solidFill>
                  <a:schemeClr val="tx1"/>
                </a:solidFill>
                <a:latin typeface="UD デジタル 教科書体 NP-B" panose="02020700000000000000" pitchFamily="18" charset="-128"/>
                <a:ea typeface="UD デジタル 教科書体 NP-B" panose="02020700000000000000" pitchFamily="18" charset="-128"/>
              </a:rPr>
            </a:br>
            <a:r>
              <a:rPr lang="ja-JP" altLang="en-US" sz="1900" dirty="0">
                <a:solidFill>
                  <a:schemeClr val="tx1"/>
                </a:solidFill>
                <a:latin typeface="UD デジタル 教科書体 NP-B" panose="02020700000000000000" pitchFamily="18" charset="-128"/>
                <a:ea typeface="UD デジタル 教科書体 NP-B" panose="02020700000000000000" pitchFamily="18" charset="-128"/>
              </a:rPr>
              <a:t>　を全力で準備します。</a:t>
            </a:r>
            <a:r>
              <a:rPr lang="en-US" altLang="ja-JP" sz="1900" dirty="0">
                <a:solidFill>
                  <a:schemeClr val="tx1"/>
                </a:solidFill>
                <a:latin typeface="UD デジタル 教科書体 NP-B" panose="02020700000000000000" pitchFamily="18" charset="-128"/>
                <a:ea typeface="UD デジタル 教科書体 NP-B" panose="02020700000000000000" pitchFamily="18" charset="-128"/>
              </a:rPr>
              <a:t>』</a:t>
            </a:r>
          </a:p>
          <a:p>
            <a:pPr marL="0" indent="0">
              <a:lnSpc>
                <a:spcPct val="110000"/>
              </a:lnSpc>
              <a:buFont typeface="Calibri" panose="020F0502020204030204" pitchFamily="34" charset="0"/>
              <a:buNone/>
            </a:pPr>
            <a:r>
              <a:rPr lang="en-US" altLang="ja-JP" sz="1900" dirty="0">
                <a:solidFill>
                  <a:schemeClr val="tx1"/>
                </a:solidFill>
                <a:latin typeface="UD Digi Kyokasho NP-B" panose="02020700000000000000" pitchFamily="18" charset="-128"/>
                <a:ea typeface="UD Digi Kyokasho NP-B" panose="02020700000000000000" pitchFamily="18" charset="-128"/>
              </a:rPr>
              <a:t>  </a:t>
            </a:r>
            <a:r>
              <a:rPr lang="ja-JP" altLang="en-US" sz="1900" dirty="0">
                <a:solidFill>
                  <a:schemeClr val="tx1"/>
                </a:solidFill>
                <a:latin typeface="UD Digi Kyokasho NP-B" panose="02020700000000000000" pitchFamily="18" charset="-128"/>
                <a:ea typeface="UD Digi Kyokasho NP-B" panose="02020700000000000000" pitchFamily="18" charset="-128"/>
              </a:rPr>
              <a:t>●事業フレーム</a:t>
            </a:r>
            <a:endParaRPr lang="en-US" altLang="ja-JP" sz="1900" dirty="0">
              <a:solidFill>
                <a:schemeClr val="tx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endParaRPr lang="en-US" altLang="ja-JP" sz="1800" dirty="0">
              <a:solidFill>
                <a:schemeClr val="bg1"/>
              </a:solidFill>
              <a:latin typeface="UD Digi Kyokasho NP-B" panose="02020700000000000000" pitchFamily="18" charset="-128"/>
              <a:ea typeface="UD Digi Kyokasho NP-B" panose="02020700000000000000" pitchFamily="18" charset="-128"/>
            </a:endParaRPr>
          </a:p>
          <a:p>
            <a:pPr marL="0" indent="0">
              <a:lnSpc>
                <a:spcPct val="110000"/>
              </a:lnSpc>
              <a:buFont typeface="Calibri" panose="020F0502020204030204" pitchFamily="34" charset="0"/>
              <a:buNone/>
            </a:pPr>
            <a:r>
              <a:rPr lang="ja-JP" altLang="en-US" sz="1800" dirty="0">
                <a:solidFill>
                  <a:schemeClr val="bg1"/>
                </a:solidFill>
                <a:latin typeface="UD Digi Kyokasho NP-B" panose="02020700000000000000" pitchFamily="18" charset="-128"/>
                <a:ea typeface="UD Digi Kyokasho NP-B" panose="02020700000000000000" pitchFamily="18" charset="-128"/>
              </a:rPr>
              <a:t>　</a:t>
            </a:r>
          </a:p>
        </p:txBody>
      </p:sp>
      <p:pic>
        <p:nvPicPr>
          <p:cNvPr id="6" name="図 5">
            <a:extLst>
              <a:ext uri="{FF2B5EF4-FFF2-40B4-BE49-F238E27FC236}">
                <a16:creationId xmlns:a16="http://schemas.microsoft.com/office/drawing/2014/main" id="{2C45AF38-37AE-4528-868C-9D1B45FB5204}"/>
              </a:ext>
            </a:extLst>
          </p:cNvPr>
          <p:cNvPicPr>
            <a:picLocks noChangeAspect="1"/>
          </p:cNvPicPr>
          <p:nvPr/>
        </p:nvPicPr>
        <p:blipFill>
          <a:blip r:embed="rId3"/>
          <a:stretch>
            <a:fillRect/>
          </a:stretch>
        </p:blipFill>
        <p:spPr>
          <a:xfrm>
            <a:off x="5241032" y="3708406"/>
            <a:ext cx="4392488" cy="2524838"/>
          </a:xfrm>
          <a:prstGeom prst="rect">
            <a:avLst/>
          </a:prstGeom>
        </p:spPr>
      </p:pic>
    </p:spTree>
    <p:extLst>
      <p:ext uri="{BB962C8B-B14F-4D97-AF65-F5344CB8AC3E}">
        <p14:creationId xmlns:p14="http://schemas.microsoft.com/office/powerpoint/2010/main" val="100877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E1F89-63BD-430C-AE4A-A61DA2A8316A}"/>
              </a:ext>
            </a:extLst>
          </p:cNvPr>
          <p:cNvSpPr>
            <a:spLocks noGrp="1"/>
          </p:cNvSpPr>
          <p:nvPr>
            <p:ph type="title" orient="vert"/>
          </p:nvPr>
        </p:nvSpPr>
        <p:spPr>
          <a:xfrm>
            <a:off x="8625408" y="424887"/>
            <a:ext cx="816346" cy="5757421"/>
          </a:xfrm>
        </p:spPr>
        <p:txBody>
          <a:bodyPr>
            <a:normAutofit/>
          </a:bodyPr>
          <a:lstStyle/>
          <a:p>
            <a:r>
              <a:rPr lang="ja-JP" altLang="en-US" sz="3600" dirty="0">
                <a:latin typeface="UD デジタル 教科書体 NP-B" panose="02020700000000000000" pitchFamily="18" charset="-128"/>
                <a:ea typeface="UD デジタル 教科書体 NP-B" panose="02020700000000000000" pitchFamily="18" charset="-128"/>
              </a:rPr>
              <a:t>役員等及びスタッフ</a:t>
            </a:r>
            <a:endParaRPr kumimoji="1" lang="ja-JP" altLang="en-US" sz="3600" dirty="0">
              <a:latin typeface="UD デジタル 教科書体 NP-B" panose="02020700000000000000" pitchFamily="18" charset="-128"/>
              <a:ea typeface="UD デジタル 教科書体 NP-B" panose="02020700000000000000" pitchFamily="18" charset="-128"/>
            </a:endParaRPr>
          </a:p>
        </p:txBody>
      </p:sp>
      <p:pic>
        <p:nvPicPr>
          <p:cNvPr id="4" name="図 3">
            <a:extLst>
              <a:ext uri="{FF2B5EF4-FFF2-40B4-BE49-F238E27FC236}">
                <a16:creationId xmlns:a16="http://schemas.microsoft.com/office/drawing/2014/main" id="{C9740972-D9E2-4D62-A354-0DFF9A97314D}"/>
              </a:ext>
            </a:extLst>
          </p:cNvPr>
          <p:cNvPicPr>
            <a:picLocks noChangeAspect="1"/>
          </p:cNvPicPr>
          <p:nvPr/>
        </p:nvPicPr>
        <p:blipFill>
          <a:blip r:embed="rId2"/>
          <a:stretch>
            <a:fillRect/>
          </a:stretch>
        </p:blipFill>
        <p:spPr>
          <a:xfrm>
            <a:off x="464246" y="2042592"/>
            <a:ext cx="8292570" cy="4104456"/>
          </a:xfrm>
          <a:prstGeom prst="rect">
            <a:avLst/>
          </a:prstGeom>
        </p:spPr>
      </p:pic>
    </p:spTree>
    <p:extLst>
      <p:ext uri="{BB962C8B-B14F-4D97-AF65-F5344CB8AC3E}">
        <p14:creationId xmlns:p14="http://schemas.microsoft.com/office/powerpoint/2010/main" val="659350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504C1486-059C-480C-9547-83FF266A623A}"/>
              </a:ext>
            </a:extLst>
          </p:cNvPr>
          <p:cNvPicPr>
            <a:picLocks noChangeAspect="1"/>
          </p:cNvPicPr>
          <p:nvPr/>
        </p:nvPicPr>
        <p:blipFill>
          <a:blip r:embed="rId2"/>
          <a:stretch>
            <a:fillRect/>
          </a:stretch>
        </p:blipFill>
        <p:spPr>
          <a:xfrm>
            <a:off x="146045" y="667253"/>
            <a:ext cx="3107945" cy="3601731"/>
          </a:xfrm>
          <a:prstGeom prst="rect">
            <a:avLst/>
          </a:prstGeom>
        </p:spPr>
        <p:style>
          <a:lnRef idx="2">
            <a:schemeClr val="dk1"/>
          </a:lnRef>
          <a:fillRef idx="1">
            <a:schemeClr val="lt1"/>
          </a:fillRef>
          <a:effectRef idx="0">
            <a:schemeClr val="dk1"/>
          </a:effectRef>
          <a:fontRef idx="minor">
            <a:schemeClr val="dk1"/>
          </a:fontRef>
        </p:style>
      </p:pic>
      <p:pic>
        <p:nvPicPr>
          <p:cNvPr id="6" name="図 5">
            <a:extLst>
              <a:ext uri="{FF2B5EF4-FFF2-40B4-BE49-F238E27FC236}">
                <a16:creationId xmlns:a16="http://schemas.microsoft.com/office/drawing/2014/main" id="{01486DF0-4090-4233-86E4-DC7016FF1E38}"/>
              </a:ext>
            </a:extLst>
          </p:cNvPr>
          <p:cNvPicPr>
            <a:picLocks noChangeAspect="1"/>
          </p:cNvPicPr>
          <p:nvPr/>
        </p:nvPicPr>
        <p:blipFill>
          <a:blip r:embed="rId3"/>
          <a:stretch>
            <a:fillRect/>
          </a:stretch>
        </p:blipFill>
        <p:spPr>
          <a:xfrm>
            <a:off x="3533784" y="841889"/>
            <a:ext cx="3907378" cy="25871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テキスト ボックス 8">
            <a:extLst>
              <a:ext uri="{FF2B5EF4-FFF2-40B4-BE49-F238E27FC236}">
                <a16:creationId xmlns:a16="http://schemas.microsoft.com/office/drawing/2014/main" id="{7C2D3022-B448-4BDD-AF6B-98ABE36EDDC4}"/>
              </a:ext>
            </a:extLst>
          </p:cNvPr>
          <p:cNvSpPr txBox="1"/>
          <p:nvPr/>
        </p:nvSpPr>
        <p:spPr>
          <a:xfrm>
            <a:off x="3944888" y="140420"/>
            <a:ext cx="1644946" cy="369332"/>
          </a:xfrm>
          <a:prstGeom prst="rect">
            <a:avLst/>
          </a:prstGeom>
          <a:noFill/>
        </p:spPr>
        <p:txBody>
          <a:bodyPr wrap="square" rtlCol="0">
            <a:spAutoFit/>
          </a:bodyPr>
          <a:lstStyle/>
          <a:p>
            <a:r>
              <a:rPr kumimoji="1" lang="ja-JP" altLang="en-US" dirty="0">
                <a:latin typeface="UD Digi Kyokasho NP-B" panose="02020700000000000000" pitchFamily="18" charset="-128"/>
                <a:ea typeface="UD Digi Kyokasho NP-B" panose="02020700000000000000" pitchFamily="18" charset="-128"/>
              </a:rPr>
              <a:t>施設予定地　</a:t>
            </a:r>
          </a:p>
        </p:txBody>
      </p:sp>
      <p:sp>
        <p:nvSpPr>
          <p:cNvPr id="8" name="フリーフォーム: 図形 7">
            <a:extLst>
              <a:ext uri="{FF2B5EF4-FFF2-40B4-BE49-F238E27FC236}">
                <a16:creationId xmlns:a16="http://schemas.microsoft.com/office/drawing/2014/main" id="{B618AA0E-C9B3-473B-A834-528BD5EEBCB1}"/>
              </a:ext>
            </a:extLst>
          </p:cNvPr>
          <p:cNvSpPr/>
          <p:nvPr/>
        </p:nvSpPr>
        <p:spPr>
          <a:xfrm>
            <a:off x="1672205" y="1125291"/>
            <a:ext cx="3231727" cy="1296687"/>
          </a:xfrm>
          <a:custGeom>
            <a:avLst/>
            <a:gdLst>
              <a:gd name="connsiteX0" fmla="*/ 0 w 4216893"/>
              <a:gd name="connsiteY0" fmla="*/ 0 h 1296687"/>
              <a:gd name="connsiteX1" fmla="*/ 2325949 w 4216893"/>
              <a:gd name="connsiteY1" fmla="*/ 1269507 h 1296687"/>
              <a:gd name="connsiteX2" fmla="*/ 4216893 w 4216893"/>
              <a:gd name="connsiteY2" fmla="*/ 745724 h 1296687"/>
            </a:gdLst>
            <a:ahLst/>
            <a:cxnLst>
              <a:cxn ang="0">
                <a:pos x="connsiteX0" y="connsiteY0"/>
              </a:cxn>
              <a:cxn ang="0">
                <a:pos x="connsiteX1" y="connsiteY1"/>
              </a:cxn>
              <a:cxn ang="0">
                <a:pos x="connsiteX2" y="connsiteY2"/>
              </a:cxn>
            </a:cxnLst>
            <a:rect l="l" t="t" r="r" b="b"/>
            <a:pathLst>
              <a:path w="4216893" h="1296687">
                <a:moveTo>
                  <a:pt x="0" y="0"/>
                </a:moveTo>
                <a:cubicBezTo>
                  <a:pt x="811567" y="572610"/>
                  <a:pt x="1623134" y="1145220"/>
                  <a:pt x="2325949" y="1269507"/>
                </a:cubicBezTo>
                <a:cubicBezTo>
                  <a:pt x="3028764" y="1393794"/>
                  <a:pt x="3622828" y="1069759"/>
                  <a:pt x="4216893" y="745724"/>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CCC0DA6A-0139-4087-B4E0-0AE2B066D4FE}"/>
              </a:ext>
            </a:extLst>
          </p:cNvPr>
          <p:cNvPicPr>
            <a:picLocks noChangeAspect="1"/>
          </p:cNvPicPr>
          <p:nvPr/>
        </p:nvPicPr>
        <p:blipFill>
          <a:blip r:embed="rId4"/>
          <a:stretch>
            <a:fillRect/>
          </a:stretch>
        </p:blipFill>
        <p:spPr>
          <a:xfrm>
            <a:off x="3656856" y="4596435"/>
            <a:ext cx="2272251" cy="1654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図 21">
            <a:extLst>
              <a:ext uri="{FF2B5EF4-FFF2-40B4-BE49-F238E27FC236}">
                <a16:creationId xmlns:a16="http://schemas.microsoft.com/office/drawing/2014/main" id="{57E0E55D-504B-406E-BD04-4E0C8F384C1A}"/>
              </a:ext>
            </a:extLst>
          </p:cNvPr>
          <p:cNvPicPr>
            <a:picLocks noChangeAspect="1"/>
          </p:cNvPicPr>
          <p:nvPr/>
        </p:nvPicPr>
        <p:blipFill>
          <a:blip r:embed="rId5"/>
          <a:stretch>
            <a:fillRect/>
          </a:stretch>
        </p:blipFill>
        <p:spPr>
          <a:xfrm>
            <a:off x="6321152" y="4596436"/>
            <a:ext cx="2480626" cy="1654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3" name="テキスト ボックス 22">
            <a:extLst>
              <a:ext uri="{FF2B5EF4-FFF2-40B4-BE49-F238E27FC236}">
                <a16:creationId xmlns:a16="http://schemas.microsoft.com/office/drawing/2014/main" id="{510FCB33-329B-4290-92FC-154F2366591B}"/>
              </a:ext>
            </a:extLst>
          </p:cNvPr>
          <p:cNvSpPr txBox="1"/>
          <p:nvPr/>
        </p:nvSpPr>
        <p:spPr>
          <a:xfrm>
            <a:off x="7699946" y="841889"/>
            <a:ext cx="2080244" cy="26776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txBody>
          <a:bodyPr wrap="square" rtlCol="0">
            <a:spAutoFit/>
          </a:bodyPr>
          <a:lstStyle/>
          <a:p>
            <a:r>
              <a:rPr kumimoji="1" lang="ja-JP" altLang="en-US" sz="1200" dirty="0">
                <a:latin typeface="UD Digi Kyokasho NP-B" panose="02020700000000000000" pitchFamily="18" charset="-128"/>
                <a:ea typeface="UD Digi Kyokasho NP-B" panose="02020700000000000000" pitchFamily="18" charset="-128"/>
              </a:rPr>
              <a:t>所在地</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笠岡市金浦</a:t>
            </a:r>
            <a:r>
              <a:rPr kumimoji="1" lang="en-US" altLang="ja-JP" sz="1200" dirty="0">
                <a:latin typeface="UD Digi Kyokasho NP-B" panose="02020700000000000000" pitchFamily="18" charset="-128"/>
                <a:ea typeface="UD Digi Kyokasho NP-B" panose="02020700000000000000" pitchFamily="18" charset="-128"/>
              </a:rPr>
              <a:t>1356-1</a:t>
            </a:r>
          </a:p>
          <a:p>
            <a:r>
              <a:rPr kumimoji="1" lang="ja-JP" altLang="en-US" sz="1200" dirty="0">
                <a:latin typeface="UD Digi Kyokasho NP-B" panose="02020700000000000000" pitchFamily="18" charset="-128"/>
                <a:ea typeface="UD Digi Kyokasho NP-B" panose="02020700000000000000" pitchFamily="18" charset="-128"/>
              </a:rPr>
              <a:t>間取り</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１</a:t>
            </a:r>
            <a:r>
              <a:rPr kumimoji="1" lang="en-US" altLang="ja-JP" sz="1200" dirty="0">
                <a:latin typeface="UD Digi Kyokasho NP-B" panose="02020700000000000000" pitchFamily="18" charset="-128"/>
                <a:ea typeface="UD Digi Kyokasho NP-B" panose="02020700000000000000" pitchFamily="18" charset="-128"/>
              </a:rPr>
              <a:t>F65.52</a:t>
            </a:r>
            <a:r>
              <a:rPr kumimoji="1" lang="ja-JP" altLang="en-US" sz="1200" dirty="0">
                <a:latin typeface="UD Digi Kyokasho NP-B" panose="02020700000000000000" pitchFamily="18" charset="-128"/>
                <a:ea typeface="UD Digi Kyokasho NP-B" panose="02020700000000000000" pitchFamily="18" charset="-128"/>
              </a:rPr>
              <a:t>㎡</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２</a:t>
            </a:r>
            <a:r>
              <a:rPr kumimoji="1" lang="en-US" altLang="ja-JP" sz="1200" dirty="0">
                <a:latin typeface="UD Digi Kyokasho NP-B" panose="02020700000000000000" pitchFamily="18" charset="-128"/>
                <a:ea typeface="UD Digi Kyokasho NP-B" panose="02020700000000000000" pitchFamily="18" charset="-128"/>
              </a:rPr>
              <a:t>F65.52</a:t>
            </a:r>
            <a:r>
              <a:rPr kumimoji="1" lang="ja-JP" altLang="en-US" sz="1200" dirty="0">
                <a:latin typeface="UD Digi Kyokasho NP-B" panose="02020700000000000000" pitchFamily="18" charset="-128"/>
                <a:ea typeface="UD Digi Kyokasho NP-B" panose="02020700000000000000" pitchFamily="18" charset="-128"/>
              </a:rPr>
              <a:t>㎡</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構　造</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鉄骨造スレート葺２階建</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築年月</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a:t>
            </a:r>
            <a:r>
              <a:rPr kumimoji="1" lang="en-US" altLang="ja-JP" sz="1200" dirty="0">
                <a:latin typeface="UD Digi Kyokasho NP-B" panose="02020700000000000000" pitchFamily="18" charset="-128"/>
                <a:ea typeface="UD Digi Kyokasho NP-B" panose="02020700000000000000" pitchFamily="18" charset="-128"/>
              </a:rPr>
              <a:t>1998</a:t>
            </a:r>
            <a:r>
              <a:rPr kumimoji="1" lang="ja-JP" altLang="en-US" sz="1200" dirty="0">
                <a:latin typeface="UD Digi Kyokasho NP-B" panose="02020700000000000000" pitchFamily="18" charset="-128"/>
                <a:ea typeface="UD Digi Kyokasho NP-B" panose="02020700000000000000" pitchFamily="18" charset="-128"/>
              </a:rPr>
              <a:t>年</a:t>
            </a:r>
            <a:r>
              <a:rPr kumimoji="1" lang="en-US" altLang="ja-JP" sz="1200" dirty="0">
                <a:latin typeface="UD Digi Kyokasho NP-B" panose="02020700000000000000" pitchFamily="18" charset="-128"/>
                <a:ea typeface="UD Digi Kyokasho NP-B" panose="02020700000000000000" pitchFamily="18" charset="-128"/>
              </a:rPr>
              <a:t>5</a:t>
            </a:r>
            <a:r>
              <a:rPr kumimoji="1" lang="ja-JP" altLang="en-US" sz="1200" dirty="0">
                <a:latin typeface="UD Digi Kyokasho NP-B" panose="02020700000000000000" pitchFamily="18" charset="-128"/>
                <a:ea typeface="UD Digi Kyokasho NP-B" panose="02020700000000000000" pitchFamily="18" charset="-128"/>
              </a:rPr>
              <a:t>月</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駐車場</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a:t>
            </a:r>
            <a:r>
              <a:rPr kumimoji="1" lang="en-US" altLang="ja-JP" sz="1200" dirty="0">
                <a:latin typeface="UD Digi Kyokasho NP-B" panose="02020700000000000000" pitchFamily="18" charset="-128"/>
                <a:ea typeface="UD Digi Kyokasho NP-B" panose="02020700000000000000" pitchFamily="18" charset="-128"/>
              </a:rPr>
              <a:t>6</a:t>
            </a:r>
            <a:r>
              <a:rPr kumimoji="1" lang="ja-JP" altLang="en-US" sz="1200" dirty="0">
                <a:latin typeface="UD Digi Kyokasho NP-B" panose="02020700000000000000" pitchFamily="18" charset="-128"/>
                <a:ea typeface="UD Digi Kyokasho NP-B" panose="02020700000000000000" pitchFamily="18" charset="-128"/>
              </a:rPr>
              <a:t>台</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最寄病院</a:t>
            </a:r>
            <a:endParaRPr kumimoji="1" lang="en-US" altLang="ja-JP" sz="1200" dirty="0">
              <a:latin typeface="UD Digi Kyokasho NP-B" panose="02020700000000000000" pitchFamily="18" charset="-128"/>
              <a:ea typeface="UD Digi Kyokasho NP-B" panose="02020700000000000000" pitchFamily="18" charset="-128"/>
            </a:endParaRPr>
          </a:p>
          <a:p>
            <a:r>
              <a:rPr kumimoji="1" lang="ja-JP" altLang="en-US" sz="1200" dirty="0">
                <a:latin typeface="UD Digi Kyokasho NP-B" panose="02020700000000000000" pitchFamily="18" charset="-128"/>
                <a:ea typeface="UD Digi Kyokasho NP-B" panose="02020700000000000000" pitchFamily="18" charset="-128"/>
              </a:rPr>
              <a:t>　笠岡市民病院（</a:t>
            </a:r>
            <a:r>
              <a:rPr kumimoji="1" lang="en-US" altLang="ja-JP" sz="1200" dirty="0">
                <a:latin typeface="UD Digi Kyokasho NP-B" panose="02020700000000000000" pitchFamily="18" charset="-128"/>
                <a:ea typeface="UD Digi Kyokasho NP-B" panose="02020700000000000000" pitchFamily="18" charset="-128"/>
              </a:rPr>
              <a:t>1.3</a:t>
            </a:r>
            <a:r>
              <a:rPr kumimoji="1" lang="ja-JP" altLang="en-US" sz="1200" dirty="0">
                <a:latin typeface="UD Digi Kyokasho NP-B" panose="02020700000000000000" pitchFamily="18" charset="-128"/>
                <a:ea typeface="UD Digi Kyokasho NP-B" panose="02020700000000000000" pitchFamily="18" charset="-128"/>
              </a:rPr>
              <a:t>ｋｍ）</a:t>
            </a:r>
          </a:p>
        </p:txBody>
      </p:sp>
      <p:sp>
        <p:nvSpPr>
          <p:cNvPr id="24" name="テキスト ボックス 23">
            <a:extLst>
              <a:ext uri="{FF2B5EF4-FFF2-40B4-BE49-F238E27FC236}">
                <a16:creationId xmlns:a16="http://schemas.microsoft.com/office/drawing/2014/main" id="{9769C5C6-6BD2-48E0-9F84-26ECF63A1F11}"/>
              </a:ext>
            </a:extLst>
          </p:cNvPr>
          <p:cNvSpPr txBox="1"/>
          <p:nvPr/>
        </p:nvSpPr>
        <p:spPr>
          <a:xfrm>
            <a:off x="175227" y="4596435"/>
            <a:ext cx="3078763" cy="13849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txBody>
          <a:bodyPr wrap="square" rtlCol="0">
            <a:spAutoFit/>
          </a:bodyPr>
          <a:lstStyle>
            <a:defPPr>
              <a:defRPr lang="en-US"/>
            </a:defPPr>
            <a:lvl1pPr>
              <a:defRPr kumimoji="1" sz="1200">
                <a:latin typeface="UD Digi Kyokasho NP-B" panose="02020700000000000000" pitchFamily="18" charset="-128"/>
                <a:ea typeface="UD Digi Kyokasho NP-B" panose="02020700000000000000" pitchFamily="18" charset="-128"/>
              </a:defRPr>
            </a:lvl1pPr>
          </a:lstStyle>
          <a:p>
            <a:r>
              <a:rPr lang="ja-JP" altLang="en-US" dirty="0"/>
              <a:t>送迎基本ルール</a:t>
            </a:r>
            <a:endParaRPr lang="en-US" altLang="ja-JP" dirty="0"/>
          </a:p>
          <a:p>
            <a:r>
              <a:rPr lang="ja-JP" altLang="en-US" dirty="0"/>
              <a:t>　①就職までの状況により個別に設定</a:t>
            </a:r>
            <a:endParaRPr lang="en-US" altLang="ja-JP" dirty="0"/>
          </a:p>
          <a:p>
            <a:r>
              <a:rPr lang="ja-JP" altLang="en-US" dirty="0"/>
              <a:t>　②笠岡市内及び施設から１５</a:t>
            </a:r>
            <a:r>
              <a:rPr lang="en-US" altLang="ja-JP" dirty="0"/>
              <a:t>km</a:t>
            </a:r>
            <a:r>
              <a:rPr lang="ja-JP" altLang="en-US" dirty="0"/>
              <a:t>圏内</a:t>
            </a:r>
            <a:endParaRPr lang="en-US" altLang="ja-JP" dirty="0"/>
          </a:p>
          <a:p>
            <a:r>
              <a:rPr lang="ja-JP" altLang="en-US" dirty="0"/>
              <a:t>　　ドアトゥドアで送迎</a:t>
            </a:r>
            <a:endParaRPr lang="en-US" altLang="ja-JP" dirty="0"/>
          </a:p>
          <a:p>
            <a:r>
              <a:rPr lang="ja-JP" altLang="en-US" dirty="0"/>
              <a:t>　③公共交通機関を利用する場合</a:t>
            </a:r>
            <a:endParaRPr lang="en-US" altLang="ja-JP" dirty="0"/>
          </a:p>
          <a:p>
            <a:r>
              <a:rPr lang="ja-JP" altLang="en-US" dirty="0"/>
              <a:t>　　・通勤費相当支給</a:t>
            </a:r>
            <a:endParaRPr lang="en-US" altLang="ja-JP" dirty="0"/>
          </a:p>
          <a:p>
            <a:r>
              <a:rPr lang="ja-JP" altLang="en-US" dirty="0"/>
              <a:t>　　　</a:t>
            </a:r>
            <a:r>
              <a:rPr lang="en-US" altLang="ja-JP" dirty="0"/>
              <a:t>【</a:t>
            </a:r>
            <a:r>
              <a:rPr lang="ja-JP" altLang="en-US" dirty="0"/>
              <a:t>定期券</a:t>
            </a:r>
            <a:r>
              <a:rPr lang="en-US" altLang="ja-JP" dirty="0"/>
              <a:t>×</a:t>
            </a:r>
            <a:r>
              <a:rPr lang="ja-JP" altLang="en-US" dirty="0"/>
              <a:t>（通所日数</a:t>
            </a:r>
            <a:r>
              <a:rPr lang="en-US" altLang="ja-JP" dirty="0"/>
              <a:t>÷</a:t>
            </a:r>
            <a:r>
              <a:rPr lang="ja-JP" altLang="en-US" dirty="0"/>
              <a:t>開所日）</a:t>
            </a:r>
            <a:r>
              <a:rPr lang="en-US" altLang="ja-JP" dirty="0"/>
              <a:t>】</a:t>
            </a:r>
            <a:endParaRPr lang="ja-JP" altLang="en-US" dirty="0"/>
          </a:p>
        </p:txBody>
      </p:sp>
      <p:sp>
        <p:nvSpPr>
          <p:cNvPr id="28" name="フリーフォーム: 図形 27">
            <a:extLst>
              <a:ext uri="{FF2B5EF4-FFF2-40B4-BE49-F238E27FC236}">
                <a16:creationId xmlns:a16="http://schemas.microsoft.com/office/drawing/2014/main" id="{27F63A91-66C4-4682-92CF-91D521B2E246}"/>
              </a:ext>
            </a:extLst>
          </p:cNvPr>
          <p:cNvSpPr/>
          <p:nvPr/>
        </p:nvSpPr>
        <p:spPr>
          <a:xfrm>
            <a:off x="1165932" y="982431"/>
            <a:ext cx="476437" cy="606672"/>
          </a:xfrm>
          <a:custGeom>
            <a:avLst/>
            <a:gdLst>
              <a:gd name="connsiteX0" fmla="*/ 254495 w 476437"/>
              <a:gd name="connsiteY0" fmla="*/ 606672 h 606672"/>
              <a:gd name="connsiteX1" fmla="*/ 5920 w 476437"/>
              <a:gd name="connsiteY1" fmla="*/ 47379 h 606672"/>
              <a:gd name="connsiteX2" fmla="*/ 476437 w 476437"/>
              <a:gd name="connsiteY2" fmla="*/ 74012 h 606672"/>
            </a:gdLst>
            <a:ahLst/>
            <a:cxnLst>
              <a:cxn ang="0">
                <a:pos x="connsiteX0" y="connsiteY0"/>
              </a:cxn>
              <a:cxn ang="0">
                <a:pos x="connsiteX1" y="connsiteY1"/>
              </a:cxn>
              <a:cxn ang="0">
                <a:pos x="connsiteX2" y="connsiteY2"/>
              </a:cxn>
            </a:cxnLst>
            <a:rect l="l" t="t" r="r" b="b"/>
            <a:pathLst>
              <a:path w="476437" h="606672">
                <a:moveTo>
                  <a:pt x="254495" y="606672"/>
                </a:moveTo>
                <a:cubicBezTo>
                  <a:pt x="111712" y="371414"/>
                  <a:pt x="-31070" y="136156"/>
                  <a:pt x="5920" y="47379"/>
                </a:cubicBezTo>
                <a:cubicBezTo>
                  <a:pt x="42910" y="-41398"/>
                  <a:pt x="363987" y="10389"/>
                  <a:pt x="476437" y="74012"/>
                </a:cubicBezTo>
              </a:path>
            </a:pathLst>
          </a:custGeom>
          <a:ln w="9525" cap="flat" cmpd="sng" algn="ctr">
            <a:solidFill>
              <a:schemeClr val="accent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FD77031-3934-448D-92C3-542BFFD3C9B6}"/>
              </a:ext>
            </a:extLst>
          </p:cNvPr>
          <p:cNvSpPr txBox="1"/>
          <p:nvPr/>
        </p:nvSpPr>
        <p:spPr>
          <a:xfrm>
            <a:off x="1392411" y="1616962"/>
            <a:ext cx="1368152" cy="338554"/>
          </a:xfrm>
          <a:prstGeom prst="rect">
            <a:avLst/>
          </a:prstGeom>
          <a:noFill/>
        </p:spPr>
        <p:txBody>
          <a:bodyPr wrap="square" rtlCol="0">
            <a:spAutoFit/>
          </a:bodyPr>
          <a:lstStyle/>
          <a:p>
            <a:r>
              <a:rPr kumimoji="1" lang="ja-JP" altLang="en-US" sz="800" dirty="0">
                <a:latin typeface="UD Digi Kyokasho NP-B" panose="02020700000000000000" pitchFamily="18" charset="-128"/>
                <a:ea typeface="UD Digi Kyokasho NP-B" panose="02020700000000000000" pitchFamily="18" charset="-128"/>
              </a:rPr>
              <a:t>徒歩：３分</a:t>
            </a:r>
            <a:endParaRPr kumimoji="1" lang="en-US" altLang="ja-JP" sz="800" dirty="0">
              <a:latin typeface="UD Digi Kyokasho NP-B" panose="02020700000000000000" pitchFamily="18" charset="-128"/>
              <a:ea typeface="UD Digi Kyokasho NP-B" panose="02020700000000000000" pitchFamily="18" charset="-128"/>
            </a:endParaRPr>
          </a:p>
          <a:p>
            <a:r>
              <a:rPr kumimoji="1" lang="ja-JP" altLang="en-US" sz="800" dirty="0">
                <a:latin typeface="UD Digi Kyokasho NP-B" panose="02020700000000000000" pitchFamily="18" charset="-128"/>
                <a:ea typeface="UD Digi Kyokasho NP-B" panose="02020700000000000000" pitchFamily="18" charset="-128"/>
              </a:rPr>
              <a:t>　　　</a:t>
            </a:r>
            <a:r>
              <a:rPr kumimoji="1" lang="en-US" altLang="ja-JP" sz="800" dirty="0">
                <a:latin typeface="UD Digi Kyokasho NP-B" panose="02020700000000000000" pitchFamily="18" charset="-128"/>
                <a:ea typeface="UD Digi Kyokasho NP-B" panose="02020700000000000000" pitchFamily="18" charset="-128"/>
              </a:rPr>
              <a:t>210</a:t>
            </a:r>
            <a:r>
              <a:rPr kumimoji="1" lang="ja-JP" altLang="en-US" sz="800" dirty="0">
                <a:latin typeface="UD Digi Kyokasho NP-B" panose="02020700000000000000" pitchFamily="18" charset="-128"/>
                <a:ea typeface="UD Digi Kyokasho NP-B" panose="02020700000000000000" pitchFamily="18" charset="-128"/>
              </a:rPr>
              <a:t>ｍ</a:t>
            </a:r>
          </a:p>
        </p:txBody>
      </p:sp>
    </p:spTree>
    <p:extLst>
      <p:ext uri="{BB962C8B-B14F-4D97-AF65-F5344CB8AC3E}">
        <p14:creationId xmlns:p14="http://schemas.microsoft.com/office/powerpoint/2010/main" val="1374028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8" name="タイトル 1">
            <a:extLst>
              <a:ext uri="{FF2B5EF4-FFF2-40B4-BE49-F238E27FC236}">
                <a16:creationId xmlns:a16="http://schemas.microsoft.com/office/drawing/2014/main" id="{005E2976-4FC8-4C54-9890-20F5B8851DFE}"/>
              </a:ext>
            </a:extLst>
          </p:cNvPr>
          <p:cNvSpPr txBox="1">
            <a:spLocks/>
          </p:cNvSpPr>
          <p:nvPr/>
        </p:nvSpPr>
        <p:spPr>
          <a:xfrm>
            <a:off x="1136576" y="42245"/>
            <a:ext cx="7393144" cy="548304"/>
          </a:xfrm>
          <a:prstGeom prst="rect">
            <a:avLst/>
          </a:prstGeom>
        </p:spPr>
        <p:txBody>
          <a:bodyPr vert="horz" lIns="91440" tIns="45720" rIns="91440" bIns="0" rtlCol="0" anchor="ctr">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pPr algn="ctr" defTabSz="914400"/>
            <a:r>
              <a:rPr lang="ja-JP" altLang="en-US" sz="2000" dirty="0">
                <a:latin typeface="UD デジタル 教科書体 NP-B" panose="02020700000000000000" pitchFamily="18" charset="-128"/>
                <a:ea typeface="UD デジタル 教科書体 NP-B" panose="02020700000000000000" pitchFamily="18" charset="-128"/>
              </a:rPr>
              <a:t>レイアウト　案</a:t>
            </a:r>
            <a:endParaRPr lang="en-US" altLang="ja-JP" sz="2000" dirty="0">
              <a:latin typeface="UD デジタル 教科書体 NP-B" panose="02020700000000000000" pitchFamily="18" charset="-128"/>
              <a:ea typeface="UD デジタル 教科書体 NP-B" panose="02020700000000000000" pitchFamily="18" charset="-128"/>
            </a:endParaRPr>
          </a:p>
        </p:txBody>
      </p:sp>
      <p:pic>
        <p:nvPicPr>
          <p:cNvPr id="3" name="図 2">
            <a:extLst>
              <a:ext uri="{FF2B5EF4-FFF2-40B4-BE49-F238E27FC236}">
                <a16:creationId xmlns:a16="http://schemas.microsoft.com/office/drawing/2014/main" id="{30EFE049-652C-4E07-B846-761C42862317}"/>
              </a:ext>
            </a:extLst>
          </p:cNvPr>
          <p:cNvPicPr>
            <a:picLocks noChangeAspect="1"/>
          </p:cNvPicPr>
          <p:nvPr/>
        </p:nvPicPr>
        <p:blipFill>
          <a:blip r:embed="rId2"/>
          <a:stretch>
            <a:fillRect/>
          </a:stretch>
        </p:blipFill>
        <p:spPr>
          <a:xfrm>
            <a:off x="344488" y="1556792"/>
            <a:ext cx="4284476" cy="4536504"/>
          </a:xfrm>
          <a:prstGeom prst="rect">
            <a:avLst/>
          </a:prstGeom>
        </p:spPr>
      </p:pic>
      <p:pic>
        <p:nvPicPr>
          <p:cNvPr id="5" name="図 4">
            <a:extLst>
              <a:ext uri="{FF2B5EF4-FFF2-40B4-BE49-F238E27FC236}">
                <a16:creationId xmlns:a16="http://schemas.microsoft.com/office/drawing/2014/main" id="{3A9AF4F5-DE81-4B47-8A88-875C2F64E6C7}"/>
              </a:ext>
            </a:extLst>
          </p:cNvPr>
          <p:cNvPicPr>
            <a:picLocks noChangeAspect="1"/>
          </p:cNvPicPr>
          <p:nvPr/>
        </p:nvPicPr>
        <p:blipFill>
          <a:blip r:embed="rId3"/>
          <a:stretch>
            <a:fillRect/>
          </a:stretch>
        </p:blipFill>
        <p:spPr>
          <a:xfrm>
            <a:off x="5246709" y="1556791"/>
            <a:ext cx="4409751" cy="4536505"/>
          </a:xfrm>
          <a:prstGeom prst="rect">
            <a:avLst/>
          </a:prstGeom>
        </p:spPr>
      </p:pic>
    </p:spTree>
    <p:extLst>
      <p:ext uri="{BB962C8B-B14F-4D97-AF65-F5344CB8AC3E}">
        <p14:creationId xmlns:p14="http://schemas.microsoft.com/office/powerpoint/2010/main" val="86412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591D53FD-938F-414A-92FB-61B00C38F5A0}"/>
              </a:ext>
            </a:extLst>
          </p:cNvPr>
          <p:cNvSpPr/>
          <p:nvPr/>
        </p:nvSpPr>
        <p:spPr>
          <a:xfrm>
            <a:off x="0" y="0"/>
            <a:ext cx="3090399"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A540CDA-3629-4E01-8647-D7EFFCC9AB84}"/>
              </a:ext>
            </a:extLst>
          </p:cNvPr>
          <p:cNvSpPr>
            <a:spLocks noGrp="1"/>
          </p:cNvSpPr>
          <p:nvPr>
            <p:ph type="title" idx="4294967295"/>
          </p:nvPr>
        </p:nvSpPr>
        <p:spPr>
          <a:xfrm>
            <a:off x="293936" y="336454"/>
            <a:ext cx="2879725" cy="1152525"/>
          </a:xfrm>
        </p:spPr>
        <p:txBody>
          <a:bodyPr>
            <a:normAutofit/>
          </a:bodyPr>
          <a:lstStyle/>
          <a:p>
            <a:r>
              <a:rPr lang="ja-JP" altLang="ja-JP" sz="2000" kern="100" dirty="0">
                <a:solidFill>
                  <a:schemeClr val="tx1"/>
                </a:solidFill>
                <a:effectLst/>
                <a:latin typeface="UD デジタル 教科書体 NP-B" panose="02020700000000000000" pitchFamily="18" charset="-128"/>
                <a:ea typeface="UD デジタル 教科書体 NP-B" panose="02020700000000000000" pitchFamily="18" charset="-128"/>
              </a:rPr>
              <a:t>私たちが２年間の支援の中で目標とする人材像</a:t>
            </a:r>
            <a:endParaRPr kumimoji="1" lang="ja-JP" altLang="en-US" sz="2000" dirty="0">
              <a:solidFill>
                <a:schemeClr val="tx1"/>
              </a:solidFill>
              <a:latin typeface="UD デジタル 教科書体 NP-B" panose="02020700000000000000" pitchFamily="18" charset="-128"/>
              <a:ea typeface="UD デジタル 教科書体 NP-B" panose="02020700000000000000" pitchFamily="18" charset="-128"/>
            </a:endParaRPr>
          </a:p>
        </p:txBody>
      </p:sp>
      <p:sp>
        <p:nvSpPr>
          <p:cNvPr id="3" name="コンテンツ プレースホルダー 2">
            <a:extLst>
              <a:ext uri="{FF2B5EF4-FFF2-40B4-BE49-F238E27FC236}">
                <a16:creationId xmlns:a16="http://schemas.microsoft.com/office/drawing/2014/main" id="{4A1F5868-EE8B-4F0C-8A58-83377E043F98}"/>
              </a:ext>
            </a:extLst>
          </p:cNvPr>
          <p:cNvSpPr>
            <a:spLocks noGrp="1"/>
          </p:cNvSpPr>
          <p:nvPr>
            <p:ph idx="4294967295"/>
          </p:nvPr>
        </p:nvSpPr>
        <p:spPr>
          <a:xfrm>
            <a:off x="3173661" y="436039"/>
            <a:ext cx="6143625" cy="1339569"/>
          </a:xfrm>
        </p:spPr>
        <p:txBody>
          <a:bodyPr vert="horz" lIns="91440" tIns="45720" rIns="91440" bIns="45720" rtlCol="0" anchor="t">
            <a:normAutofit/>
          </a:bodyPr>
          <a:lstStyle/>
          <a:p>
            <a:pPr marL="342900" indent="-342900">
              <a:buFont typeface="+mj-lt"/>
              <a:buAutoNum type="arabicParenBoth"/>
            </a:pPr>
            <a:r>
              <a:rPr lang="ja-JP" altLang="ja-JP" sz="1800" kern="100" dirty="0">
                <a:solidFill>
                  <a:schemeClr val="tx1"/>
                </a:solidFill>
                <a:latin typeface="UD デジタル 教科書体 NP-B" panose="02020700000000000000" pitchFamily="18" charset="-128"/>
                <a:ea typeface="UD デジタル 教科書体 NP-B" panose="02020700000000000000" pitchFamily="18" charset="-128"/>
              </a:rPr>
              <a:t>生活機能分類における人生レベルの目標を充足する『働く場所』を自己で選択し決定できる</a:t>
            </a:r>
          </a:p>
          <a:p>
            <a:pPr marL="342900" indent="-342900">
              <a:buFont typeface="+mj-lt"/>
              <a:buAutoNum type="arabicParenBoth"/>
            </a:pPr>
            <a:r>
              <a:rPr lang="ja-JP" altLang="ja-JP" sz="1800" kern="100" dirty="0">
                <a:solidFill>
                  <a:schemeClr val="tx1"/>
                </a:solidFill>
                <a:latin typeface="UD デジタル 教科書体 NP-B" panose="02020700000000000000" pitchFamily="18" charset="-128"/>
                <a:ea typeface="UD デジタル 教科書体 NP-B" panose="02020700000000000000" pitchFamily="18" charset="-128"/>
              </a:rPr>
              <a:t>社会制度を理解し、権利と義務を正当に行使できる環境を形成できる</a:t>
            </a:r>
            <a:endParaRPr lang="ja-JP" altLang="en-US" sz="1800" kern="100" dirty="0">
              <a:solidFill>
                <a:schemeClr val="tx1"/>
              </a:solidFill>
              <a:latin typeface="UD デジタル 教科書体 NP-B" panose="02020700000000000000" pitchFamily="18" charset="-128"/>
              <a:ea typeface="UD デジタル 教科書体 NP-B" panose="02020700000000000000" pitchFamily="18" charset="-128"/>
            </a:endParaRPr>
          </a:p>
        </p:txBody>
      </p:sp>
      <p:sp>
        <p:nvSpPr>
          <p:cNvPr id="6" name="タイトル 1">
            <a:extLst>
              <a:ext uri="{FF2B5EF4-FFF2-40B4-BE49-F238E27FC236}">
                <a16:creationId xmlns:a16="http://schemas.microsoft.com/office/drawing/2014/main" id="{5053131D-D0ED-47DB-A80B-032554FE1165}"/>
              </a:ext>
            </a:extLst>
          </p:cNvPr>
          <p:cNvSpPr txBox="1">
            <a:spLocks/>
          </p:cNvSpPr>
          <p:nvPr/>
        </p:nvSpPr>
        <p:spPr>
          <a:xfrm>
            <a:off x="-19103" y="165000"/>
            <a:ext cx="2880320" cy="504056"/>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１．支援後の人材像</a:t>
            </a:r>
          </a:p>
        </p:txBody>
      </p:sp>
      <p:sp>
        <p:nvSpPr>
          <p:cNvPr id="11" name="タイトル 1">
            <a:extLst>
              <a:ext uri="{FF2B5EF4-FFF2-40B4-BE49-F238E27FC236}">
                <a16:creationId xmlns:a16="http://schemas.microsoft.com/office/drawing/2014/main" id="{882FDE0F-692C-40D3-B681-5496B985601A}"/>
              </a:ext>
            </a:extLst>
          </p:cNvPr>
          <p:cNvSpPr txBox="1">
            <a:spLocks/>
          </p:cNvSpPr>
          <p:nvPr/>
        </p:nvSpPr>
        <p:spPr>
          <a:xfrm>
            <a:off x="414954" y="2279507"/>
            <a:ext cx="2880320" cy="504056"/>
          </a:xfrm>
          <a:prstGeom prst="rect">
            <a:avLst/>
          </a:prstGeom>
        </p:spPr>
        <p:txBody>
          <a:bodyPr vert="horz" lIns="91440" tIns="45720" rIns="91440" bIns="45720" rtlCol="0" anchor="t">
            <a:normAutofit lnSpcReduction="10000"/>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1600" dirty="0">
                <a:latin typeface="UD デジタル 教科書体 NP-B" panose="02020700000000000000" pitchFamily="18" charset="-128"/>
                <a:ea typeface="UD デジタル 教科書体 NP-B" panose="02020700000000000000" pitchFamily="18" charset="-128"/>
              </a:rPr>
              <a:t>*国際生活機能分類（</a:t>
            </a:r>
            <a:r>
              <a:rPr lang="en-US" altLang="ja-JP" sz="1600" dirty="0">
                <a:latin typeface="UD デジタル 教科書体 NP-B" panose="02020700000000000000" pitchFamily="18" charset="-128"/>
                <a:ea typeface="UD デジタル 教科書体 NP-B" panose="02020700000000000000" pitchFamily="18" charset="-128"/>
              </a:rPr>
              <a:t>ICF</a:t>
            </a:r>
            <a:r>
              <a:rPr lang="ja-JP" altLang="en-US" sz="1600" dirty="0">
                <a:latin typeface="UD デジタル 教科書体 NP-B" panose="02020700000000000000" pitchFamily="18" charset="-128"/>
                <a:ea typeface="UD デジタル 教科書体 NP-B" panose="02020700000000000000" pitchFamily="18" charset="-128"/>
              </a:rPr>
              <a:t>）とは</a:t>
            </a:r>
            <a:endParaRPr lang="en-US" altLang="ja-JP" sz="1600" dirty="0">
              <a:latin typeface="UD デジタル 教科書体 NP-B" panose="02020700000000000000" pitchFamily="18" charset="-128"/>
              <a:ea typeface="UD デジタル 教科書体 NP-B" panose="02020700000000000000" pitchFamily="18" charset="-128"/>
            </a:endParaRPr>
          </a:p>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pic>
        <p:nvPicPr>
          <p:cNvPr id="13" name="図 12">
            <a:extLst>
              <a:ext uri="{FF2B5EF4-FFF2-40B4-BE49-F238E27FC236}">
                <a16:creationId xmlns:a16="http://schemas.microsoft.com/office/drawing/2014/main" id="{7F83E817-009B-4E22-8C48-2700D3F7DDD7}"/>
              </a:ext>
            </a:extLst>
          </p:cNvPr>
          <p:cNvPicPr>
            <a:picLocks noChangeAspect="1"/>
          </p:cNvPicPr>
          <p:nvPr/>
        </p:nvPicPr>
        <p:blipFill>
          <a:blip r:embed="rId2"/>
          <a:stretch>
            <a:fillRect/>
          </a:stretch>
        </p:blipFill>
        <p:spPr>
          <a:xfrm>
            <a:off x="3274320" y="2279507"/>
            <a:ext cx="4179875" cy="2070066"/>
          </a:xfrm>
          <a:prstGeom prst="rect">
            <a:avLst/>
          </a:prstGeom>
        </p:spPr>
      </p:pic>
      <p:pic>
        <p:nvPicPr>
          <p:cNvPr id="15" name="図 14">
            <a:extLst>
              <a:ext uri="{FF2B5EF4-FFF2-40B4-BE49-F238E27FC236}">
                <a16:creationId xmlns:a16="http://schemas.microsoft.com/office/drawing/2014/main" id="{7337648D-5CBE-4686-B936-BA81B8C32C2B}"/>
              </a:ext>
            </a:extLst>
          </p:cNvPr>
          <p:cNvPicPr>
            <a:picLocks noChangeAspect="1"/>
          </p:cNvPicPr>
          <p:nvPr/>
        </p:nvPicPr>
        <p:blipFill>
          <a:blip r:embed="rId3"/>
          <a:stretch>
            <a:fillRect/>
          </a:stretch>
        </p:blipFill>
        <p:spPr>
          <a:xfrm>
            <a:off x="3274320" y="4643840"/>
            <a:ext cx="5603711" cy="1649465"/>
          </a:xfrm>
          <a:prstGeom prst="rect">
            <a:avLst/>
          </a:prstGeom>
        </p:spPr>
      </p:pic>
      <p:sp>
        <p:nvSpPr>
          <p:cNvPr id="16" name="テキスト ボックス 15">
            <a:extLst>
              <a:ext uri="{FF2B5EF4-FFF2-40B4-BE49-F238E27FC236}">
                <a16:creationId xmlns:a16="http://schemas.microsoft.com/office/drawing/2014/main" id="{7BDAAAD9-78F3-4A5A-893F-FE90771FBF85}"/>
              </a:ext>
            </a:extLst>
          </p:cNvPr>
          <p:cNvSpPr txBox="1"/>
          <p:nvPr/>
        </p:nvSpPr>
        <p:spPr>
          <a:xfrm>
            <a:off x="7511028" y="3749312"/>
            <a:ext cx="2236510" cy="707886"/>
          </a:xfrm>
          <a:prstGeom prst="rect">
            <a:avLst/>
          </a:prstGeom>
          <a:noFill/>
        </p:spPr>
        <p:txBody>
          <a:bodyPr wrap="none" rtlCol="0">
            <a:spAutoFit/>
          </a:bodyPr>
          <a:lstStyle/>
          <a:p>
            <a:r>
              <a:rPr kumimoji="1" lang="ja-JP" altLang="en-US" sz="1000" dirty="0">
                <a:latin typeface="UD Digi Kyokasho NP-B" panose="02020700000000000000" pitchFamily="18" charset="-128"/>
                <a:ea typeface="UD Digi Kyokasho NP-B" panose="02020700000000000000" pitchFamily="18" charset="-128"/>
              </a:rPr>
              <a:t>＊厚生労働省</a:t>
            </a:r>
            <a:endParaRPr kumimoji="1" lang="en-US" altLang="ja-JP" sz="1000" dirty="0">
              <a:latin typeface="UD Digi Kyokasho NP-B" panose="02020700000000000000" pitchFamily="18" charset="-128"/>
              <a:ea typeface="UD Digi Kyokasho NP-B" panose="02020700000000000000" pitchFamily="18" charset="-128"/>
            </a:endParaRPr>
          </a:p>
          <a:p>
            <a:r>
              <a:rPr kumimoji="1" lang="ja-JP" altLang="en-US" sz="1000" dirty="0">
                <a:latin typeface="UD Digi Kyokasho NP-B" panose="02020700000000000000" pitchFamily="18" charset="-128"/>
                <a:ea typeface="UD Digi Kyokasho NP-B" panose="02020700000000000000" pitchFamily="18" charset="-128"/>
              </a:rPr>
              <a:t>　第一回社会保障審議会統計分科会</a:t>
            </a:r>
            <a:endParaRPr kumimoji="1" lang="en-US" altLang="ja-JP" sz="1000" dirty="0">
              <a:latin typeface="UD Digi Kyokasho NP-B" panose="02020700000000000000" pitchFamily="18" charset="-128"/>
              <a:ea typeface="UD Digi Kyokasho NP-B" panose="02020700000000000000" pitchFamily="18" charset="-128"/>
            </a:endParaRPr>
          </a:p>
          <a:p>
            <a:r>
              <a:rPr kumimoji="1" lang="ja-JP" altLang="en-US" sz="1000" dirty="0">
                <a:latin typeface="UD Digi Kyokasho NP-B" panose="02020700000000000000" pitchFamily="18" charset="-128"/>
                <a:ea typeface="UD Digi Kyokasho NP-B" panose="02020700000000000000" pitchFamily="18" charset="-128"/>
              </a:rPr>
              <a:t>　生活機能分類専門委員会</a:t>
            </a:r>
            <a:endParaRPr kumimoji="1" lang="en-US" altLang="ja-JP" sz="1000" dirty="0">
              <a:latin typeface="UD Digi Kyokasho NP-B" panose="02020700000000000000" pitchFamily="18" charset="-128"/>
              <a:ea typeface="UD Digi Kyokasho NP-B" panose="02020700000000000000" pitchFamily="18" charset="-128"/>
            </a:endParaRPr>
          </a:p>
          <a:p>
            <a:r>
              <a:rPr kumimoji="1" lang="ja-JP" altLang="en-US" sz="1000" dirty="0">
                <a:latin typeface="UD Digi Kyokasho NP-B" panose="02020700000000000000" pitchFamily="18" charset="-128"/>
                <a:ea typeface="UD Digi Kyokasho NP-B" panose="02020700000000000000" pitchFamily="18" charset="-128"/>
              </a:rPr>
              <a:t>　参考資料から抜粋</a:t>
            </a:r>
          </a:p>
        </p:txBody>
      </p:sp>
      <p:sp>
        <p:nvSpPr>
          <p:cNvPr id="18" name="楕円 17">
            <a:extLst>
              <a:ext uri="{FF2B5EF4-FFF2-40B4-BE49-F238E27FC236}">
                <a16:creationId xmlns:a16="http://schemas.microsoft.com/office/drawing/2014/main" id="{F9B2A7AF-B149-4AAE-B731-1A7B41B94C01}"/>
              </a:ext>
            </a:extLst>
          </p:cNvPr>
          <p:cNvSpPr/>
          <p:nvPr/>
        </p:nvSpPr>
        <p:spPr>
          <a:xfrm>
            <a:off x="5761075" y="3005489"/>
            <a:ext cx="1280157" cy="563651"/>
          </a:xfrm>
          <a:prstGeom prst="ellipse">
            <a:avLst/>
          </a:prstGeom>
          <a:noFill/>
          <a:ln w="57150" cmpd="thickThi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リーフォーム: 図形 18">
            <a:extLst>
              <a:ext uri="{FF2B5EF4-FFF2-40B4-BE49-F238E27FC236}">
                <a16:creationId xmlns:a16="http://schemas.microsoft.com/office/drawing/2014/main" id="{DF321F62-5767-426A-ACF3-185BCA279B75}"/>
              </a:ext>
            </a:extLst>
          </p:cNvPr>
          <p:cNvSpPr/>
          <p:nvPr/>
        </p:nvSpPr>
        <p:spPr>
          <a:xfrm>
            <a:off x="5941778" y="3591612"/>
            <a:ext cx="689187" cy="1275478"/>
          </a:xfrm>
          <a:custGeom>
            <a:avLst/>
            <a:gdLst>
              <a:gd name="connsiteX0" fmla="*/ 115409 w 321770"/>
              <a:gd name="connsiteY0" fmla="*/ 0 h 1076026"/>
              <a:gd name="connsiteX1" fmla="*/ 319596 w 321770"/>
              <a:gd name="connsiteY1" fmla="*/ 923277 h 1076026"/>
              <a:gd name="connsiteX2" fmla="*/ 0 w 321770"/>
              <a:gd name="connsiteY2" fmla="*/ 1065320 h 1076026"/>
            </a:gdLst>
            <a:ahLst/>
            <a:cxnLst>
              <a:cxn ang="0">
                <a:pos x="connsiteX0" y="connsiteY0"/>
              </a:cxn>
              <a:cxn ang="0">
                <a:pos x="connsiteX1" y="connsiteY1"/>
              </a:cxn>
              <a:cxn ang="0">
                <a:pos x="connsiteX2" y="connsiteY2"/>
              </a:cxn>
            </a:cxnLst>
            <a:rect l="l" t="t" r="r" b="b"/>
            <a:pathLst>
              <a:path w="321770" h="1076026">
                <a:moveTo>
                  <a:pt x="115409" y="0"/>
                </a:moveTo>
                <a:cubicBezTo>
                  <a:pt x="227120" y="372862"/>
                  <a:pt x="338831" y="745724"/>
                  <a:pt x="319596" y="923277"/>
                </a:cubicBezTo>
                <a:cubicBezTo>
                  <a:pt x="300361" y="1100830"/>
                  <a:pt x="150180" y="1083075"/>
                  <a:pt x="0" y="1065320"/>
                </a:cubicBezTo>
              </a:path>
            </a:pathLst>
          </a:custGeom>
          <a:noFill/>
          <a:ln w="60325">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左 19">
            <a:extLst>
              <a:ext uri="{FF2B5EF4-FFF2-40B4-BE49-F238E27FC236}">
                <a16:creationId xmlns:a16="http://schemas.microsoft.com/office/drawing/2014/main" id="{E75199BB-5BD3-4B94-99D0-F3EE2EA0EDF6}"/>
              </a:ext>
            </a:extLst>
          </p:cNvPr>
          <p:cNvSpPr/>
          <p:nvPr/>
        </p:nvSpPr>
        <p:spPr>
          <a:xfrm>
            <a:off x="7041232" y="2519590"/>
            <a:ext cx="2108269" cy="114592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UD デジタル 教科書体 NP-B" panose="02020700000000000000" pitchFamily="18" charset="-128"/>
                <a:ea typeface="UD デジタル 教科書体 NP-B" panose="02020700000000000000" pitchFamily="18" charset="-128"/>
              </a:rPr>
              <a:t>社会参加支援に</a:t>
            </a:r>
            <a:endParaRPr kumimoji="1" lang="en-US" altLang="ja-JP" sz="1400" dirty="0">
              <a:latin typeface="UD デジタル 教科書体 NP-B" panose="02020700000000000000" pitchFamily="18" charset="-128"/>
              <a:ea typeface="UD デジタル 教科書体 NP-B" panose="02020700000000000000" pitchFamily="18" charset="-128"/>
            </a:endParaRPr>
          </a:p>
          <a:p>
            <a:pPr algn="ctr"/>
            <a:r>
              <a:rPr kumimoji="1" lang="ja-JP" altLang="en-US" sz="1400" dirty="0">
                <a:latin typeface="UD デジタル 教科書体 NP-B" panose="02020700000000000000" pitchFamily="18" charset="-128"/>
                <a:ea typeface="UD デジタル 教科書体 NP-B" panose="02020700000000000000" pitchFamily="18" charset="-128"/>
              </a:rPr>
              <a:t>フォーカス</a:t>
            </a:r>
          </a:p>
        </p:txBody>
      </p:sp>
    </p:spTree>
    <p:extLst>
      <p:ext uri="{BB962C8B-B14F-4D97-AF65-F5344CB8AC3E}">
        <p14:creationId xmlns:p14="http://schemas.microsoft.com/office/powerpoint/2010/main" val="1738710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C28E7-D4F6-4484-8E17-3154FB020013}"/>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666CB9BB-91B7-4255-A052-B221C14D3626}"/>
              </a:ext>
            </a:extLst>
          </p:cNvPr>
          <p:cNvGrpSpPr/>
          <p:nvPr/>
        </p:nvGrpSpPr>
        <p:grpSpPr>
          <a:xfrm>
            <a:off x="56456" y="332656"/>
            <a:ext cx="3351181" cy="1580709"/>
            <a:chOff x="-16530" y="3072428"/>
            <a:chExt cx="3351181" cy="1580709"/>
          </a:xfrm>
        </p:grpSpPr>
        <p:sp>
          <p:nvSpPr>
            <p:cNvPr id="11" name="タイトル 1">
              <a:extLst>
                <a:ext uri="{FF2B5EF4-FFF2-40B4-BE49-F238E27FC236}">
                  <a16:creationId xmlns:a16="http://schemas.microsoft.com/office/drawing/2014/main" id="{992575D5-3EE7-412C-ABC9-AE5FA33C8A8D}"/>
                </a:ext>
              </a:extLst>
            </p:cNvPr>
            <p:cNvSpPr txBox="1">
              <a:spLocks/>
            </p:cNvSpPr>
            <p:nvPr/>
          </p:nvSpPr>
          <p:spPr>
            <a:xfrm>
              <a:off x="-16530" y="3072428"/>
              <a:ext cx="2880320" cy="504056"/>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200" dirty="0">
                  <a:latin typeface="UD デジタル 教科書体 NP-B" panose="02020700000000000000" pitchFamily="18" charset="-128"/>
                  <a:ea typeface="UD デジタル 教科書体 NP-B" panose="02020700000000000000" pitchFamily="18" charset="-128"/>
                </a:rPr>
                <a:t>２．想定する就労先</a:t>
              </a:r>
            </a:p>
          </p:txBody>
        </p:sp>
        <p:sp>
          <p:nvSpPr>
            <p:cNvPr id="9" name="タイトル 1">
              <a:extLst>
                <a:ext uri="{FF2B5EF4-FFF2-40B4-BE49-F238E27FC236}">
                  <a16:creationId xmlns:a16="http://schemas.microsoft.com/office/drawing/2014/main" id="{556B6AD0-3012-42C0-AD13-6182F3CF496E}"/>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ja-JP" sz="2200" kern="100" dirty="0">
                  <a:latin typeface="UD デジタル 教科書体 NP-B" panose="02020700000000000000" pitchFamily="18" charset="-128"/>
                  <a:ea typeface="UD デジタル 教科書体 NP-B" panose="02020700000000000000" pitchFamily="18" charset="-128"/>
                </a:rPr>
                <a:t>私たちが２年間の支援の中で目標とする人材像</a:t>
              </a:r>
              <a:endParaRPr lang="ja-JP" altLang="en-US" sz="2200" dirty="0">
                <a:latin typeface="UD デジタル 教科書体 NP-B" panose="02020700000000000000" pitchFamily="18" charset="-128"/>
                <a:ea typeface="UD デジタル 教科書体 NP-B" panose="02020700000000000000" pitchFamily="18" charset="-128"/>
              </a:endParaRPr>
            </a:p>
          </p:txBody>
        </p:sp>
      </p:grpSp>
      <p:sp>
        <p:nvSpPr>
          <p:cNvPr id="12" name="コンテンツ プレースホルダー 2">
            <a:extLst>
              <a:ext uri="{FF2B5EF4-FFF2-40B4-BE49-F238E27FC236}">
                <a16:creationId xmlns:a16="http://schemas.microsoft.com/office/drawing/2014/main" id="{1AC3FAC8-CF25-4EA1-B18F-0E1559EFA85F}"/>
              </a:ext>
            </a:extLst>
          </p:cNvPr>
          <p:cNvSpPr txBox="1">
            <a:spLocks/>
          </p:cNvSpPr>
          <p:nvPr/>
        </p:nvSpPr>
        <p:spPr>
          <a:xfrm>
            <a:off x="3577202" y="288375"/>
            <a:ext cx="6048672" cy="3069217"/>
          </a:xfrm>
          <a:prstGeom prst="rect">
            <a:avLst/>
          </a:prstGeom>
        </p:spPr>
        <p:txBody>
          <a:bodyPr vert="horz" lIns="91440" tIns="45720" rIns="91440" bIns="45720" rtlCol="0" anchor="t">
            <a:normAutofit/>
          </a:bodyPr>
          <a:lstStyle>
            <a:lvl1pPr marL="342900" lvl="0" indent="-342900" defTabSz="685800">
              <a:lnSpc>
                <a:spcPct val="120000"/>
              </a:lnSpc>
              <a:spcBef>
                <a:spcPts val="1000"/>
              </a:spcBef>
              <a:buClr>
                <a:schemeClr val="accent1"/>
              </a:buClr>
              <a:buSzPct val="100000"/>
              <a:buFont typeface="+mj-lt"/>
              <a:buAutoNum type="arabicParenBoth"/>
              <a:defRPr kumimoji="1" kern="100" cap="none">
                <a:solidFill>
                  <a:schemeClr val="tx1"/>
                </a:solidFill>
                <a:effectLst/>
                <a:latin typeface="UD デジタル 教科書体 NP-B" panose="02020700000000000000" pitchFamily="18" charset="-128"/>
                <a:ea typeface="UD デジタル 教科書体 NP-B" panose="02020700000000000000" pitchFamily="18" charset="-128"/>
              </a:defRPr>
            </a:lvl1pPr>
            <a:lvl2pPr marL="685800" indent="-228600" defTabSz="685800">
              <a:lnSpc>
                <a:spcPct val="120000"/>
              </a:lnSpc>
              <a:spcBef>
                <a:spcPts val="500"/>
              </a:spcBef>
              <a:buClr>
                <a:schemeClr val="accent1"/>
              </a:buClr>
              <a:buSzPct val="100000"/>
              <a:buFont typeface="Arial" panose="020B0604020202020204" pitchFamily="34" charset="0"/>
              <a:buChar char="•"/>
              <a:defRPr kumimoji="1" sz="1600" cap="none" baseline="0">
                <a:solidFill>
                  <a:schemeClr val="tx1"/>
                </a:solidFill>
                <a:effectLst/>
              </a:defRPr>
            </a:lvl2pPr>
            <a:lvl3pPr marL="1143000" indent="-228600" defTabSz="685800">
              <a:lnSpc>
                <a:spcPct val="120000"/>
              </a:lnSpc>
              <a:spcBef>
                <a:spcPts val="500"/>
              </a:spcBef>
              <a:buClr>
                <a:schemeClr val="accent1"/>
              </a:buClr>
              <a:buSzPct val="100000"/>
              <a:buFont typeface="Arial" panose="020B0604020202020204" pitchFamily="34" charset="0"/>
              <a:buChar char="•"/>
              <a:defRPr kumimoji="1" sz="1600" cap="none">
                <a:solidFill>
                  <a:schemeClr val="tx1"/>
                </a:solidFill>
                <a:effectLst/>
              </a:defRPr>
            </a:lvl3pPr>
            <a:lvl4pPr marL="1600200" indent="-228600" defTabSz="685800">
              <a:lnSpc>
                <a:spcPct val="120000"/>
              </a:lnSpc>
              <a:spcBef>
                <a:spcPts val="500"/>
              </a:spcBef>
              <a:buClr>
                <a:schemeClr val="accent1"/>
              </a:buClr>
              <a:buSzPct val="100000"/>
              <a:buFont typeface="Arial" panose="020B0604020202020204" pitchFamily="34" charset="0"/>
              <a:buChar char="•"/>
              <a:defRPr kumimoji="1" sz="1400" cap="none" baseline="0">
                <a:solidFill>
                  <a:schemeClr val="tx1"/>
                </a:solidFill>
                <a:effectLst/>
              </a:defRPr>
            </a:lvl4pPr>
            <a:lvl5pPr marL="2057400" indent="-228600" defTabSz="685800">
              <a:lnSpc>
                <a:spcPct val="120000"/>
              </a:lnSpc>
              <a:spcBef>
                <a:spcPts val="500"/>
              </a:spcBef>
              <a:buClr>
                <a:schemeClr val="accent1"/>
              </a:buClr>
              <a:buSzPct val="100000"/>
              <a:buFont typeface="Arial" panose="020B0604020202020204" pitchFamily="34" charset="0"/>
              <a:buChar char="•"/>
              <a:defRPr kumimoji="1" sz="1200" cap="none">
                <a:solidFill>
                  <a:schemeClr val="tx1"/>
                </a:solidFill>
                <a:effectLst/>
              </a:defRPr>
            </a:lvl5pPr>
            <a:lvl6pPr marL="2514600" indent="-228600" defTabSz="914400">
              <a:lnSpc>
                <a:spcPct val="120000"/>
              </a:lnSpc>
              <a:spcBef>
                <a:spcPts val="500"/>
              </a:spcBef>
              <a:buClr>
                <a:schemeClr val="accent1"/>
              </a:buClr>
              <a:buSzPct val="100000"/>
              <a:buFont typeface="Arial" panose="020B0604020202020204" pitchFamily="34" charset="0"/>
              <a:buChar char="•"/>
              <a:defRPr kumimoji="1" sz="1200">
                <a:solidFill>
                  <a:schemeClr val="tx1"/>
                </a:solidFill>
                <a:effectLst/>
              </a:defRPr>
            </a:lvl6pPr>
            <a:lvl7pPr marL="2971800" indent="-228600" defTabSz="914400">
              <a:lnSpc>
                <a:spcPct val="120000"/>
              </a:lnSpc>
              <a:spcBef>
                <a:spcPts val="500"/>
              </a:spcBef>
              <a:buClr>
                <a:schemeClr val="accent1"/>
              </a:buClr>
              <a:buSzPct val="100000"/>
              <a:buFont typeface="Arial" panose="020B0604020202020204" pitchFamily="34" charset="0"/>
              <a:buChar char="•"/>
              <a:defRPr kumimoji="1" sz="1200">
                <a:solidFill>
                  <a:schemeClr val="tx1"/>
                </a:solidFill>
                <a:effectLst/>
              </a:defRPr>
            </a:lvl7pPr>
            <a:lvl8pPr marL="3429000" indent="-228600" defTabSz="914400">
              <a:lnSpc>
                <a:spcPct val="120000"/>
              </a:lnSpc>
              <a:spcBef>
                <a:spcPts val="500"/>
              </a:spcBef>
              <a:buClr>
                <a:schemeClr val="accent1"/>
              </a:buClr>
              <a:buSzPct val="100000"/>
              <a:buFont typeface="Arial" panose="020B0604020202020204" pitchFamily="34" charset="0"/>
              <a:buChar char="•"/>
              <a:defRPr kumimoji="1" sz="1200" baseline="0">
                <a:solidFill>
                  <a:schemeClr val="tx1"/>
                </a:solidFill>
                <a:effectLst/>
              </a:defRPr>
            </a:lvl8pPr>
            <a:lvl9pPr marL="3886200" indent="-228600" defTabSz="914400">
              <a:lnSpc>
                <a:spcPct val="120000"/>
              </a:lnSpc>
              <a:spcBef>
                <a:spcPts val="500"/>
              </a:spcBef>
              <a:buClr>
                <a:schemeClr val="accent1"/>
              </a:buClr>
              <a:buSzPct val="100000"/>
              <a:buFont typeface="Arial" panose="020B0604020202020204" pitchFamily="34" charset="0"/>
              <a:buChar char="•"/>
              <a:defRPr kumimoji="1" sz="1200" baseline="0">
                <a:solidFill>
                  <a:schemeClr val="tx1"/>
                </a:solidFill>
                <a:effectLst/>
              </a:defRPr>
            </a:lvl9pPr>
          </a:lstStyle>
          <a:p>
            <a:r>
              <a:rPr lang="en-US" altLang="ja-JP" sz="1400" dirty="0"/>
              <a:t>ICT</a:t>
            </a:r>
            <a:r>
              <a:rPr lang="ja-JP" altLang="en-US" sz="1400" dirty="0"/>
              <a:t>関連での在宅就労</a:t>
            </a:r>
            <a:endParaRPr lang="en-US" altLang="ja-JP" sz="1400" dirty="0"/>
          </a:p>
          <a:p>
            <a:r>
              <a:rPr lang="ja-JP" altLang="ja-JP" sz="1400" dirty="0"/>
              <a:t>障がい福祉サービス指導員等</a:t>
            </a:r>
          </a:p>
          <a:p>
            <a:r>
              <a:rPr lang="ja-JP" altLang="en-US" sz="1400" dirty="0"/>
              <a:t>福祉農業従事者</a:t>
            </a:r>
            <a:endParaRPr lang="ja-JP" altLang="ja-JP" sz="1400" dirty="0"/>
          </a:p>
          <a:p>
            <a:r>
              <a:rPr lang="ja-JP" altLang="ja-JP" sz="1400" dirty="0"/>
              <a:t>中小企業等での</a:t>
            </a:r>
            <a:r>
              <a:rPr lang="en-US" altLang="ja-JP" sz="1400" dirty="0"/>
              <a:t>IT</a:t>
            </a:r>
            <a:r>
              <a:rPr lang="ja-JP" altLang="ja-JP" sz="1400" dirty="0"/>
              <a:t>担当者</a:t>
            </a:r>
          </a:p>
          <a:p>
            <a:r>
              <a:rPr lang="en-US" altLang="ja-JP" sz="1400" dirty="0"/>
              <a:t>ICT</a:t>
            </a:r>
            <a:r>
              <a:rPr lang="ja-JP" altLang="ja-JP" sz="1400" dirty="0"/>
              <a:t>関連での在宅就労</a:t>
            </a:r>
          </a:p>
          <a:p>
            <a:r>
              <a:rPr lang="ja-JP" altLang="ja-JP" sz="1400" dirty="0"/>
              <a:t>起業支援</a:t>
            </a:r>
            <a:endParaRPr lang="en-US" altLang="ja-JP" sz="1400" dirty="0"/>
          </a:p>
          <a:p>
            <a:r>
              <a:rPr lang="ja-JP" altLang="en-US" sz="1400" dirty="0"/>
              <a:t>その他</a:t>
            </a:r>
            <a:endParaRPr lang="ja-JP" altLang="ja-JP" sz="1400" dirty="0"/>
          </a:p>
        </p:txBody>
      </p:sp>
      <p:sp>
        <p:nvSpPr>
          <p:cNvPr id="14" name="タイトル 1">
            <a:extLst>
              <a:ext uri="{FF2B5EF4-FFF2-40B4-BE49-F238E27FC236}">
                <a16:creationId xmlns:a16="http://schemas.microsoft.com/office/drawing/2014/main" id="{D06A9AA0-1FB0-4DF1-B85A-A4A31E2CEC8C}"/>
              </a:ext>
            </a:extLst>
          </p:cNvPr>
          <p:cNvSpPr txBox="1">
            <a:spLocks/>
          </p:cNvSpPr>
          <p:nvPr/>
        </p:nvSpPr>
        <p:spPr>
          <a:xfrm>
            <a:off x="357549" y="3486973"/>
            <a:ext cx="2880320" cy="504056"/>
          </a:xfrm>
          <a:prstGeom prst="rect">
            <a:avLst/>
          </a:prstGeom>
        </p:spPr>
        <p:txBody>
          <a:bodyPr vert="horz" lIns="91440" tIns="45720" rIns="91440" bIns="45720" rtlCol="0" anchor="t">
            <a:normAutofit fontScale="77500" lnSpcReduction="20000"/>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200" dirty="0">
                <a:latin typeface="UD デジタル 教科書体 NP-B" panose="02020700000000000000" pitchFamily="18" charset="-128"/>
                <a:ea typeface="UD デジタル 教科書体 NP-B" panose="02020700000000000000" pitchFamily="18" charset="-128"/>
              </a:rPr>
              <a:t>*私たちの活動フィールド</a:t>
            </a:r>
          </a:p>
        </p:txBody>
      </p:sp>
      <p:sp>
        <p:nvSpPr>
          <p:cNvPr id="15" name="コンテンツ プレースホルダー 2">
            <a:extLst>
              <a:ext uri="{FF2B5EF4-FFF2-40B4-BE49-F238E27FC236}">
                <a16:creationId xmlns:a16="http://schemas.microsoft.com/office/drawing/2014/main" id="{CD335949-A351-4530-A2BD-FB856921C4E4}"/>
              </a:ext>
            </a:extLst>
          </p:cNvPr>
          <p:cNvSpPr txBox="1">
            <a:spLocks/>
          </p:cNvSpPr>
          <p:nvPr/>
        </p:nvSpPr>
        <p:spPr>
          <a:xfrm>
            <a:off x="3577202" y="3389404"/>
            <a:ext cx="6048672" cy="2880320"/>
          </a:xfrm>
          <a:prstGeom prst="rect">
            <a:avLst/>
          </a:prstGeom>
        </p:spPr>
        <p:txBody>
          <a:bodyPr vert="horz" lIns="91440" tIns="45720" rIns="91440" bIns="45720" rtlCol="0" anchor="t">
            <a:normAutofit/>
          </a:bodyPr>
          <a:lstStyle>
            <a:defPPr>
              <a:defRPr lang="en-US"/>
            </a:defPPr>
            <a:lvl1pPr marL="342900" lvl="0" indent="-342900" defTabSz="685800">
              <a:lnSpc>
                <a:spcPct val="120000"/>
              </a:lnSpc>
              <a:spcBef>
                <a:spcPts val="1000"/>
              </a:spcBef>
              <a:buClr>
                <a:schemeClr val="accent1"/>
              </a:buClr>
              <a:buSzPct val="100000"/>
              <a:buFont typeface="+mj-lt"/>
              <a:buAutoNum type="arabicParenBoth"/>
              <a:defRPr kumimoji="1" kern="100" cap="none">
                <a:solidFill>
                  <a:schemeClr val="tx1"/>
                </a:solidFill>
                <a:effectLst/>
                <a:latin typeface="UD デジタル 教科書体 NP-B" panose="02020700000000000000" pitchFamily="18" charset="-128"/>
                <a:ea typeface="UD デジタル 教科書体 NP-B" panose="02020700000000000000" pitchFamily="18" charset="-128"/>
              </a:defRPr>
            </a:lvl1pPr>
            <a:lvl2pPr marL="685800" indent="-228600" defTabSz="685800">
              <a:lnSpc>
                <a:spcPct val="120000"/>
              </a:lnSpc>
              <a:spcBef>
                <a:spcPts val="500"/>
              </a:spcBef>
              <a:buClr>
                <a:schemeClr val="accent1"/>
              </a:buClr>
              <a:buSzPct val="100000"/>
              <a:buFont typeface="Arial" panose="020B0604020202020204" pitchFamily="34" charset="0"/>
              <a:buChar char="•"/>
              <a:defRPr kumimoji="1" sz="1600" cap="none" baseline="0">
                <a:solidFill>
                  <a:schemeClr val="tx1"/>
                </a:solidFill>
                <a:effectLst/>
              </a:defRPr>
            </a:lvl2pPr>
            <a:lvl3pPr marL="1143000" indent="-228600" defTabSz="685800">
              <a:lnSpc>
                <a:spcPct val="120000"/>
              </a:lnSpc>
              <a:spcBef>
                <a:spcPts val="500"/>
              </a:spcBef>
              <a:buClr>
                <a:schemeClr val="accent1"/>
              </a:buClr>
              <a:buSzPct val="100000"/>
              <a:buFont typeface="Arial" panose="020B0604020202020204" pitchFamily="34" charset="0"/>
              <a:buChar char="•"/>
              <a:defRPr kumimoji="1" sz="1600" cap="none">
                <a:solidFill>
                  <a:schemeClr val="tx1"/>
                </a:solidFill>
                <a:effectLst/>
              </a:defRPr>
            </a:lvl3pPr>
            <a:lvl4pPr marL="1600200" indent="-228600" defTabSz="685800">
              <a:lnSpc>
                <a:spcPct val="120000"/>
              </a:lnSpc>
              <a:spcBef>
                <a:spcPts val="500"/>
              </a:spcBef>
              <a:buClr>
                <a:schemeClr val="accent1"/>
              </a:buClr>
              <a:buSzPct val="100000"/>
              <a:buFont typeface="Arial" panose="020B0604020202020204" pitchFamily="34" charset="0"/>
              <a:buChar char="•"/>
              <a:defRPr kumimoji="1" sz="1400" cap="none" baseline="0">
                <a:solidFill>
                  <a:schemeClr val="tx1"/>
                </a:solidFill>
                <a:effectLst/>
              </a:defRPr>
            </a:lvl4pPr>
            <a:lvl5pPr marL="2057400" indent="-228600" defTabSz="685800">
              <a:lnSpc>
                <a:spcPct val="120000"/>
              </a:lnSpc>
              <a:spcBef>
                <a:spcPts val="500"/>
              </a:spcBef>
              <a:buClr>
                <a:schemeClr val="accent1"/>
              </a:buClr>
              <a:buSzPct val="100000"/>
              <a:buFont typeface="Arial" panose="020B0604020202020204" pitchFamily="34" charset="0"/>
              <a:buChar char="•"/>
              <a:defRPr kumimoji="1" sz="1200" cap="none">
                <a:solidFill>
                  <a:schemeClr val="tx1"/>
                </a:solidFill>
                <a:effectLst/>
              </a:defRPr>
            </a:lvl5pPr>
            <a:lvl6pPr marL="2514600" indent="-228600" defTabSz="914400">
              <a:lnSpc>
                <a:spcPct val="120000"/>
              </a:lnSpc>
              <a:spcBef>
                <a:spcPts val="500"/>
              </a:spcBef>
              <a:buClr>
                <a:schemeClr val="accent1"/>
              </a:buClr>
              <a:buSzPct val="100000"/>
              <a:buFont typeface="Arial" panose="020B0604020202020204" pitchFamily="34" charset="0"/>
              <a:buChar char="•"/>
              <a:defRPr kumimoji="1" sz="1200">
                <a:solidFill>
                  <a:schemeClr val="tx1"/>
                </a:solidFill>
                <a:effectLst/>
              </a:defRPr>
            </a:lvl6pPr>
            <a:lvl7pPr marL="2971800" indent="-228600" defTabSz="914400">
              <a:lnSpc>
                <a:spcPct val="120000"/>
              </a:lnSpc>
              <a:spcBef>
                <a:spcPts val="500"/>
              </a:spcBef>
              <a:buClr>
                <a:schemeClr val="accent1"/>
              </a:buClr>
              <a:buSzPct val="100000"/>
              <a:buFont typeface="Arial" panose="020B0604020202020204" pitchFamily="34" charset="0"/>
              <a:buChar char="•"/>
              <a:defRPr kumimoji="1" sz="1200">
                <a:solidFill>
                  <a:schemeClr val="tx1"/>
                </a:solidFill>
                <a:effectLst/>
              </a:defRPr>
            </a:lvl7pPr>
            <a:lvl8pPr marL="3429000" indent="-228600" defTabSz="914400">
              <a:lnSpc>
                <a:spcPct val="120000"/>
              </a:lnSpc>
              <a:spcBef>
                <a:spcPts val="500"/>
              </a:spcBef>
              <a:buClr>
                <a:schemeClr val="accent1"/>
              </a:buClr>
              <a:buSzPct val="100000"/>
              <a:buFont typeface="Arial" panose="020B0604020202020204" pitchFamily="34" charset="0"/>
              <a:buChar char="•"/>
              <a:defRPr kumimoji="1" sz="1200" baseline="0">
                <a:solidFill>
                  <a:schemeClr val="tx1"/>
                </a:solidFill>
                <a:effectLst/>
              </a:defRPr>
            </a:lvl8pPr>
            <a:lvl9pPr marL="3886200" indent="-228600" defTabSz="914400">
              <a:lnSpc>
                <a:spcPct val="120000"/>
              </a:lnSpc>
              <a:spcBef>
                <a:spcPts val="500"/>
              </a:spcBef>
              <a:buClr>
                <a:schemeClr val="accent1"/>
              </a:buClr>
              <a:buSzPct val="100000"/>
              <a:buFont typeface="Arial" panose="020B0604020202020204" pitchFamily="34" charset="0"/>
              <a:buChar char="•"/>
              <a:defRPr kumimoji="1" sz="1200" baseline="0">
                <a:solidFill>
                  <a:schemeClr val="tx1"/>
                </a:solidFill>
                <a:effectLst/>
              </a:defRPr>
            </a:lvl9pPr>
          </a:lstStyle>
          <a:p>
            <a:endParaRPr lang="ja-JP" altLang="ja-JP" sz="1400" dirty="0"/>
          </a:p>
        </p:txBody>
      </p:sp>
    </p:spTree>
    <p:extLst>
      <p:ext uri="{BB962C8B-B14F-4D97-AF65-F5344CB8AC3E}">
        <p14:creationId xmlns:p14="http://schemas.microsoft.com/office/powerpoint/2010/main" val="393745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291525D-2F62-4D00-9F93-42BF3DE9B32F}"/>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EEE1732F-37EC-4FCF-BBD2-945A2BBBB293}"/>
              </a:ext>
            </a:extLst>
          </p:cNvPr>
          <p:cNvSpPr>
            <a:spLocks noGrp="1"/>
          </p:cNvSpPr>
          <p:nvPr>
            <p:ph idx="4294967295"/>
          </p:nvPr>
        </p:nvSpPr>
        <p:spPr>
          <a:xfrm>
            <a:off x="3349462" y="970756"/>
            <a:ext cx="6424612" cy="4916487"/>
          </a:xfrm>
        </p:spPr>
        <p:txBody>
          <a:bodyPr anchor="t">
            <a:normAutofit/>
          </a:bodyPr>
          <a:lstStyle/>
          <a:p>
            <a:pPr marL="342900" lvl="0" indent="-342900" algn="l">
              <a:buFont typeface="+mj-lt"/>
              <a:buAutoNum type="arabicParenBoth"/>
            </a:pPr>
            <a:r>
              <a:rPr lang="ja-JP" altLang="ja-JP" sz="1500" kern="100" dirty="0">
                <a:effectLst/>
                <a:latin typeface="UD デジタル 教科書体 NP-B" panose="02020700000000000000" pitchFamily="18" charset="-128"/>
                <a:ea typeface="UD デジタル 教科書体 NP-B" panose="02020700000000000000" pitchFamily="18" charset="-128"/>
              </a:rPr>
              <a:t>入所前【事前説明・見学会・体験利用など】</a:t>
            </a:r>
            <a:endParaRPr lang="en-US" altLang="ja-JP" sz="1500" kern="100" dirty="0">
              <a:effectLst/>
              <a:latin typeface="UD デジタル 教科書体 NP-B" panose="02020700000000000000" pitchFamily="18" charset="-128"/>
              <a:ea typeface="UD デジタル 教科書体 NP-B" panose="02020700000000000000" pitchFamily="18" charset="-128"/>
            </a:endParaRPr>
          </a:p>
          <a:p>
            <a:pPr marL="342900" lvl="0" indent="-342900" algn="l">
              <a:buFont typeface="+mj-lt"/>
              <a:buAutoNum type="arabicParenBoth"/>
            </a:pPr>
            <a:endParaRPr lang="en-US" altLang="ja-JP" sz="1500" kern="100" dirty="0">
              <a:effectLst/>
              <a:latin typeface="UD デジタル 教科書体 NP-B" panose="02020700000000000000" pitchFamily="18" charset="-128"/>
              <a:ea typeface="UD デジタル 教科書体 NP-B" panose="02020700000000000000" pitchFamily="18" charset="-128"/>
            </a:endParaRPr>
          </a:p>
          <a:p>
            <a:pPr marL="342900" lvl="0" indent="-342900" algn="l">
              <a:buFont typeface="+mj-lt"/>
              <a:buAutoNum type="arabicParenBoth"/>
            </a:pPr>
            <a:endParaRPr lang="en-US" altLang="ja-JP" sz="500" kern="100" dirty="0">
              <a:effectLst/>
              <a:latin typeface="UD デジタル 教科書体 NP-B" panose="02020700000000000000" pitchFamily="18" charset="-128"/>
              <a:ea typeface="UD デジタル 教科書体 NP-B" panose="02020700000000000000" pitchFamily="18" charset="-128"/>
            </a:endParaRPr>
          </a:p>
          <a:p>
            <a:pPr marL="342900" lvl="0" indent="-342900" algn="l">
              <a:buFont typeface="+mj-lt"/>
              <a:buAutoNum type="arabicParenBoth"/>
            </a:pPr>
            <a:r>
              <a:rPr lang="ja-JP" altLang="ja-JP" sz="1500" kern="100" dirty="0">
                <a:effectLst/>
                <a:latin typeface="UD デジタル 教科書体 NP-B" panose="02020700000000000000" pitchFamily="18" charset="-128"/>
                <a:ea typeface="UD デジタル 教科書体 NP-B" panose="02020700000000000000" pitchFamily="18" charset="-128"/>
              </a:rPr>
              <a:t>暫定利用期間【初期２か月】　</a:t>
            </a:r>
            <a:br>
              <a:rPr lang="en-US" altLang="ja-JP" sz="1500" kern="100" dirty="0">
                <a:effectLst/>
                <a:latin typeface="UD デジタル 教科書体 NP-B" panose="02020700000000000000" pitchFamily="18" charset="-128"/>
                <a:ea typeface="UD デジタル 教科書体 NP-B" panose="02020700000000000000" pitchFamily="18" charset="-128"/>
              </a:rPr>
            </a:br>
            <a:r>
              <a:rPr lang="ja-JP" altLang="en-US" sz="1500" kern="100" dirty="0">
                <a:effectLst/>
                <a:latin typeface="UD デジタル 教科書体 NP-B" panose="02020700000000000000" pitchFamily="18" charset="-128"/>
                <a:ea typeface="UD デジタル 教科書体 NP-B" panose="02020700000000000000" pitchFamily="18" charset="-128"/>
              </a:rPr>
              <a:t>家庭</a:t>
            </a:r>
            <a:r>
              <a:rPr lang="ja-JP" altLang="ja-JP" sz="1500" kern="100" dirty="0">
                <a:effectLst/>
                <a:latin typeface="UD デジタル 教科書体 NP-B" panose="02020700000000000000" pitchFamily="18" charset="-128"/>
                <a:ea typeface="UD デジタル 教科書体 NP-B" panose="02020700000000000000" pitchFamily="18" charset="-128"/>
              </a:rPr>
              <a:t>訪問面談・日本語能力検定模試・医師による発達心理テストの実施、基礎的作業などを通して、期間内での就労移行の可能性を検討し、関係者の協議の</a:t>
            </a:r>
            <a:r>
              <a:rPr lang="ja-JP" altLang="en-US" sz="1500" kern="100" dirty="0">
                <a:effectLst/>
                <a:latin typeface="UD デジタル 教科書体 NP-B" panose="02020700000000000000" pitchFamily="18" charset="-128"/>
                <a:ea typeface="UD デジタル 教科書体 NP-B" panose="02020700000000000000" pitchFamily="18" charset="-128"/>
              </a:rPr>
              <a:t>もと</a:t>
            </a:r>
            <a:r>
              <a:rPr lang="ja-JP" altLang="ja-JP" sz="1500" kern="100" dirty="0">
                <a:effectLst/>
                <a:latin typeface="UD デジタル 教科書体 NP-B" panose="02020700000000000000" pitchFamily="18" charset="-128"/>
                <a:ea typeface="UD デジタル 教科書体 NP-B" panose="02020700000000000000" pitchFamily="18" charset="-128"/>
              </a:rPr>
              <a:t>、就労移行支援利用の妥当性を決定します。</a:t>
            </a:r>
            <a:br>
              <a:rPr lang="en-US" altLang="ja-JP" sz="1500" kern="100" dirty="0">
                <a:effectLst/>
                <a:latin typeface="UD デジタル 教科書体 NP-B" panose="02020700000000000000" pitchFamily="18" charset="-128"/>
                <a:ea typeface="UD デジタル 教科書体 NP-B" panose="02020700000000000000" pitchFamily="18" charset="-128"/>
              </a:rPr>
            </a:br>
            <a:r>
              <a:rPr lang="ja-JP" altLang="ja-JP" sz="1500" kern="100" dirty="0">
                <a:effectLst/>
                <a:latin typeface="UD デジタル 教科書体 NP-B" panose="02020700000000000000" pitchFamily="18" charset="-128"/>
                <a:ea typeface="UD デジタル 教科書体 NP-B" panose="02020700000000000000" pitchFamily="18" charset="-128"/>
              </a:rPr>
              <a:t>総合的な判断になるが指針として</a:t>
            </a:r>
            <a:br>
              <a:rPr lang="en-US" altLang="ja-JP" sz="1500" kern="100" dirty="0">
                <a:effectLst/>
                <a:latin typeface="UD デジタル 教科書体 NP-B" panose="02020700000000000000" pitchFamily="18" charset="-128"/>
                <a:ea typeface="UD デジタル 教科書体 NP-B" panose="02020700000000000000" pitchFamily="18" charset="-128"/>
              </a:rPr>
            </a:br>
            <a:r>
              <a:rPr lang="ja-JP" altLang="en-US" sz="1500" kern="100" dirty="0">
                <a:effectLst/>
                <a:latin typeface="UD デジタル 教科書体 NP-B" panose="02020700000000000000" pitchFamily="18" charset="-128"/>
                <a:ea typeface="UD デジタル 教科書体 NP-B" panose="02020700000000000000" pitchFamily="18" charset="-128"/>
              </a:rPr>
              <a:t>　　①</a:t>
            </a:r>
            <a:r>
              <a:rPr lang="ja-JP" altLang="ja-JP" sz="1500" kern="100" dirty="0">
                <a:effectLst/>
                <a:latin typeface="UD デジタル 教科書体 NP-B" panose="02020700000000000000" pitchFamily="18" charset="-128"/>
                <a:ea typeface="UD デジタル 教科書体 NP-B" panose="02020700000000000000" pitchFamily="18" charset="-128"/>
              </a:rPr>
              <a:t>家族からの支援・連携が可能であり</a:t>
            </a:r>
            <a:br>
              <a:rPr lang="en-US" altLang="ja-JP" sz="1500" kern="100" dirty="0">
                <a:effectLst/>
                <a:latin typeface="UD デジタル 教科書体 NP-B" panose="02020700000000000000" pitchFamily="18" charset="-128"/>
                <a:ea typeface="UD デジタル 教科書体 NP-B" panose="02020700000000000000" pitchFamily="18" charset="-128"/>
              </a:rPr>
            </a:br>
            <a:r>
              <a:rPr lang="ja-JP" altLang="en-US" sz="1500" kern="100" dirty="0">
                <a:effectLst/>
                <a:latin typeface="UD デジタル 教科書体 NP-B" panose="02020700000000000000" pitchFamily="18" charset="-128"/>
                <a:ea typeface="UD デジタル 教科書体 NP-B" panose="02020700000000000000" pitchFamily="18" charset="-128"/>
              </a:rPr>
              <a:t>　　②</a:t>
            </a:r>
            <a:r>
              <a:rPr lang="ja-JP" altLang="ja-JP" sz="1500" kern="100" dirty="0">
                <a:effectLst/>
                <a:latin typeface="UD デジタル 教科書体 NP-B" panose="02020700000000000000" pitchFamily="18" charset="-128"/>
                <a:ea typeface="UD デジタル 教科書体 NP-B" panose="02020700000000000000" pitchFamily="18" charset="-128"/>
              </a:rPr>
              <a:t>日本語能力検定</a:t>
            </a:r>
            <a:r>
              <a:rPr lang="en-US" altLang="ja-JP" sz="1500" kern="100" dirty="0">
                <a:effectLst/>
                <a:latin typeface="UD デジタル 教科書体 NP-B" panose="02020700000000000000" pitchFamily="18" charset="-128"/>
                <a:ea typeface="UD デジタル 教科書体 NP-B" panose="02020700000000000000" pitchFamily="18" charset="-128"/>
              </a:rPr>
              <a:t>n4</a:t>
            </a:r>
            <a:r>
              <a:rPr lang="ja-JP" altLang="ja-JP" sz="1500" kern="100" dirty="0">
                <a:effectLst/>
                <a:latin typeface="UD デジタル 教科書体 NP-B" panose="02020700000000000000" pitchFamily="18" charset="-128"/>
                <a:ea typeface="UD デジタル 教科書体 NP-B" panose="02020700000000000000" pitchFamily="18" charset="-128"/>
              </a:rPr>
              <a:t>が</a:t>
            </a:r>
            <a:r>
              <a:rPr lang="ja-JP" altLang="en-US" sz="1500" kern="100" dirty="0">
                <a:effectLst/>
                <a:latin typeface="UD デジタル 教科書体 NP-B" panose="02020700000000000000" pitchFamily="18" charset="-128"/>
                <a:ea typeface="UD デジタル 教科書体 NP-B" panose="02020700000000000000" pitchFamily="18" charset="-128"/>
              </a:rPr>
              <a:t>支援によって</a:t>
            </a:r>
            <a:r>
              <a:rPr lang="ja-JP" altLang="en-US" sz="1500" kern="100" dirty="0">
                <a:latin typeface="UD デジタル 教科書体 NP-B" panose="02020700000000000000" pitchFamily="18" charset="-128"/>
                <a:ea typeface="UD デジタル 教科書体 NP-B" panose="02020700000000000000" pitchFamily="18" charset="-128"/>
              </a:rPr>
              <a:t>合格となる可能性があり</a:t>
            </a:r>
            <a:br>
              <a:rPr lang="en-US" altLang="ja-JP" sz="1500" kern="100" dirty="0">
                <a:latin typeface="UD デジタル 教科書体 NP-B" panose="02020700000000000000" pitchFamily="18" charset="-128"/>
                <a:ea typeface="UD デジタル 教科書体 NP-B" panose="02020700000000000000" pitchFamily="18" charset="-128"/>
              </a:rPr>
            </a:br>
            <a:r>
              <a:rPr lang="ja-JP" altLang="en-US" sz="1500" kern="100" dirty="0">
                <a:latin typeface="UD デジタル 教科書体 NP-B" panose="02020700000000000000" pitchFamily="18" charset="-128"/>
                <a:ea typeface="UD デジタル 教科書体 NP-B" panose="02020700000000000000" pitchFamily="18" charset="-128"/>
              </a:rPr>
              <a:t>　　③</a:t>
            </a:r>
            <a:r>
              <a:rPr lang="ja-JP" altLang="ja-JP" sz="1500" kern="100" dirty="0">
                <a:effectLst/>
                <a:latin typeface="UD デジタル 教科書体 NP-B" panose="02020700000000000000" pitchFamily="18" charset="-128"/>
                <a:ea typeface="UD デジタル 教科書体 NP-B" panose="02020700000000000000" pitchFamily="18" charset="-128"/>
              </a:rPr>
              <a:t>前向きな心理状態であり、かつ直ちに就労に生かせるスキル</a:t>
            </a:r>
            <a:r>
              <a:rPr lang="ja-JP" altLang="en-US" sz="1500" kern="100" dirty="0">
                <a:effectLst/>
                <a:latin typeface="UD デジタル 教科書体 NP-B" panose="02020700000000000000" pitchFamily="18" charset="-128"/>
                <a:ea typeface="UD デジタル 教科書体 NP-B" panose="02020700000000000000" pitchFamily="18" charset="-128"/>
              </a:rPr>
              <a:t>　</a:t>
            </a:r>
            <a:br>
              <a:rPr lang="en-US" altLang="ja-JP" sz="1500" kern="100" dirty="0">
                <a:latin typeface="UD デジタル 教科書体 NP-B" panose="02020700000000000000" pitchFamily="18" charset="-128"/>
                <a:ea typeface="UD デジタル 教科書体 NP-B" panose="02020700000000000000" pitchFamily="18" charset="-128"/>
              </a:rPr>
            </a:br>
            <a:r>
              <a:rPr lang="ja-JP" altLang="en-US" sz="1500" kern="100" dirty="0">
                <a:latin typeface="UD デジタル 教科書体 NP-B" panose="02020700000000000000" pitchFamily="18" charset="-128"/>
                <a:ea typeface="UD デジタル 教科書体 NP-B" panose="02020700000000000000" pitchFamily="18" charset="-128"/>
              </a:rPr>
              <a:t>　　　</a:t>
            </a:r>
            <a:r>
              <a:rPr lang="ja-JP" altLang="ja-JP" sz="1500" kern="100" dirty="0">
                <a:effectLst/>
                <a:latin typeface="UD デジタル 教科書体 NP-B" panose="02020700000000000000" pitchFamily="18" charset="-128"/>
                <a:ea typeface="UD デジタル 教科書体 NP-B" panose="02020700000000000000" pitchFamily="18" charset="-128"/>
              </a:rPr>
              <a:t>が想定される</a:t>
            </a:r>
            <a:r>
              <a:rPr lang="ja-JP" altLang="en-US" sz="1500" kern="100" dirty="0">
                <a:effectLst/>
                <a:latin typeface="UD デジタル 教科書体 NP-B" panose="02020700000000000000" pitchFamily="18" charset="-128"/>
                <a:ea typeface="UD デジタル 教科書体 NP-B" panose="02020700000000000000" pitchFamily="18" charset="-128"/>
              </a:rPr>
              <a:t>。</a:t>
            </a:r>
            <a:br>
              <a:rPr lang="en-US" altLang="ja-JP" sz="1500" kern="100" dirty="0">
                <a:latin typeface="UD デジタル 教科書体 NP-B" panose="02020700000000000000" pitchFamily="18" charset="-128"/>
                <a:ea typeface="UD デジタル 教科書体 NP-B" panose="02020700000000000000" pitchFamily="18" charset="-128"/>
              </a:rPr>
            </a:br>
            <a:r>
              <a:rPr lang="ja-JP" altLang="ja-JP" sz="1500" kern="100" dirty="0">
                <a:effectLst/>
                <a:latin typeface="UD デジタル 教科書体 NP-B" panose="02020700000000000000" pitchFamily="18" charset="-128"/>
                <a:ea typeface="UD デジタル 教科書体 NP-B" panose="02020700000000000000" pitchFamily="18" charset="-128"/>
              </a:rPr>
              <a:t>などの条件を満たす方について就労移行支援サービスの利用を薦めさせていただき、それ以外の方には別の福祉サービスの利用をお勧めする場合もある。</a:t>
            </a:r>
            <a:br>
              <a:rPr lang="en-US" altLang="ja-JP" sz="1500" kern="100" dirty="0">
                <a:effectLst/>
                <a:latin typeface="UD デジタル 教科書体 NP-B" panose="02020700000000000000" pitchFamily="18" charset="-128"/>
                <a:ea typeface="UD デジタル 教科書体 NP-B" panose="02020700000000000000" pitchFamily="18" charset="-128"/>
              </a:rPr>
            </a:br>
            <a:r>
              <a:rPr lang="ja-JP" altLang="ja-JP" sz="1500" kern="100" dirty="0">
                <a:effectLst/>
                <a:latin typeface="UD デジタル 教科書体 NP-B" panose="02020700000000000000" pitchFamily="18" charset="-128"/>
                <a:ea typeface="UD デジタル 教科書体 NP-B" panose="02020700000000000000" pitchFamily="18" charset="-128"/>
              </a:rPr>
              <a:t>上記の情報に基づき個別支援計画を作成・合意する。</a:t>
            </a:r>
            <a:endParaRPr lang="en-US" altLang="ja-JP" sz="1500" kern="100" dirty="0">
              <a:effectLst/>
              <a:latin typeface="UD デジタル 教科書体 NP-B" panose="02020700000000000000" pitchFamily="18" charset="-128"/>
              <a:ea typeface="UD デジタル 教科書体 NP-B" panose="02020700000000000000" pitchFamily="18" charset="-128"/>
            </a:endParaRPr>
          </a:p>
          <a:p>
            <a:pPr marL="0" lvl="0" indent="0" algn="l">
              <a:buNone/>
            </a:pPr>
            <a:r>
              <a:rPr lang="ja-JP" altLang="en-US" sz="1500" kern="100" dirty="0">
                <a:effectLst/>
                <a:latin typeface="UD デジタル 教科書体 NP-B" panose="02020700000000000000" pitchFamily="18" charset="-128"/>
                <a:ea typeface="UD デジタル 教科書体 NP-B" panose="02020700000000000000" pitchFamily="18" charset="-128"/>
              </a:rPr>
              <a:t>　　</a:t>
            </a:r>
            <a:r>
              <a:rPr lang="ja-JP" altLang="ja-JP" sz="1500" kern="100" dirty="0">
                <a:effectLst/>
                <a:latin typeface="UD デジタル 教科書体 NP-B" panose="02020700000000000000" pitchFamily="18" charset="-128"/>
                <a:ea typeface="UD デジタル 教科書体 NP-B" panose="02020700000000000000" pitchFamily="18" charset="-128"/>
              </a:rPr>
              <a:t>※詳細　</a:t>
            </a:r>
            <a:r>
              <a:rPr lang="en-US" altLang="ja-JP" sz="1500" kern="100" dirty="0">
                <a:effectLst/>
                <a:latin typeface="UD デジタル 教科書体 NP-B" panose="02020700000000000000" pitchFamily="18" charset="-128"/>
                <a:ea typeface="UD デジタル 教科書体 NP-B" panose="02020700000000000000" pitchFamily="18" charset="-128"/>
              </a:rPr>
              <a:t>4</a:t>
            </a:r>
            <a:r>
              <a:rPr lang="ja-JP" altLang="ja-JP" sz="1500" kern="100" dirty="0">
                <a:effectLst/>
                <a:latin typeface="UD デジタル 教科書体 NP-B" panose="02020700000000000000" pitchFamily="18" charset="-128"/>
                <a:ea typeface="UD デジタル 教科書体 NP-B" panose="02020700000000000000" pitchFamily="18" charset="-128"/>
              </a:rPr>
              <a:t>項　暫定利用期間（入所前から入所後</a:t>
            </a:r>
            <a:r>
              <a:rPr lang="en-US" altLang="ja-JP" sz="1500" kern="100" dirty="0">
                <a:effectLst/>
                <a:latin typeface="UD デジタル 教科書体 NP-B" panose="02020700000000000000" pitchFamily="18" charset="-128"/>
                <a:ea typeface="UD デジタル 教科書体 NP-B" panose="02020700000000000000" pitchFamily="18" charset="-128"/>
              </a:rPr>
              <a:t>2</a:t>
            </a:r>
            <a:r>
              <a:rPr lang="ja-JP" altLang="ja-JP" sz="1500" kern="100" dirty="0">
                <a:effectLst/>
                <a:latin typeface="UD デジタル 教科書体 NP-B" panose="02020700000000000000" pitchFamily="18" charset="-128"/>
                <a:ea typeface="UD デジタル 教科書体 NP-B" panose="02020700000000000000" pitchFamily="18" charset="-128"/>
              </a:rPr>
              <a:t>ヶ月まで）のアセ</a:t>
            </a:r>
            <a:br>
              <a:rPr lang="en-US" altLang="ja-JP" sz="1500" kern="100" dirty="0">
                <a:latin typeface="UD デジタル 教科書体 NP-B" panose="02020700000000000000" pitchFamily="18" charset="-128"/>
                <a:ea typeface="UD デジタル 教科書体 NP-B" panose="02020700000000000000" pitchFamily="18" charset="-128"/>
              </a:rPr>
            </a:br>
            <a:r>
              <a:rPr lang="ja-JP" altLang="en-US" sz="1500" kern="100" dirty="0">
                <a:latin typeface="UD デジタル 教科書体 NP-B" panose="02020700000000000000" pitchFamily="18" charset="-128"/>
                <a:ea typeface="UD デジタル 教科書体 NP-B" panose="02020700000000000000" pitchFamily="18" charset="-128"/>
              </a:rPr>
              <a:t>　　　　　　　　　</a:t>
            </a:r>
            <a:r>
              <a:rPr lang="ja-JP" altLang="ja-JP" sz="1500" kern="100" dirty="0">
                <a:effectLst/>
                <a:latin typeface="UD デジタル 教科書体 NP-B" panose="02020700000000000000" pitchFamily="18" charset="-128"/>
                <a:ea typeface="UD デジタル 教科書体 NP-B" panose="02020700000000000000" pitchFamily="18" charset="-128"/>
              </a:rPr>
              <a:t>スメントについて参照</a:t>
            </a:r>
          </a:p>
          <a:p>
            <a:endParaRPr kumimoji="1" lang="ja-JP" altLang="en-US" dirty="0"/>
          </a:p>
        </p:txBody>
      </p:sp>
      <p:grpSp>
        <p:nvGrpSpPr>
          <p:cNvPr id="6" name="グループ化 5">
            <a:extLst>
              <a:ext uri="{FF2B5EF4-FFF2-40B4-BE49-F238E27FC236}">
                <a16:creationId xmlns:a16="http://schemas.microsoft.com/office/drawing/2014/main" id="{25436410-E080-450E-8C3C-6F40365A7C25}"/>
              </a:ext>
            </a:extLst>
          </p:cNvPr>
          <p:cNvGrpSpPr/>
          <p:nvPr/>
        </p:nvGrpSpPr>
        <p:grpSpPr>
          <a:xfrm>
            <a:off x="131926" y="395042"/>
            <a:ext cx="3351181" cy="2889942"/>
            <a:chOff x="-16530" y="3072427"/>
            <a:chExt cx="3351181" cy="1580710"/>
          </a:xfrm>
        </p:grpSpPr>
        <p:sp>
          <p:nvSpPr>
            <p:cNvPr id="7" name="タイトル 1">
              <a:extLst>
                <a:ext uri="{FF2B5EF4-FFF2-40B4-BE49-F238E27FC236}">
                  <a16:creationId xmlns:a16="http://schemas.microsoft.com/office/drawing/2014/main" id="{4E8C7CA6-E7D2-46B5-A28E-6EF31EFFEE6B}"/>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9" name="タイトル 1">
              <a:extLst>
                <a:ext uri="{FF2B5EF4-FFF2-40B4-BE49-F238E27FC236}">
                  <a16:creationId xmlns:a16="http://schemas.microsoft.com/office/drawing/2014/main" id="{30E47FE3-72FF-47C9-B85E-CBF69DB9CF72}"/>
                </a:ext>
              </a:extLst>
            </p:cNvPr>
            <p:cNvSpPr txBox="1">
              <a:spLocks/>
            </p:cNvSpPr>
            <p:nvPr/>
          </p:nvSpPr>
          <p:spPr>
            <a:xfrm>
              <a:off x="-16530" y="3072427"/>
              <a:ext cx="3096344"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３．</a:t>
              </a:r>
              <a:r>
                <a:rPr lang="ja-JP" altLang="ja-JP" sz="2000" dirty="0">
                  <a:latin typeface="UD デジタル 教科書体 NP-B" panose="02020700000000000000" pitchFamily="18" charset="-128"/>
                  <a:ea typeface="UD デジタル 教科書体 NP-B" panose="02020700000000000000" pitchFamily="18" charset="-128"/>
                </a:rPr>
                <a:t>支援スケジュール</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(1)</a:t>
              </a:r>
              <a:r>
                <a:rPr lang="ja-JP" altLang="en-US" sz="2000" dirty="0">
                  <a:latin typeface="UD デジタル 教科書体 NP-B" panose="02020700000000000000" pitchFamily="18" charset="-128"/>
                  <a:ea typeface="UD デジタル 教科書体 NP-B" panose="02020700000000000000" pitchFamily="18" charset="-128"/>
                </a:rPr>
                <a:t>入所前</a:t>
              </a:r>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(2)</a:t>
              </a:r>
              <a:r>
                <a:rPr lang="ja-JP" altLang="en-US" sz="2000" dirty="0">
                  <a:latin typeface="UD デジタル 教科書体 NP-B" panose="02020700000000000000" pitchFamily="18" charset="-128"/>
                  <a:ea typeface="UD デジタル 教科書体 NP-B" panose="02020700000000000000" pitchFamily="18" charset="-128"/>
                </a:rPr>
                <a:t>暫定利用期間</a:t>
              </a:r>
            </a:p>
          </p:txBody>
        </p:sp>
      </p:grpSp>
    </p:spTree>
    <p:extLst>
      <p:ext uri="{BB962C8B-B14F-4D97-AF65-F5344CB8AC3E}">
        <p14:creationId xmlns:p14="http://schemas.microsoft.com/office/powerpoint/2010/main" val="405028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9CDBB417-20E0-4ACD-99B8-AD268062F53E}"/>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EEE1732F-37EC-4FCF-BBD2-945A2BBBB293}"/>
              </a:ext>
            </a:extLst>
          </p:cNvPr>
          <p:cNvSpPr>
            <a:spLocks noGrp="1"/>
          </p:cNvSpPr>
          <p:nvPr>
            <p:ph idx="4294967295"/>
          </p:nvPr>
        </p:nvSpPr>
        <p:spPr>
          <a:xfrm>
            <a:off x="3470982" y="1017263"/>
            <a:ext cx="6413500" cy="5543550"/>
          </a:xfrm>
        </p:spPr>
        <p:txBody>
          <a:bodyPr anchor="t">
            <a:normAutofit/>
          </a:bodyPr>
          <a:lstStyle/>
          <a:p>
            <a:pPr marL="0" lvl="0" indent="0" algn="l">
              <a:buNone/>
            </a:pPr>
            <a:r>
              <a:rPr lang="ja-JP" altLang="en-US" sz="1400" kern="100" dirty="0">
                <a:effectLst/>
                <a:latin typeface="Times New Roman" panose="02020603050405020304" pitchFamily="18" charset="0"/>
                <a:ea typeface="UD デジタル 教科書体 NK-B" panose="02020700000000000000" pitchFamily="18" charset="-128"/>
              </a:rPr>
              <a:t>（３）</a:t>
            </a:r>
            <a:r>
              <a:rPr lang="ja-JP" altLang="ja-JP" sz="1400" kern="100" dirty="0">
                <a:effectLst/>
                <a:latin typeface="Times New Roman" panose="02020603050405020304" pitchFamily="18" charset="0"/>
                <a:ea typeface="UD デジタル 教科書体 NK-B" panose="02020700000000000000" pitchFamily="18" charset="-128"/>
              </a:rPr>
              <a:t>１年目の利用期間支援</a:t>
            </a:r>
            <a:r>
              <a:rPr lang="ja-JP" altLang="en-US" sz="1400" kern="100" dirty="0">
                <a:effectLst/>
                <a:latin typeface="Times New Roman" panose="02020603050405020304" pitchFamily="18" charset="0"/>
                <a:ea typeface="UD デジタル 教科書体 NK-B" panose="02020700000000000000" pitchFamily="18" charset="-128"/>
              </a:rPr>
              <a:t>内容</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暫定利用期間中に作成した個別支援計画に基づき、各自の個別課題への取り</a:t>
            </a:r>
            <a:br>
              <a:rPr lang="en-US" altLang="ja-JP" sz="1400" kern="100" dirty="0">
                <a:effectLst/>
                <a:latin typeface="Times New Roman" panose="02020603050405020304" pitchFamily="18" charset="0"/>
                <a:ea typeface="UD デジタル 教科書体 NK-B" panose="02020700000000000000" pitchFamily="18" charset="-128"/>
              </a:rPr>
            </a:br>
            <a:r>
              <a:rPr lang="ja-JP" altLang="en-US" sz="1400" kern="100" dirty="0">
                <a:effectLst/>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組みと、グループによる共同作業環境を準備</a:t>
            </a:r>
            <a:endParaRPr lang="ja-JP" altLang="ja-JP" sz="1400" kern="100" dirty="0">
              <a:effectLst/>
              <a:latin typeface="Times New Roman" panose="02020603050405020304" pitchFamily="18" charset="0"/>
              <a:ea typeface="SimSun" panose="02010600030101010101" pitchFamily="2" charset="-122"/>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①</a:t>
            </a:r>
            <a:r>
              <a:rPr lang="ja-JP" altLang="ja-JP" sz="1400" kern="100" dirty="0">
                <a:latin typeface="Times New Roman" panose="02020603050405020304" pitchFamily="18" charset="0"/>
                <a:ea typeface="UD デジタル 教科書体 NK-B" panose="02020700000000000000" pitchFamily="18" charset="-128"/>
              </a:rPr>
              <a:t>各自の個別課題への解決のためのカリキュラ</a:t>
            </a:r>
            <a:r>
              <a:rPr lang="ja-JP" altLang="en-US" sz="1400" kern="100" dirty="0">
                <a:latin typeface="Times New Roman" panose="02020603050405020304" pitchFamily="18" charset="0"/>
                <a:ea typeface="UD デジタル 教科書体 NK-B" panose="02020700000000000000" pitchFamily="18" charset="-128"/>
              </a:rPr>
              <a:t>ム　　　　　　　　　　　　　　　</a:t>
            </a:r>
            <a:r>
              <a:rPr lang="ja-JP"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仕事に直結した</a:t>
            </a:r>
            <a:r>
              <a:rPr lang="en-US" altLang="ja-JP" sz="1400" kern="100" dirty="0">
                <a:latin typeface="Times New Roman" panose="02020603050405020304" pitchFamily="18" charset="0"/>
                <a:ea typeface="UD デジタル 教科書体 NK-B" panose="02020700000000000000" pitchFamily="18" charset="-128"/>
              </a:rPr>
              <a:t>IT</a:t>
            </a:r>
            <a:r>
              <a:rPr lang="ja-JP" altLang="ja-JP" sz="1400" kern="100" dirty="0">
                <a:latin typeface="Times New Roman" panose="02020603050405020304" pitchFamily="18" charset="0"/>
                <a:ea typeface="UD デジタル 教科書体 NK-B" panose="02020700000000000000" pitchFamily="18" charset="-128"/>
              </a:rPr>
              <a:t>スキルの向上や、生活習慣改善のための</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ヘルスケア授業や、社会性を向上させるための法律講座などを準備。</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※詳細：</a:t>
            </a:r>
            <a:r>
              <a:rPr lang="en-US" altLang="ja-JP" sz="1400" kern="100" dirty="0">
                <a:latin typeface="Times New Roman" panose="02020603050405020304" pitchFamily="18" charset="0"/>
                <a:ea typeface="UD デジタル 教科書体 NK-B" panose="02020700000000000000" pitchFamily="18" charset="-128"/>
              </a:rPr>
              <a:t>6</a:t>
            </a:r>
            <a:r>
              <a:rPr lang="ja-JP" altLang="ja-JP" sz="1400" kern="100" dirty="0">
                <a:latin typeface="Times New Roman" panose="02020603050405020304" pitchFamily="18" charset="0"/>
                <a:ea typeface="UD デジタル 教科書体 NK-B" panose="02020700000000000000" pitchFamily="18" charset="-128"/>
              </a:rPr>
              <a:t>項　１年目就労支援サービス概要➀　【個別スキルアップ講座】</a:t>
            </a: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②</a:t>
            </a:r>
            <a:r>
              <a:rPr lang="ja-JP" altLang="ja-JP" sz="1400" kern="100" dirty="0">
                <a:latin typeface="Times New Roman" panose="02020603050405020304" pitchFamily="18" charset="0"/>
                <a:ea typeface="UD デジタル 教科書体 NK-B" panose="02020700000000000000" pitchFamily="18" charset="-128"/>
              </a:rPr>
              <a:t>グループワークによる協働スキルの向上</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実際</a:t>
            </a:r>
            <a:r>
              <a:rPr lang="ja-JP" altLang="ja-JP" sz="1400" kern="100" dirty="0">
                <a:latin typeface="Times New Roman" panose="02020603050405020304" pitchFamily="18" charset="0"/>
                <a:ea typeface="UD デジタル 教科書体 NK-B" panose="02020700000000000000" pitchFamily="18" charset="-128"/>
              </a:rPr>
              <a:t>の一般就労業務を共同で取り組むことにより、組織の中の役割分担や</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チー</a:t>
            </a:r>
            <a:r>
              <a:rPr lang="ja-JP" altLang="ja-JP" sz="1400" kern="100" dirty="0">
                <a:latin typeface="Times New Roman" panose="02020603050405020304" pitchFamily="18" charset="0"/>
                <a:ea typeface="UD デジタル 教科書体 NK-B" panose="02020700000000000000" pitchFamily="18" charset="-128"/>
              </a:rPr>
              <a:t>ムとして成功や失敗の喜びくやしさを共有できる環境を準備。</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effectLst/>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 </a:t>
            </a:r>
            <a:r>
              <a:rPr lang="ja-JP" altLang="en-US" sz="1400" kern="100" dirty="0">
                <a:effectLst/>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※詳細：</a:t>
            </a:r>
            <a:r>
              <a:rPr lang="en-US" altLang="ja-JP" sz="1400" kern="100" dirty="0">
                <a:effectLst/>
                <a:latin typeface="Times New Roman" panose="02020603050405020304" pitchFamily="18" charset="0"/>
                <a:ea typeface="UD デジタル 教科書体 NK-B" panose="02020700000000000000" pitchFamily="18" charset="-128"/>
              </a:rPr>
              <a:t>7</a:t>
            </a:r>
            <a:r>
              <a:rPr lang="ja-JP" altLang="ja-JP" sz="1400" kern="100" dirty="0">
                <a:effectLst/>
                <a:latin typeface="Times New Roman" panose="02020603050405020304" pitchFamily="18" charset="0"/>
                <a:ea typeface="UD デジタル 教科書体 NK-B" panose="02020700000000000000" pitchFamily="18" charset="-128"/>
              </a:rPr>
              <a:t>項　１年目就労支援サービス概要②　【グループワーク】参照</a:t>
            </a: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r>
              <a:rPr lang="ja-JP" altLang="en-US" sz="1400" kern="100" dirty="0">
                <a:effectLst/>
                <a:latin typeface="Times New Roman" panose="02020603050405020304" pitchFamily="18" charset="0"/>
                <a:ea typeface="UD デジタル 教科書体 NK-B" panose="02020700000000000000" pitchFamily="18" charset="-128"/>
              </a:rPr>
              <a:t>　　③</a:t>
            </a:r>
            <a:r>
              <a:rPr lang="ja-JP" altLang="ja-JP" sz="1400" kern="100" dirty="0">
                <a:effectLst/>
                <a:latin typeface="Times New Roman" panose="02020603050405020304" pitchFamily="18" charset="0"/>
                <a:ea typeface="UD デジタル 教科書体 NK-B" panose="02020700000000000000" pitchFamily="18" charset="-128"/>
              </a:rPr>
              <a:t>１年目就労支援サービス課題</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さ</a:t>
            </a:r>
            <a:br>
              <a:rPr lang="en-US" altLang="ja-JP" sz="1400" kern="100" dirty="0">
                <a:solidFill>
                  <a:schemeClr val="accent6">
                    <a:lumMod val="40000"/>
                    <a:lumOff val="60000"/>
                  </a:schemeClr>
                </a:solidFill>
                <a:effectLst/>
                <a:latin typeface="Times New Roman" panose="02020603050405020304" pitchFamily="18" charset="0"/>
                <a:ea typeface="UD デジタル 教科書体 NK-B" panose="02020700000000000000" pitchFamily="18" charset="-128"/>
              </a:rPr>
            </a:br>
            <a:r>
              <a:rPr lang="ja-JP" altLang="en-US" sz="1400" kern="100" dirty="0">
                <a:effectLst/>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学習学習選択のための視野を広げ、主体的に行動するための、利用者主体</a:t>
            </a:r>
            <a:r>
              <a:rPr lang="ja-JP" altLang="en-US" sz="1400" kern="100" dirty="0">
                <a:effectLst/>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で活動する課題学習を準備。</a:t>
            </a:r>
            <a:r>
              <a:rPr lang="ja-JP" altLang="en-US" sz="1400" kern="100" dirty="0">
                <a:effectLst/>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effectLst/>
                <a:latin typeface="Times New Roman" panose="02020603050405020304" pitchFamily="18" charset="0"/>
                <a:ea typeface="UD デジタル 教科書体 NK-B" panose="02020700000000000000" pitchFamily="18" charset="-128"/>
              </a:rPr>
              <a:t>　さ</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ja-JP" sz="1400" kern="100" dirty="0">
                <a:effectLst/>
                <a:latin typeface="Times New Roman" panose="02020603050405020304" pitchFamily="18" charset="0"/>
                <a:ea typeface="UD デジタル 教科書体 NK-B" panose="02020700000000000000" pitchFamily="18" charset="-128"/>
              </a:rPr>
              <a:t>※詳細：</a:t>
            </a:r>
            <a:r>
              <a:rPr lang="en-US" altLang="ja-JP" sz="1400" kern="100" dirty="0">
                <a:effectLst/>
                <a:latin typeface="Times New Roman" panose="02020603050405020304" pitchFamily="18" charset="0"/>
                <a:ea typeface="UD デジタル 教科書体 NK-B" panose="02020700000000000000" pitchFamily="18" charset="-128"/>
              </a:rPr>
              <a:t>9</a:t>
            </a:r>
            <a:r>
              <a:rPr lang="ja-JP" altLang="ja-JP" sz="1400" kern="100" dirty="0">
                <a:effectLst/>
                <a:latin typeface="Times New Roman" panose="02020603050405020304" pitchFamily="18" charset="0"/>
                <a:ea typeface="UD デジタル 教科書体 NK-B" panose="02020700000000000000" pitchFamily="18" charset="-128"/>
              </a:rPr>
              <a:t>項　１年目就労支援サービス課題</a:t>
            </a:r>
            <a:endParaRPr lang="en-US" altLang="ja-JP" sz="1400" kern="100" dirty="0">
              <a:effectLst/>
              <a:latin typeface="Times New Roman" panose="02020603050405020304" pitchFamily="18" charset="0"/>
              <a:ea typeface="UD デジタル 教科書体 NK-B" panose="02020700000000000000" pitchFamily="18" charset="-128"/>
            </a:endParaRPr>
          </a:p>
          <a:p>
            <a:pPr marL="0" indent="0" algn="just">
              <a:buNone/>
            </a:pPr>
            <a:endParaRPr lang="en-US" altLang="ja-JP" sz="1400" kern="100" dirty="0">
              <a:effectLst/>
              <a:latin typeface="Times New Roman" panose="02020603050405020304" pitchFamily="18" charset="0"/>
              <a:ea typeface="UD デジタル 教科書体 NK-B" panose="02020700000000000000" pitchFamily="18" charset="-128"/>
            </a:endParaRPr>
          </a:p>
          <a:p>
            <a:pPr marL="0" lvl="0" indent="0" algn="l">
              <a:buNone/>
            </a:pPr>
            <a:r>
              <a:rPr lang="en-US" altLang="ja-JP" sz="1400" kern="100" dirty="0">
                <a:effectLst/>
                <a:latin typeface="UD デジタル 教科書体 NP-B" panose="02020700000000000000" pitchFamily="18" charset="-128"/>
                <a:ea typeface="UD デジタル 教科書体 NP-B" panose="02020700000000000000" pitchFamily="18" charset="-128"/>
              </a:rPr>
              <a:t>(4)</a:t>
            </a:r>
            <a:r>
              <a:rPr lang="ja-JP" altLang="ja-JP" sz="1400" kern="100" dirty="0">
                <a:effectLst/>
                <a:latin typeface="UD デジタル 教科書体 NP-B" panose="02020700000000000000" pitchFamily="18" charset="-128"/>
                <a:ea typeface="UD デジタル 教科書体 NP-B" panose="02020700000000000000" pitchFamily="18" charset="-128"/>
              </a:rPr>
              <a:t>１年目の振り返り及び２年目の個別支援計画の作成・合意</a:t>
            </a:r>
            <a:br>
              <a:rPr lang="en-US" altLang="ja-JP" sz="1400" kern="100" dirty="0">
                <a:effectLst/>
                <a:latin typeface="UD デジタル 教科書体 NP-B" panose="02020700000000000000" pitchFamily="18" charset="-128"/>
                <a:ea typeface="UD デジタル 教科書体 NP-B" panose="02020700000000000000" pitchFamily="18" charset="-128"/>
              </a:rPr>
            </a:br>
            <a:r>
              <a:rPr lang="en-US" altLang="ja-JP" sz="1400" kern="100" dirty="0">
                <a:effectLst/>
                <a:latin typeface="UD デジタル 教科書体 NP-B" panose="02020700000000000000" pitchFamily="18" charset="-128"/>
                <a:ea typeface="UD デジタル 教科書体 NP-B" panose="02020700000000000000" pitchFamily="18" charset="-128"/>
              </a:rPr>
              <a:t>     </a:t>
            </a:r>
            <a:r>
              <a:rPr lang="ja-JP" altLang="ja-JP" sz="1400" kern="100" dirty="0">
                <a:effectLst/>
                <a:latin typeface="UD デジタル 教科書体 NP-B" panose="02020700000000000000" pitchFamily="18" charset="-128"/>
                <a:ea typeface="UD デジタル 教科書体 NP-B" panose="02020700000000000000" pitchFamily="18" charset="-128"/>
              </a:rPr>
              <a:t>１年目の取り組みと課題学習結果に基づいて、２年目の重点目標を設定し、</a:t>
            </a:r>
            <a:br>
              <a:rPr lang="en-US" altLang="ja-JP" sz="1400" kern="100" dirty="0">
                <a:latin typeface="UD デジタル 教科書体 NP-B" panose="02020700000000000000" pitchFamily="18" charset="-128"/>
                <a:ea typeface="UD デジタル 教科書体 NP-B" panose="02020700000000000000" pitchFamily="18" charset="-128"/>
              </a:rPr>
            </a:br>
            <a:r>
              <a:rPr lang="en-US" altLang="ja-JP" sz="1400" kern="100" dirty="0">
                <a:latin typeface="UD デジタル 教科書体 NP-B" panose="02020700000000000000" pitchFamily="18" charset="-128"/>
                <a:ea typeface="UD デジタル 教科書体 NP-B" panose="02020700000000000000" pitchFamily="18" charset="-128"/>
              </a:rPr>
              <a:t>     </a:t>
            </a:r>
            <a:r>
              <a:rPr lang="ja-JP" altLang="ja-JP" sz="1400" kern="100" dirty="0">
                <a:effectLst/>
                <a:latin typeface="UD デジタル 教科書体 NP-B" panose="02020700000000000000" pitchFamily="18" charset="-128"/>
                <a:ea typeface="UD デジタル 教科書体 NP-B" panose="02020700000000000000" pitchFamily="18" charset="-128"/>
              </a:rPr>
              <a:t>個別支援計画を作成・合意する。</a:t>
            </a:r>
          </a:p>
        </p:txBody>
      </p:sp>
      <p:grpSp>
        <p:nvGrpSpPr>
          <p:cNvPr id="9" name="グループ化 8">
            <a:extLst>
              <a:ext uri="{FF2B5EF4-FFF2-40B4-BE49-F238E27FC236}">
                <a16:creationId xmlns:a16="http://schemas.microsoft.com/office/drawing/2014/main" id="{085DDEBC-9CA1-4899-A97F-DA00D1861D29}"/>
              </a:ext>
            </a:extLst>
          </p:cNvPr>
          <p:cNvGrpSpPr/>
          <p:nvPr/>
        </p:nvGrpSpPr>
        <p:grpSpPr>
          <a:xfrm>
            <a:off x="272480" y="319125"/>
            <a:ext cx="3351181" cy="5986286"/>
            <a:chOff x="-16530" y="3072427"/>
            <a:chExt cx="3351181" cy="1580710"/>
          </a:xfrm>
        </p:grpSpPr>
        <p:sp>
          <p:nvSpPr>
            <p:cNvPr id="11" name="タイトル 1">
              <a:extLst>
                <a:ext uri="{FF2B5EF4-FFF2-40B4-BE49-F238E27FC236}">
                  <a16:creationId xmlns:a16="http://schemas.microsoft.com/office/drawing/2014/main" id="{D8D40CCC-CA90-4EA1-A26E-5929CCE52AB9}"/>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12" name="タイトル 1">
              <a:extLst>
                <a:ext uri="{FF2B5EF4-FFF2-40B4-BE49-F238E27FC236}">
                  <a16:creationId xmlns:a16="http://schemas.microsoft.com/office/drawing/2014/main" id="{0E77C40D-681A-4651-990C-1F6FCE4BB9D9}"/>
                </a:ext>
              </a:extLst>
            </p:cNvPr>
            <p:cNvSpPr txBox="1">
              <a:spLocks/>
            </p:cNvSpPr>
            <p:nvPr/>
          </p:nvSpPr>
          <p:spPr>
            <a:xfrm>
              <a:off x="-16530" y="3072427"/>
              <a:ext cx="3096344"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３．</a:t>
              </a:r>
              <a:r>
                <a:rPr lang="ja-JP" altLang="ja-JP" sz="2000" dirty="0">
                  <a:latin typeface="UD デジタル 教科書体 NP-B" panose="02020700000000000000" pitchFamily="18" charset="-128"/>
                  <a:ea typeface="UD デジタル 教科書体 NP-B" panose="02020700000000000000" pitchFamily="18" charset="-128"/>
                </a:rPr>
                <a:t>支援スケジュール</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(3)</a:t>
              </a:r>
              <a:r>
                <a:rPr lang="ja-JP" altLang="ja-JP" sz="2000" dirty="0">
                  <a:latin typeface="UD デジタル 教科書体 NP-B" panose="02020700000000000000" pitchFamily="18" charset="-128"/>
                  <a:ea typeface="UD デジタル 教科書体 NP-B" panose="02020700000000000000" pitchFamily="18" charset="-128"/>
                </a:rPr>
                <a:t>１年目の利用期間</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支援</a:t>
              </a:r>
              <a:r>
                <a:rPr lang="ja-JP" altLang="en-US" sz="2000" dirty="0">
                  <a:latin typeface="UD デジタル 教科書体 NP-B" panose="02020700000000000000" pitchFamily="18" charset="-128"/>
                  <a:ea typeface="UD デジタル 教科書体 NP-B" panose="02020700000000000000" pitchFamily="18" charset="-128"/>
                </a:rPr>
                <a:t>内容</a:t>
              </a:r>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br>
                <a:rPr lang="en-US" altLang="ja-JP" sz="2000" dirty="0">
                  <a:latin typeface="UD デジタル 教科書体 NP-B" panose="02020700000000000000" pitchFamily="18" charset="-128"/>
                  <a:ea typeface="UD デジタル 教科書体 NP-B" panose="02020700000000000000" pitchFamily="18" charset="-128"/>
                </a:rPr>
              </a:b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(4)</a:t>
              </a:r>
              <a:r>
                <a:rPr lang="ja-JP" altLang="ja-JP" sz="2000" dirty="0">
                  <a:latin typeface="UD デジタル 教科書体 NP-B" panose="02020700000000000000" pitchFamily="18" charset="-128"/>
                  <a:ea typeface="UD デジタル 教科書体 NP-B" panose="02020700000000000000" pitchFamily="18" charset="-128"/>
                </a:rPr>
                <a:t>１年目の振り返り</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及び２年目の個別</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支援計画の作成・</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合意</a:t>
              </a:r>
              <a:endParaRPr lang="ja-JP" altLang="en-US" sz="2000" dirty="0">
                <a:latin typeface="UD デジタル 教科書体 NP-B" panose="02020700000000000000" pitchFamily="18" charset="-128"/>
                <a:ea typeface="UD デジタル 教科書体 NP-B" panose="02020700000000000000" pitchFamily="18" charset="-128"/>
              </a:endParaRPr>
            </a:p>
          </p:txBody>
        </p:sp>
      </p:grpSp>
    </p:spTree>
    <p:extLst>
      <p:ext uri="{BB962C8B-B14F-4D97-AF65-F5344CB8AC3E}">
        <p14:creationId xmlns:p14="http://schemas.microsoft.com/office/powerpoint/2010/main" val="3984677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B4CC9F2-2E0D-40EF-9F8B-5FF076ECCD99}"/>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A78028A5-95CF-4AB1-AE64-1496342BFD65}"/>
              </a:ext>
            </a:extLst>
          </p:cNvPr>
          <p:cNvGrpSpPr/>
          <p:nvPr/>
        </p:nvGrpSpPr>
        <p:grpSpPr>
          <a:xfrm>
            <a:off x="131926" y="395042"/>
            <a:ext cx="3351181" cy="5986286"/>
            <a:chOff x="-16530" y="3072427"/>
            <a:chExt cx="3351181" cy="1580710"/>
          </a:xfrm>
        </p:grpSpPr>
        <p:sp>
          <p:nvSpPr>
            <p:cNvPr id="9" name="タイトル 1">
              <a:extLst>
                <a:ext uri="{FF2B5EF4-FFF2-40B4-BE49-F238E27FC236}">
                  <a16:creationId xmlns:a16="http://schemas.microsoft.com/office/drawing/2014/main" id="{51E16A86-4B34-49FA-B62E-526EF95CCE4A}"/>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11" name="タイトル 1">
              <a:extLst>
                <a:ext uri="{FF2B5EF4-FFF2-40B4-BE49-F238E27FC236}">
                  <a16:creationId xmlns:a16="http://schemas.microsoft.com/office/drawing/2014/main" id="{8346A8CA-02B3-4874-A8DD-C170A80F382A}"/>
                </a:ext>
              </a:extLst>
            </p:cNvPr>
            <p:cNvSpPr txBox="1">
              <a:spLocks/>
            </p:cNvSpPr>
            <p:nvPr/>
          </p:nvSpPr>
          <p:spPr>
            <a:xfrm>
              <a:off x="-16530" y="3072427"/>
              <a:ext cx="3096344"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３．</a:t>
              </a:r>
              <a:r>
                <a:rPr lang="ja-JP" altLang="ja-JP" sz="2000" dirty="0">
                  <a:latin typeface="UD デジタル 教科書体 NP-B" panose="02020700000000000000" pitchFamily="18" charset="-128"/>
                  <a:ea typeface="UD デジタル 教科書体 NP-B" panose="02020700000000000000" pitchFamily="18" charset="-128"/>
                </a:rPr>
                <a:t>支援スケジュール</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en-US" sz="2000" dirty="0">
                  <a:latin typeface="UD デジタル 教科書体 NP-B" panose="02020700000000000000" pitchFamily="18" charset="-128"/>
                  <a:ea typeface="UD デジタル 教科書体 NP-B" panose="02020700000000000000" pitchFamily="18" charset="-128"/>
                </a:rPr>
                <a:t>５</a:t>
              </a:r>
              <a:r>
                <a:rPr lang="en-US" altLang="ja-JP" sz="2000" dirty="0">
                  <a:latin typeface="UD デジタル 教科書体 NP-B" panose="02020700000000000000" pitchFamily="18" charset="-128"/>
                  <a:ea typeface="UD デジタル 教科書体 NP-B" panose="02020700000000000000" pitchFamily="18" charset="-128"/>
                </a:rPr>
                <a:t>)2</a:t>
              </a:r>
              <a:r>
                <a:rPr lang="ja-JP" altLang="en-US" sz="2000" dirty="0">
                  <a:latin typeface="UD デジタル 教科書体 NP-B" panose="02020700000000000000" pitchFamily="18" charset="-128"/>
                  <a:ea typeface="UD デジタル 教科書体 NP-B" panose="02020700000000000000" pitchFamily="18" charset="-128"/>
                </a:rPr>
                <a:t>年目の利用期間</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支援内容</a:t>
              </a:r>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  </a:t>
              </a: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（６）</a:t>
              </a:r>
              <a:r>
                <a:rPr lang="ja-JP" altLang="ja-JP" sz="2000" dirty="0">
                  <a:latin typeface="UD デジタル 教科書体 NP-B" panose="02020700000000000000" pitchFamily="18" charset="-128"/>
                  <a:ea typeface="UD デジタル 教科書体 NP-B" panose="02020700000000000000" pitchFamily="18" charset="-128"/>
                </a:rPr>
                <a:t> </a:t>
              </a:r>
              <a:r>
                <a:rPr lang="ja-JP" altLang="en-US" sz="2000" dirty="0">
                  <a:latin typeface="UD デジタル 教科書体 NP-B" panose="02020700000000000000" pitchFamily="18" charset="-128"/>
                  <a:ea typeface="UD デジタル 教科書体 NP-B" panose="02020700000000000000" pitchFamily="18" charset="-128"/>
                </a:rPr>
                <a:t>就職フェーズ</a:t>
              </a:r>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（７）フォローアップ</a:t>
              </a:r>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について</a:t>
              </a:r>
            </a:p>
          </p:txBody>
        </p:sp>
      </p:grpSp>
      <p:sp>
        <p:nvSpPr>
          <p:cNvPr id="13" name="コンテンツ プレースホルダー 2">
            <a:extLst>
              <a:ext uri="{FF2B5EF4-FFF2-40B4-BE49-F238E27FC236}">
                <a16:creationId xmlns:a16="http://schemas.microsoft.com/office/drawing/2014/main" id="{D1F4D88D-6791-4F84-A7D7-62B7907C79C5}"/>
              </a:ext>
            </a:extLst>
          </p:cNvPr>
          <p:cNvSpPr txBox="1">
            <a:spLocks/>
          </p:cNvSpPr>
          <p:nvPr/>
        </p:nvSpPr>
        <p:spPr>
          <a:xfrm>
            <a:off x="3396176" y="401197"/>
            <a:ext cx="6414124" cy="5544616"/>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buNone/>
            </a:pPr>
            <a:r>
              <a:rPr lang="ja-JP" altLang="en-US" sz="1500" kern="100" dirty="0">
                <a:latin typeface="Times New Roman" panose="02020603050405020304" pitchFamily="18" charset="0"/>
                <a:ea typeface="UD デジタル 教科書体 NK-B" panose="02020700000000000000" pitchFamily="18" charset="-128"/>
              </a:rPr>
              <a:t>（５）</a:t>
            </a:r>
            <a:r>
              <a:rPr lang="ja-JP" altLang="ja-JP" sz="1500" kern="100" dirty="0">
                <a:effectLst/>
                <a:latin typeface="Times New Roman" panose="02020603050405020304" pitchFamily="18" charset="0"/>
                <a:ea typeface="UD デジタル 教科書体 NK-B" panose="02020700000000000000" pitchFamily="18" charset="-128"/>
              </a:rPr>
              <a:t>２年目の利用期間支援内容</a:t>
            </a:r>
            <a:endParaRPr lang="en-US" altLang="ja-JP" sz="1500" kern="100" dirty="0">
              <a:effectLst/>
              <a:latin typeface="Times New Roman" panose="02020603050405020304" pitchFamily="18" charset="0"/>
              <a:ea typeface="UD デジタル 教科書体 NK-B" panose="02020700000000000000" pitchFamily="18" charset="-128"/>
            </a:endParaRPr>
          </a:p>
          <a:p>
            <a:pPr marL="457200" lvl="1" indent="0">
              <a:buNone/>
            </a:pPr>
            <a:r>
              <a:rPr lang="ja-JP" altLang="ja-JP" sz="1400" kern="100" dirty="0">
                <a:effectLst/>
                <a:latin typeface="Times New Roman" panose="02020603050405020304" pitchFamily="18" charset="0"/>
                <a:ea typeface="UD デジタル 教科書体 NK-B" panose="02020700000000000000" pitchFamily="18" charset="-128"/>
              </a:rPr>
              <a:t>個別支援計画に基づき、主に施設外就労や施設外支援などにより、協力企業先での職場体験や就労体験を準備する。また起業希望者には関連する機関への訪問やビジネスプラン作成等の支援も付加する。</a:t>
            </a:r>
            <a:endParaRPr lang="en-US" altLang="ja-JP" sz="1400" kern="100" dirty="0">
              <a:latin typeface="Times New Roman" panose="02020603050405020304" pitchFamily="18" charset="0"/>
              <a:ea typeface="SimSun" panose="02010600030101010101" pitchFamily="2" charset="-122"/>
            </a:endParaRPr>
          </a:p>
          <a:p>
            <a:pPr marL="457200" lvl="1" indent="0">
              <a:buNone/>
            </a:pPr>
            <a:r>
              <a:rPr lang="ja-JP" altLang="ja-JP" sz="1400" kern="100" dirty="0">
                <a:effectLst/>
                <a:latin typeface="Times New Roman" panose="02020603050405020304" pitchFamily="18" charset="0"/>
                <a:ea typeface="UD デジタル 教科書体 NK-B" panose="02020700000000000000" pitchFamily="18" charset="-128"/>
              </a:rPr>
              <a:t>施設外支援や施設外就労先には、事前に「一般就労に向けた協力体制に関する基本協定書」を締結した企業・団体等に障害者就労の意義やメリットなどを周知し、その環境を構築していく。</a:t>
            </a:r>
            <a:endParaRPr lang="en-US" altLang="ja-JP" sz="1400" kern="100" dirty="0">
              <a:latin typeface="Times New Roman" panose="02020603050405020304" pitchFamily="18" charset="0"/>
              <a:ea typeface="SimSun" panose="02010600030101010101" pitchFamily="2" charset="-122"/>
            </a:endParaRPr>
          </a:p>
          <a:p>
            <a:pPr marL="457200" lvl="1" indent="0">
              <a:buNone/>
            </a:pPr>
            <a:r>
              <a:rPr lang="ja-JP" altLang="ja-JP" sz="1400" kern="100" dirty="0">
                <a:effectLst/>
                <a:latin typeface="Times New Roman" panose="02020603050405020304" pitchFamily="18" charset="0"/>
                <a:ea typeface="UD デジタル 教科書体 NK-B" panose="02020700000000000000" pitchFamily="18" charset="-128"/>
              </a:rPr>
              <a:t>同時進行で履歴書や職務経歴書の作成方法や模擬面接などの練習も実施。</a:t>
            </a:r>
            <a:endParaRPr lang="en-US" altLang="ja-JP" sz="1400" kern="100" dirty="0">
              <a:effectLst/>
              <a:latin typeface="Times New Roman" panose="02020603050405020304" pitchFamily="18" charset="0"/>
              <a:ea typeface="UD デジタル 教科書体 NK-B" panose="02020700000000000000" pitchFamily="18" charset="-128"/>
            </a:endParaRPr>
          </a:p>
          <a:p>
            <a:pPr marL="457200" lvl="1" indent="0">
              <a:buNone/>
            </a:pPr>
            <a:endParaRPr lang="ja-JP" altLang="ja-JP" sz="1400" kern="100" dirty="0">
              <a:effectLst/>
              <a:latin typeface="Times New Roman" panose="02020603050405020304" pitchFamily="18" charset="0"/>
              <a:ea typeface="SimSun" panose="02010600030101010101" pitchFamily="2" charset="-122"/>
            </a:endParaRPr>
          </a:p>
          <a:p>
            <a:pPr marL="0" indent="0" algn="just">
              <a:buFont typeface="Arial" panose="020B0604020202020204" pitchFamily="34" charset="0"/>
              <a:buNone/>
            </a:pPr>
            <a:r>
              <a:rPr lang="en-US" altLang="ja-JP" sz="1400" kern="100" dirty="0">
                <a:latin typeface="UD デジタル 教科書体 NP-B" panose="02020700000000000000" pitchFamily="18" charset="-128"/>
                <a:ea typeface="UD デジタル 教科書体 NP-B" panose="02020700000000000000" pitchFamily="18" charset="-128"/>
              </a:rPr>
              <a:t>(</a:t>
            </a:r>
            <a:r>
              <a:rPr lang="ja-JP" altLang="en-US" sz="1400" kern="100" dirty="0">
                <a:latin typeface="UD デジタル 教科書体 NP-B" panose="02020700000000000000" pitchFamily="18" charset="-128"/>
                <a:ea typeface="UD デジタル 教科書体 NP-B" panose="02020700000000000000" pitchFamily="18" charset="-128"/>
              </a:rPr>
              <a:t>６</a:t>
            </a:r>
            <a:r>
              <a:rPr lang="en-US" altLang="ja-JP" sz="1400" kern="100" dirty="0">
                <a:latin typeface="UD デジタル 教科書体 NP-B" panose="02020700000000000000" pitchFamily="18" charset="-128"/>
                <a:ea typeface="UD デジタル 教科書体 NP-B" panose="02020700000000000000" pitchFamily="18" charset="-128"/>
              </a:rPr>
              <a:t>)</a:t>
            </a:r>
            <a:r>
              <a:rPr lang="ja-JP" altLang="ja-JP" sz="1400" kern="100" dirty="0">
                <a:latin typeface="UD デジタル 教科書体 NP-B" panose="02020700000000000000" pitchFamily="18" charset="-128"/>
                <a:ea typeface="UD デジタル 教科書体 NP-B" panose="02020700000000000000" pitchFamily="18" charset="-128"/>
              </a:rPr>
              <a:t> </a:t>
            </a:r>
            <a:r>
              <a:rPr lang="ja-JP" altLang="en-US" sz="1400" kern="100" dirty="0">
                <a:latin typeface="UD デジタル 教科書体 NP-B" panose="02020700000000000000" pitchFamily="18" charset="-128"/>
                <a:ea typeface="UD デジタル 教科書体 NP-B" panose="02020700000000000000" pitchFamily="18" charset="-128"/>
              </a:rPr>
              <a:t>就職フェーズ</a:t>
            </a:r>
            <a:endParaRPr lang="en-US" altLang="ja-JP" sz="1400" kern="100" dirty="0">
              <a:latin typeface="UD デジタル 教科書体 NP-B" panose="02020700000000000000" pitchFamily="18" charset="-128"/>
              <a:ea typeface="UD デジタル 教科書体 NP-B" panose="02020700000000000000" pitchFamily="18" charset="-128"/>
            </a:endParaRPr>
          </a:p>
          <a:p>
            <a:pPr marL="457200" lvl="1" indent="0" algn="just">
              <a:buNone/>
            </a:pPr>
            <a:r>
              <a:rPr lang="ja-JP" altLang="ja-JP" sz="1400" kern="100" dirty="0">
                <a:latin typeface="Times New Roman" panose="02020603050405020304" pitchFamily="18" charset="0"/>
                <a:ea typeface="UD デジタル 教科書体 NK-B" panose="02020700000000000000" pitchFamily="18" charset="-128"/>
              </a:rPr>
              <a:t>該当地域の相談支援事業所やハローワークや、地域障害者生活支援センター、障害者職業センター等と連携しながら、利用者本人を中心とした地域とのネットワークを構築しながら、本人の適性と意向をもとに就職活動を実施。</a:t>
            </a:r>
            <a:endParaRPr lang="en-US" altLang="ja-JP" sz="1400" kern="100" dirty="0">
              <a:latin typeface="Times New Roman" panose="02020603050405020304" pitchFamily="18" charset="0"/>
              <a:ea typeface="UD デジタル 教科書体 NK-B" panose="02020700000000000000" pitchFamily="18" charset="-128"/>
            </a:endParaRPr>
          </a:p>
          <a:p>
            <a:pPr marL="457200" lvl="1" indent="0" algn="just">
              <a:buNone/>
            </a:pPr>
            <a:endParaRPr lang="ja-JP" altLang="ja-JP" sz="1400" kern="100" dirty="0">
              <a:latin typeface="Times New Roman" panose="02020603050405020304" pitchFamily="18" charset="0"/>
              <a:ea typeface="UD デジタル 教科書体 NK-B" panose="02020700000000000000" pitchFamily="18" charset="-128"/>
            </a:endParaRPr>
          </a:p>
          <a:p>
            <a:pPr marL="0" indent="0" algn="just">
              <a:buFont typeface="Arial" panose="020B0604020202020204" pitchFamily="34" charset="0"/>
              <a:buNone/>
            </a:pPr>
            <a:r>
              <a:rPr lang="ja-JP" altLang="en-US" sz="1400" kern="100" dirty="0">
                <a:latin typeface="UD デジタル 教科書体 NP-B" panose="02020700000000000000" pitchFamily="18" charset="-128"/>
                <a:ea typeface="UD デジタル 教科書体 NP-B" panose="02020700000000000000" pitchFamily="18" charset="-128"/>
              </a:rPr>
              <a:t>（７）フォローアップについて</a:t>
            </a:r>
            <a:endParaRPr lang="en-US" altLang="ja-JP" sz="1400" kern="100" dirty="0">
              <a:latin typeface="UD デジタル 教科書体 NP-B" panose="02020700000000000000" pitchFamily="18" charset="-128"/>
              <a:ea typeface="UD デジタル 教科書体 NP-B" panose="02020700000000000000" pitchFamily="18" charset="-128"/>
            </a:endParaRPr>
          </a:p>
          <a:p>
            <a:pPr marL="457200" lvl="1" indent="0" algn="just">
              <a:buNone/>
            </a:pPr>
            <a:r>
              <a:rPr lang="ja-JP" altLang="ja-JP" sz="1400" kern="100" dirty="0">
                <a:latin typeface="Times New Roman" panose="02020603050405020304" pitchFamily="18" charset="0"/>
                <a:ea typeface="UD デジタル 教科書体 NK-B" panose="02020700000000000000" pitchFamily="18" charset="-128"/>
              </a:rPr>
              <a:t>就職後については、就職後１年間月１回以上就職先に訪問し、本人からの近況、本人と企業風土との相性などを継続的に把握し、何かあればすぐに対応できる状態を維持。</a:t>
            </a:r>
          </a:p>
          <a:p>
            <a:pPr marL="0" indent="0" algn="just">
              <a:buFont typeface="Arial" panose="020B0604020202020204" pitchFamily="34" charset="0"/>
              <a:buNone/>
            </a:pPr>
            <a:endParaRPr lang="ja-JP" altLang="ja-JP" sz="1400" kern="100" dirty="0">
              <a:latin typeface="UD デジタル 教科書体 NP-B" panose="02020700000000000000" pitchFamily="18" charset="-128"/>
              <a:ea typeface="UD デジタル 教科書体 NP-B" panose="02020700000000000000" pitchFamily="18" charset="-128"/>
            </a:endParaRPr>
          </a:p>
        </p:txBody>
      </p:sp>
    </p:spTree>
    <p:extLst>
      <p:ext uri="{BB962C8B-B14F-4D97-AF65-F5344CB8AC3E}">
        <p14:creationId xmlns:p14="http://schemas.microsoft.com/office/powerpoint/2010/main" val="267496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3B4958AB-9438-405F-8759-18DB31CDA920}"/>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A5698A80-E1B3-42A7-813F-643C7416FDD8}"/>
              </a:ext>
            </a:extLst>
          </p:cNvPr>
          <p:cNvGrpSpPr/>
          <p:nvPr/>
        </p:nvGrpSpPr>
        <p:grpSpPr>
          <a:xfrm>
            <a:off x="21947" y="348821"/>
            <a:ext cx="3801347" cy="3393998"/>
            <a:chOff x="-16531" y="3072427"/>
            <a:chExt cx="3351182" cy="1580710"/>
          </a:xfrm>
        </p:grpSpPr>
        <p:sp>
          <p:nvSpPr>
            <p:cNvPr id="7" name="タイトル 1">
              <a:extLst>
                <a:ext uri="{FF2B5EF4-FFF2-40B4-BE49-F238E27FC236}">
                  <a16:creationId xmlns:a16="http://schemas.microsoft.com/office/drawing/2014/main" id="{B5ACA2CE-3BF1-44BB-A825-A517FD3C9B32}"/>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9" name="タイトル 1">
              <a:extLst>
                <a:ext uri="{FF2B5EF4-FFF2-40B4-BE49-F238E27FC236}">
                  <a16:creationId xmlns:a16="http://schemas.microsoft.com/office/drawing/2014/main" id="{AEF761C2-4789-479C-8F99-D6EC49317ACF}"/>
                </a:ext>
              </a:extLst>
            </p:cNvPr>
            <p:cNvSpPr txBox="1">
              <a:spLocks/>
            </p:cNvSpPr>
            <p:nvPr/>
          </p:nvSpPr>
          <p:spPr>
            <a:xfrm>
              <a:off x="-16531" y="3072427"/>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  (1)</a:t>
              </a:r>
              <a:r>
                <a:rPr lang="ja-JP" altLang="ja-JP" sz="2000" dirty="0">
                  <a:latin typeface="UD デジタル 教科書体 NP-B" panose="02020700000000000000" pitchFamily="18" charset="-128"/>
                  <a:ea typeface="UD デジタル 教科書体 NP-B" panose="02020700000000000000" pitchFamily="18" charset="-128"/>
                </a:rPr>
                <a:t>家庭訪問による</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家族</a:t>
              </a:r>
              <a:r>
                <a:rPr lang="ja-JP" altLang="en-US" sz="2000" dirty="0">
                  <a:latin typeface="UD デジタル 教科書体 NP-B" panose="02020700000000000000" pitchFamily="18" charset="-128"/>
                  <a:ea typeface="UD デジタル 教科書体 NP-B" panose="02020700000000000000" pitchFamily="18" charset="-128"/>
                </a:rPr>
                <a:t>と</a:t>
              </a:r>
              <a:r>
                <a:rPr lang="ja-JP" altLang="ja-JP" sz="2000" dirty="0">
                  <a:latin typeface="UD デジタル 教科書体 NP-B" panose="02020700000000000000" pitchFamily="18" charset="-128"/>
                  <a:ea typeface="UD デジタル 教科書体 NP-B" panose="02020700000000000000" pitchFamily="18" charset="-128"/>
                </a:rPr>
                <a:t>の</a:t>
              </a:r>
              <a:r>
                <a:rPr lang="ja-JP" altLang="en-US" sz="2000" dirty="0">
                  <a:latin typeface="UD デジタル 教科書体 NP-B" panose="02020700000000000000" pitchFamily="18" charset="-128"/>
                  <a:ea typeface="UD デジタル 教科書体 NP-B" panose="02020700000000000000" pitchFamily="18" charset="-128"/>
                </a:rPr>
                <a:t>面談</a:t>
              </a:r>
              <a:r>
                <a:rPr lang="ja-JP" altLang="ja-JP" sz="2000" dirty="0">
                  <a:latin typeface="UD デジタル 教科書体 NP-B" panose="02020700000000000000" pitchFamily="18" charset="-128"/>
                  <a:ea typeface="UD デジタル 教科書体 NP-B" panose="02020700000000000000" pitchFamily="18" charset="-128"/>
                </a:rPr>
                <a:t>の</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実施</a:t>
              </a: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sp>
        <p:nvSpPr>
          <p:cNvPr id="11" name="コンテンツ プレースホルダー 2">
            <a:extLst>
              <a:ext uri="{FF2B5EF4-FFF2-40B4-BE49-F238E27FC236}">
                <a16:creationId xmlns:a16="http://schemas.microsoft.com/office/drawing/2014/main" id="{90722E7A-2CDB-41BC-934E-4F061671A68E}"/>
              </a:ext>
            </a:extLst>
          </p:cNvPr>
          <p:cNvSpPr txBox="1">
            <a:spLocks/>
          </p:cNvSpPr>
          <p:nvPr/>
        </p:nvSpPr>
        <p:spPr>
          <a:xfrm>
            <a:off x="3246755" y="532515"/>
            <a:ext cx="6414124" cy="5976664"/>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buNone/>
            </a:pPr>
            <a:r>
              <a:rPr lang="ja-JP" altLang="en-US" sz="1400" kern="100" dirty="0">
                <a:latin typeface="UD デジタル 教科書体 NP-B" panose="02020700000000000000" pitchFamily="18" charset="-128"/>
                <a:ea typeface="UD デジタル 教科書体 NP-B" panose="02020700000000000000" pitchFamily="18" charset="-128"/>
              </a:rPr>
              <a:t>（</a:t>
            </a:r>
            <a:r>
              <a:rPr lang="en-US" altLang="ja-JP" sz="1400" kern="100" dirty="0">
                <a:latin typeface="UD デジタル 教科書体 NP-B" panose="02020700000000000000" pitchFamily="18" charset="-128"/>
                <a:ea typeface="UD デジタル 教科書体 NP-B" panose="02020700000000000000" pitchFamily="18" charset="-128"/>
              </a:rPr>
              <a:t>1</a:t>
            </a:r>
            <a:r>
              <a:rPr lang="ja-JP" altLang="en-US" sz="1400" kern="100" dirty="0">
                <a:latin typeface="UD デジタル 教科書体 NP-B" panose="02020700000000000000" pitchFamily="18" charset="-128"/>
                <a:ea typeface="UD デジタル 教科書体 NP-B" panose="02020700000000000000" pitchFamily="18" charset="-128"/>
              </a:rPr>
              <a:t>）</a:t>
            </a:r>
            <a:r>
              <a:rPr lang="ja-JP" altLang="ja-JP" sz="1400" kern="100" dirty="0">
                <a:effectLst/>
                <a:latin typeface="Times New Roman" panose="02020603050405020304" pitchFamily="18" charset="0"/>
                <a:ea typeface="UD デジタル 教科書体 NK-B" panose="02020700000000000000" pitchFamily="18" charset="-128"/>
              </a:rPr>
              <a:t>家庭訪問による家族への面談の実施</a:t>
            </a:r>
            <a:endParaRPr lang="ja-JP" altLang="ja-JP" sz="1400" kern="100" dirty="0">
              <a:effectLst/>
              <a:latin typeface="Times New Roman" panose="02020603050405020304" pitchFamily="18" charset="0"/>
              <a:ea typeface="SimSun" panose="02010600030101010101" pitchFamily="2" charset="-122"/>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①目的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家族（両親兄弟など）からの支援を受けることができるかの確認。</a:t>
            </a:r>
            <a:r>
              <a:rPr lang="en-US" altLang="ja-JP" sz="1400" kern="100" dirty="0">
                <a:latin typeface="Times New Roman" panose="02020603050405020304" pitchFamily="18" charset="0"/>
                <a:ea typeface="UD デジタル 教科書体 NK-B" panose="02020700000000000000" pitchFamily="18" charset="-128"/>
              </a:rPr>
              <a:t> </a:t>
            </a:r>
            <a: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②</a:t>
            </a:r>
            <a:r>
              <a:rPr lang="ja-JP" altLang="ja-JP" sz="1400" kern="100" dirty="0">
                <a:latin typeface="Times New Roman" panose="02020603050405020304" pitchFamily="18" charset="0"/>
                <a:ea typeface="UD デジタル 教科書体 NK-B" panose="02020700000000000000" pitchFamily="18" charset="-128"/>
              </a:rPr>
              <a:t>実施主体及び方法</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就労支援員　　　　　　　　　　　　　　　　　　　　　　　　　　　　　　　　　　　　　　　　　　　　　　　</a:t>
            </a:r>
            <a: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③</a:t>
            </a:r>
            <a:r>
              <a:rPr lang="ja-JP" altLang="ja-JP" sz="1400" kern="100" dirty="0">
                <a:latin typeface="Times New Roman" panose="02020603050405020304" pitchFamily="18" charset="0"/>
                <a:ea typeface="UD デジタル 教科書体 NK-B" panose="02020700000000000000" pitchFamily="18" charset="-128"/>
              </a:rPr>
              <a:t>方法</a:t>
            </a:r>
            <a:r>
              <a:rPr lang="ja-JP" altLang="en-US" sz="1400" kern="100" dirty="0">
                <a:latin typeface="Times New Roman" panose="02020603050405020304" pitchFamily="18" charset="0"/>
                <a:ea typeface="UD デジタル 教科書体 NK-B" panose="02020700000000000000" pitchFamily="18" charset="-128"/>
              </a:rPr>
              <a:t>等　　　　　　</a:t>
            </a: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さ</a:t>
            </a:r>
            <a:b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学習学習選択のための視野を広げ、主体的に行動するための、利用者主体</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で活動する課題学習を準備。</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さ</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※詳細：</a:t>
            </a:r>
            <a:r>
              <a:rPr lang="en-US" altLang="ja-JP" sz="1400" kern="100" dirty="0">
                <a:latin typeface="Times New Roman" panose="02020603050405020304" pitchFamily="18" charset="0"/>
                <a:ea typeface="UD デジタル 教科書体 NK-B" panose="02020700000000000000" pitchFamily="18" charset="-128"/>
              </a:rPr>
              <a:t>9</a:t>
            </a:r>
            <a:r>
              <a:rPr lang="ja-JP" altLang="ja-JP" sz="1400" kern="100" dirty="0">
                <a:latin typeface="Times New Roman" panose="02020603050405020304" pitchFamily="18" charset="0"/>
                <a:ea typeface="UD デジタル 教科書体 NK-B" panose="02020700000000000000" pitchFamily="18" charset="-128"/>
              </a:rPr>
              <a:t>項　１年目就労支援サービス課題</a:t>
            </a: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rgbClr val="FF0000"/>
                </a:solidFill>
                <a:latin typeface="Times New Roman" panose="02020603050405020304" pitchFamily="18" charset="0"/>
                <a:ea typeface="UD デジタル 教科書体 NK-B" panose="02020700000000000000" pitchFamily="18" charset="-128"/>
              </a:rPr>
              <a:t>　＊支援グループ向け</a:t>
            </a:r>
            <a:endParaRPr lang="en-US" altLang="ja-JP" sz="1400" kern="100" dirty="0">
              <a:solidFill>
                <a:srgbClr val="FF0000"/>
              </a:solidFill>
              <a:latin typeface="Times New Roman" panose="02020603050405020304" pitchFamily="18" charset="0"/>
              <a:ea typeface="UD デジタル 教科書体 NK-B" panose="02020700000000000000" pitchFamily="18" charset="-128"/>
            </a:endParaRPr>
          </a:p>
          <a:p>
            <a:pPr marL="417830" indent="0" algn="just">
              <a:buNone/>
            </a:pPr>
            <a:r>
              <a:rPr lang="ja-JP" altLang="ja-JP" sz="1400" kern="100" dirty="0">
                <a:solidFill>
                  <a:srgbClr val="FF0000"/>
                </a:solidFill>
                <a:effectLst/>
                <a:latin typeface="Times New Roman" panose="02020603050405020304" pitchFamily="18" charset="0"/>
                <a:ea typeface="UD デジタル 教科書体 NK-B" panose="02020700000000000000" pitchFamily="18" charset="-128"/>
              </a:rPr>
              <a:t>一般就労に絶対的に必要なものが安定した生活習慣。生活習慣の源泉は家庭内での生活であり、日中活動のみでの改善だけでは制限があ</a:t>
            </a:r>
            <a:r>
              <a:rPr lang="ja-JP" altLang="en-US" sz="1400" kern="100" dirty="0">
                <a:solidFill>
                  <a:srgbClr val="FF0000"/>
                </a:solidFill>
                <a:effectLst/>
                <a:latin typeface="Times New Roman" panose="02020603050405020304" pitchFamily="18" charset="0"/>
                <a:ea typeface="UD デジタル 教科書体 NK-B" panose="02020700000000000000" pitchFamily="18" charset="-128"/>
              </a:rPr>
              <a:t>ります</a:t>
            </a:r>
            <a:r>
              <a:rPr lang="ja-JP" altLang="ja-JP" sz="1400" kern="100" dirty="0">
                <a:solidFill>
                  <a:srgbClr val="FF0000"/>
                </a:solidFill>
                <a:effectLst/>
                <a:latin typeface="Times New Roman" panose="02020603050405020304" pitchFamily="18" charset="0"/>
                <a:ea typeface="UD デジタル 教科書体 NK-B" panose="02020700000000000000" pitchFamily="18" charset="-128"/>
              </a:rPr>
              <a:t>。</a:t>
            </a:r>
            <a:endParaRPr lang="en-US" altLang="ja-JP" sz="1400" kern="100" dirty="0">
              <a:latin typeface="Times New Roman" panose="02020603050405020304" pitchFamily="18" charset="0"/>
              <a:ea typeface="SimSun" panose="02010600030101010101" pitchFamily="2" charset="-122"/>
            </a:endParaRPr>
          </a:p>
          <a:p>
            <a:pPr marL="417830" indent="0" algn="just">
              <a:buNone/>
            </a:pPr>
            <a:r>
              <a:rPr lang="ja-JP" altLang="ja-JP" sz="1400" kern="100" dirty="0">
                <a:solidFill>
                  <a:srgbClr val="FF0000"/>
                </a:solidFill>
                <a:effectLst/>
                <a:latin typeface="Times New Roman" panose="02020603050405020304" pitchFamily="18" charset="0"/>
                <a:ea typeface="UD デジタル 教科書体 NK-B" panose="02020700000000000000" pitchFamily="18" charset="-128"/>
              </a:rPr>
              <a:t>困難性の強い方の家族（親）の方は、他者からは放任か過保護と写る生活様式が多く、また共通して共依存関係を構築されている事が圧倒的に多い。家族・家の生活様式が一般就労に資するかどうかの判断をするためにも家庭訪問による家族への面談を必須としてい</a:t>
            </a:r>
            <a:r>
              <a:rPr lang="ja-JP" altLang="en-US" sz="1400" kern="100" dirty="0">
                <a:solidFill>
                  <a:srgbClr val="FF0000"/>
                </a:solidFill>
                <a:effectLst/>
                <a:latin typeface="Times New Roman" panose="02020603050405020304" pitchFamily="18" charset="0"/>
                <a:ea typeface="UD デジタル 教科書体 NK-B" panose="02020700000000000000" pitchFamily="18" charset="-128"/>
              </a:rPr>
              <a:t>ます</a:t>
            </a:r>
            <a:r>
              <a:rPr lang="ja-JP" altLang="ja-JP" sz="1400" kern="100" dirty="0">
                <a:solidFill>
                  <a:srgbClr val="FF0000"/>
                </a:solidFill>
                <a:effectLst/>
                <a:latin typeface="Times New Roman" panose="02020603050405020304" pitchFamily="18" charset="0"/>
                <a:ea typeface="UD デジタル 教科書体 NK-B" panose="02020700000000000000" pitchFamily="18" charset="-128"/>
              </a:rPr>
              <a:t>。</a:t>
            </a:r>
            <a:endParaRPr lang="ja-JP" altLang="ja-JP" sz="1400" kern="100" dirty="0">
              <a:effectLst/>
              <a:latin typeface="Times New Roman" panose="02020603050405020304" pitchFamily="18" charset="0"/>
              <a:ea typeface="SimSun" panose="02010600030101010101" pitchFamily="2" charset="-122"/>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p:txBody>
      </p:sp>
    </p:spTree>
    <p:extLst>
      <p:ext uri="{BB962C8B-B14F-4D97-AF65-F5344CB8AC3E}">
        <p14:creationId xmlns:p14="http://schemas.microsoft.com/office/powerpoint/2010/main" val="12143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6F70AE7F-76F3-4DEF-B515-13C71CC473C4}"/>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0391DE6E-121F-4658-B2F0-D3EBCC31BAC2}"/>
              </a:ext>
            </a:extLst>
          </p:cNvPr>
          <p:cNvGrpSpPr/>
          <p:nvPr/>
        </p:nvGrpSpPr>
        <p:grpSpPr>
          <a:xfrm>
            <a:off x="0" y="212551"/>
            <a:ext cx="3917796" cy="3393996"/>
            <a:chOff x="-119190" y="3139501"/>
            <a:chExt cx="3453841" cy="1580709"/>
          </a:xfrm>
        </p:grpSpPr>
        <p:sp>
          <p:nvSpPr>
            <p:cNvPr id="7" name="タイトル 1">
              <a:extLst>
                <a:ext uri="{FF2B5EF4-FFF2-40B4-BE49-F238E27FC236}">
                  <a16:creationId xmlns:a16="http://schemas.microsoft.com/office/drawing/2014/main" id="{D5B3E010-012B-4CEE-B809-ED367ED6DD09}"/>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9" name="タイトル 1">
              <a:extLst>
                <a:ext uri="{FF2B5EF4-FFF2-40B4-BE49-F238E27FC236}">
                  <a16:creationId xmlns:a16="http://schemas.microsoft.com/office/drawing/2014/main" id="{5332A340-3339-45CF-AD48-206594FAF334}"/>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en-US" sz="2000" dirty="0">
                  <a:latin typeface="UD デジタル 教科書体 NP-B" panose="02020700000000000000" pitchFamily="18" charset="-128"/>
                  <a:ea typeface="UD デジタル 教科書体 NP-B" panose="02020700000000000000" pitchFamily="18" charset="-128"/>
                </a:rPr>
                <a:t>２</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ja-JP" sz="2000" dirty="0">
                  <a:latin typeface="UD デジタル 教科書体 NP-B" panose="02020700000000000000" pitchFamily="18" charset="-128"/>
                  <a:ea typeface="UD デジタル 教科書体 NP-B" panose="02020700000000000000" pitchFamily="18" charset="-128"/>
                </a:rPr>
                <a:t>日本語能力検定模試</a:t>
              </a:r>
              <a:r>
                <a:rPr lang="ja-JP" altLang="en-US" sz="2000" dirty="0">
                  <a:latin typeface="UD デジタル 教科書体 NP-B" panose="02020700000000000000" pitchFamily="18" charset="-128"/>
                  <a:ea typeface="UD デジタル 教科書体 NP-B" panose="02020700000000000000" pitchFamily="18" charset="-128"/>
                </a:rPr>
                <a:t>　　</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a:t>
              </a:r>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n2</a:t>
              </a:r>
              <a:r>
                <a:rPr lang="ja-JP" altLang="ja-JP" sz="2000" dirty="0">
                  <a:latin typeface="UD デジタル 教科書体 NP-B" panose="02020700000000000000" pitchFamily="18" charset="-128"/>
                  <a:ea typeface="UD デジタル 教科書体 NP-B" panose="02020700000000000000" pitchFamily="18" charset="-128"/>
                </a:rPr>
                <a:t>）の実施</a:t>
              </a:r>
            </a:p>
            <a:p>
              <a:endParaRPr lang="ja-JP" altLang="ja-JP" sz="2000" dirty="0">
                <a:solidFill>
                  <a:srgbClr val="FFFFFF"/>
                </a:solidFill>
                <a:latin typeface="UD デジタル 教科書体 NP-B" panose="02020700000000000000" pitchFamily="18" charset="-128"/>
                <a:ea typeface="UD デジタル 教科書体 NP-B" panose="02020700000000000000" pitchFamily="18" charset="-128"/>
              </a:endParaRP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sp>
        <p:nvSpPr>
          <p:cNvPr id="11" name="コンテンツ プレースホルダー 2">
            <a:extLst>
              <a:ext uri="{FF2B5EF4-FFF2-40B4-BE49-F238E27FC236}">
                <a16:creationId xmlns:a16="http://schemas.microsoft.com/office/drawing/2014/main" id="{76A6B234-CCD3-4875-B0E6-29179A31F2B0}"/>
              </a:ext>
            </a:extLst>
          </p:cNvPr>
          <p:cNvSpPr txBox="1">
            <a:spLocks/>
          </p:cNvSpPr>
          <p:nvPr/>
        </p:nvSpPr>
        <p:spPr>
          <a:xfrm>
            <a:off x="3224808" y="988758"/>
            <a:ext cx="6414124" cy="5976664"/>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buNone/>
            </a:pPr>
            <a:r>
              <a:rPr lang="ja-JP" altLang="en-US" sz="1400" kern="100" dirty="0">
                <a:latin typeface="UD デジタル 教科書体 NP-B" panose="02020700000000000000" pitchFamily="18" charset="-128"/>
                <a:ea typeface="UD デジタル 教科書体 NP-B" panose="02020700000000000000" pitchFamily="18" charset="-128"/>
              </a:rPr>
              <a:t>（２）</a:t>
            </a:r>
            <a:r>
              <a:rPr lang="ja-JP" altLang="ja-JP" sz="1400" kern="100" dirty="0">
                <a:latin typeface="Times New Roman" panose="02020603050405020304" pitchFamily="18" charset="0"/>
                <a:ea typeface="UD デジタル 教科書体 NK-B" panose="02020700000000000000" pitchFamily="18" charset="-128"/>
              </a:rPr>
              <a:t>日本語能力検定模試（</a:t>
            </a:r>
            <a:r>
              <a:rPr lang="en-US" altLang="ja-JP" sz="1400" kern="100" dirty="0">
                <a:latin typeface="Times New Roman" panose="02020603050405020304" pitchFamily="18" charset="0"/>
                <a:ea typeface="UD デジタル 教科書体 NK-B" panose="02020700000000000000" pitchFamily="18" charset="-128"/>
              </a:rPr>
              <a:t>n</a:t>
            </a:r>
            <a:r>
              <a:rPr lang="ja-JP" altLang="en-US" sz="1400" kern="100" dirty="0">
                <a:latin typeface="Times New Roman" panose="02020603050405020304" pitchFamily="18" charset="0"/>
                <a:ea typeface="UD デジタル 教科書体 NK-B" panose="02020700000000000000" pitchFamily="18" charset="-128"/>
              </a:rPr>
              <a:t>５</a:t>
            </a:r>
            <a:r>
              <a:rPr lang="ja-JP" altLang="ja-JP" sz="1400" kern="100" dirty="0">
                <a:latin typeface="Times New Roman" panose="02020603050405020304" pitchFamily="18" charset="0"/>
                <a:ea typeface="UD デジタル 教科書体 NK-B" panose="02020700000000000000" pitchFamily="18" charset="-128"/>
              </a:rPr>
              <a:t>〜</a:t>
            </a:r>
            <a:r>
              <a:rPr lang="en-US" altLang="ja-JP" sz="1400" kern="100" dirty="0">
                <a:latin typeface="Times New Roman" panose="02020603050405020304" pitchFamily="18" charset="0"/>
                <a:ea typeface="UD デジタル 教科書体 NK-B" panose="02020700000000000000" pitchFamily="18" charset="-128"/>
              </a:rPr>
              <a:t>n</a:t>
            </a:r>
            <a:r>
              <a:rPr lang="ja-JP" altLang="en-US" sz="1400" kern="100" dirty="0">
                <a:latin typeface="Times New Roman" panose="02020603050405020304" pitchFamily="18" charset="0"/>
                <a:ea typeface="UD デジタル 教科書体 NK-B" panose="02020700000000000000" pitchFamily="18" charset="-128"/>
              </a:rPr>
              <a:t>３</a:t>
            </a:r>
            <a:r>
              <a:rPr lang="ja-JP" altLang="ja-JP" sz="1400" kern="100" dirty="0">
                <a:latin typeface="Times New Roman" panose="02020603050405020304" pitchFamily="18" charset="0"/>
                <a:ea typeface="UD デジタル 教科書体 NK-B" panose="02020700000000000000" pitchFamily="18" charset="-128"/>
              </a:rPr>
              <a:t>）の実施</a:t>
            </a: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①目的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effectLst/>
                <a:ea typeface="UD デジタル 教科書体 NK-B" panose="02020700000000000000" pitchFamily="18" charset="-128"/>
                <a:cs typeface="Times New Roman" panose="02020603050405020304" pitchFamily="18" charset="0"/>
              </a:rPr>
              <a:t>入所時点での、日本語によるコミュニケーション基礎能力の把握。</a:t>
            </a:r>
            <a:r>
              <a:rPr lang="ja-JP" altLang="en-US" sz="1400" kern="100" dirty="0">
                <a:effectLst/>
                <a:ea typeface="UD デジタル 教科書体 NK-B" panose="02020700000000000000" pitchFamily="18" charset="-128"/>
                <a:cs typeface="Times New Roman" panose="02020603050405020304" pitchFamily="18" charset="0"/>
              </a:rPr>
              <a:t>　　　　</a:t>
            </a:r>
            <a: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②</a:t>
            </a:r>
            <a:r>
              <a:rPr lang="ja-JP" altLang="ja-JP" sz="1400" kern="100" dirty="0">
                <a:latin typeface="Times New Roman" panose="02020603050405020304" pitchFamily="18" charset="0"/>
                <a:ea typeface="UD デジタル 教科書体 NK-B" panose="02020700000000000000" pitchFamily="18" charset="-128"/>
              </a:rPr>
              <a:t>実施主体及び方法</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400" kern="100" dirty="0">
                <a:latin typeface="UD デジタル 教科書体 NP-B" panose="02020700000000000000" pitchFamily="18" charset="-128"/>
                <a:ea typeface="UD デジタル 教科書体 NP-B" panose="02020700000000000000" pitchFamily="18" charset="-128"/>
              </a:rPr>
              <a:t>　　　　　　　　</a:t>
            </a:r>
            <a:br>
              <a:rPr lang="en-US" altLang="ja-JP" sz="1400" kern="100" dirty="0">
                <a:latin typeface="UD デジタル 教科書体 NP-B" panose="02020700000000000000" pitchFamily="18" charset="-128"/>
                <a:ea typeface="UD デジタル 教科書体 NP-B" panose="02020700000000000000" pitchFamily="18" charset="-128"/>
              </a:rPr>
            </a:br>
            <a:r>
              <a:rPr lang="ja-JP" altLang="en-US" sz="1400" kern="100" dirty="0">
                <a:latin typeface="UD デジタル 教科書体 NP-B" panose="02020700000000000000" pitchFamily="18" charset="-128"/>
                <a:ea typeface="UD デジタル 教科書体 NP-B" panose="02020700000000000000" pitchFamily="18" charset="-128"/>
              </a:rPr>
              <a:t>　　 提携先：学習サークル </a:t>
            </a:r>
            <a:r>
              <a:rPr lang="en-US" altLang="ja-JP" sz="1400" kern="100" dirty="0" err="1">
                <a:latin typeface="UD デジタル 教科書体 NP-B" panose="02020700000000000000" pitchFamily="18" charset="-128"/>
                <a:ea typeface="UD デジタル 教科書体 NP-B" panose="02020700000000000000" pitchFamily="18" charset="-128"/>
              </a:rPr>
              <a:t>StepStudy</a:t>
            </a:r>
            <a:r>
              <a:rPr lang="ja-JP" altLang="en-US" sz="1400" kern="100" dirty="0">
                <a:latin typeface="UD デジタル 教科書体 NP-B" panose="02020700000000000000" pitchFamily="18" charset="-128"/>
                <a:ea typeface="UD デジタル 教科書体 NP-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③</a:t>
            </a:r>
            <a:r>
              <a:rPr lang="ja-JP" altLang="ja-JP" sz="1400" kern="100" dirty="0">
                <a:latin typeface="Times New Roman" panose="02020603050405020304" pitchFamily="18" charset="0"/>
                <a:ea typeface="UD デジタル 教科書体 NK-B" panose="02020700000000000000" pitchFamily="18" charset="-128"/>
              </a:rPr>
              <a:t>方法</a:t>
            </a:r>
            <a:r>
              <a:rPr lang="ja-JP" altLang="en-US" sz="1400" kern="100" dirty="0">
                <a:latin typeface="Times New Roman" panose="02020603050405020304" pitchFamily="18" charset="0"/>
                <a:ea typeface="UD デジタル 教科書体 NK-B" panose="02020700000000000000" pitchFamily="18" charset="-128"/>
              </a:rPr>
              <a:t>等　　　　　　</a:t>
            </a: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さ</a:t>
            </a:r>
            <a:b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日本語能力試験模試を</a:t>
            </a:r>
            <a:r>
              <a:rPr lang="en-US" altLang="ja-JP" sz="1400" kern="100" dirty="0">
                <a:latin typeface="Times New Roman" panose="02020603050405020304" pitchFamily="18" charset="0"/>
                <a:ea typeface="UD デジタル 教科書体 NK-B" panose="02020700000000000000" pitchFamily="18" charset="-128"/>
              </a:rPr>
              <a:t>n5</a:t>
            </a:r>
            <a:r>
              <a:rPr lang="ja-JP" altLang="ja-JP" sz="1400" kern="100" dirty="0">
                <a:latin typeface="Times New Roman" panose="02020603050405020304" pitchFamily="18" charset="0"/>
                <a:ea typeface="UD デジタル 教科書体 NK-B" panose="02020700000000000000" pitchFamily="18" charset="-128"/>
              </a:rPr>
              <a:t>から</a:t>
            </a:r>
            <a:r>
              <a:rPr lang="en-US" altLang="ja-JP" sz="1400" kern="100" dirty="0">
                <a:latin typeface="Times New Roman" panose="02020603050405020304" pitchFamily="18" charset="0"/>
                <a:ea typeface="UD デジタル 教科書体 NK-B" panose="02020700000000000000" pitchFamily="18" charset="-128"/>
              </a:rPr>
              <a:t>n2</a:t>
            </a:r>
            <a:r>
              <a:rPr lang="ja-JP" altLang="en-US" sz="1400" kern="100" dirty="0">
                <a:latin typeface="Times New Roman" panose="02020603050405020304" pitchFamily="18" charset="0"/>
                <a:ea typeface="UD デジタル 教科書体 NK-B" panose="02020700000000000000" pitchFamily="18" charset="-128"/>
              </a:rPr>
              <a:t>の間</a:t>
            </a:r>
            <a:r>
              <a:rPr lang="ja-JP" altLang="ja-JP" sz="1400" kern="100" dirty="0">
                <a:latin typeface="Times New Roman" panose="02020603050405020304" pitchFamily="18" charset="0"/>
                <a:ea typeface="UD デジタル 教科書体 NK-B" panose="02020700000000000000" pitchFamily="18" charset="-128"/>
              </a:rPr>
              <a:t>で実施。</a:t>
            </a: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さ</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ja-JP" sz="1400" kern="100" dirty="0">
                <a:latin typeface="Times New Roman" panose="02020603050405020304" pitchFamily="18" charset="0"/>
                <a:ea typeface="UD デジタル 教科書体 NK-B" panose="02020700000000000000" pitchFamily="18" charset="-128"/>
              </a:rPr>
              <a:t>※詳細：</a:t>
            </a:r>
            <a:r>
              <a:rPr lang="en-US" altLang="ja-JP" sz="1400" kern="100" dirty="0">
                <a:latin typeface="Times New Roman" panose="02020603050405020304" pitchFamily="18" charset="0"/>
                <a:ea typeface="UD デジタル 教科書体 NK-B" panose="02020700000000000000" pitchFamily="18" charset="-128"/>
              </a:rPr>
              <a:t>9</a:t>
            </a:r>
            <a:r>
              <a:rPr lang="ja-JP" altLang="ja-JP" sz="1400" kern="100" dirty="0">
                <a:latin typeface="Times New Roman" panose="02020603050405020304" pitchFamily="18" charset="0"/>
                <a:ea typeface="UD デジタル 教科書体 NK-B" panose="02020700000000000000" pitchFamily="18" charset="-128"/>
              </a:rPr>
              <a:t>項　１年目就労支援サービス課題</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さ</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④　費用負担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さ</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事業所負担</a:t>
            </a: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rgbClr val="FF0000"/>
                </a:solidFill>
                <a:latin typeface="Times New Roman" panose="02020603050405020304" pitchFamily="18" charset="0"/>
                <a:ea typeface="UD デジタル 教科書体 NK-B" panose="02020700000000000000" pitchFamily="18" charset="-128"/>
              </a:rPr>
              <a:t>　</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＊支援グループ向け</a:t>
            </a:r>
            <a:endParaRPr lang="en-US" altLang="ja-JP" sz="1000" kern="100" dirty="0">
              <a:solidFill>
                <a:srgbClr val="FF0000"/>
              </a:solidFill>
              <a:latin typeface="Times New Roman" panose="02020603050405020304" pitchFamily="18" charset="0"/>
              <a:ea typeface="UD デジタル 教科書体 NK-B" panose="02020700000000000000" pitchFamily="18" charset="-128"/>
            </a:endParaRPr>
          </a:p>
          <a:p>
            <a:pPr marL="417830" indent="0" algn="just">
              <a:buNone/>
            </a:pPr>
            <a:r>
              <a:rPr lang="ja-JP" altLang="ja-JP" sz="1000" kern="100" dirty="0">
                <a:solidFill>
                  <a:srgbClr val="FF0000"/>
                </a:solidFill>
                <a:effectLst/>
                <a:latin typeface="Times New Roman" panose="02020603050405020304" pitchFamily="18" charset="0"/>
                <a:ea typeface="UD デジタル 教科書体 NK-B" panose="02020700000000000000" pitchFamily="18" charset="-128"/>
              </a:rPr>
              <a:t>経験論にな</a:t>
            </a:r>
            <a:r>
              <a:rPr lang="ja-JP" altLang="en-US" sz="1000" kern="100" dirty="0">
                <a:solidFill>
                  <a:srgbClr val="FF0000"/>
                </a:solidFill>
                <a:effectLst/>
                <a:latin typeface="Times New Roman" panose="02020603050405020304" pitchFamily="18" charset="0"/>
                <a:ea typeface="UD デジタル 教科書体 NK-B" panose="02020700000000000000" pitchFamily="18" charset="-128"/>
              </a:rPr>
              <a:t>りますが、</a:t>
            </a:r>
            <a:r>
              <a:rPr lang="ja-JP" altLang="ja-JP" sz="1000" kern="100" dirty="0">
                <a:solidFill>
                  <a:srgbClr val="FF0000"/>
                </a:solidFill>
                <a:effectLst/>
                <a:latin typeface="Times New Roman" panose="02020603050405020304" pitchFamily="18" charset="0"/>
                <a:ea typeface="UD デジタル 教科書体 NK-B" panose="02020700000000000000" pitchFamily="18" charset="-128"/>
              </a:rPr>
              <a:t>困難性の強い方で、福祉支援を受けてこられなかった方の多くは、（いじめ等により）学習機会が確保されていないことが多く、またコミュニケーション機会も少ない傾向にある</a:t>
            </a:r>
            <a:r>
              <a:rPr lang="ja-JP" altLang="en-US" sz="1000" kern="100" dirty="0">
                <a:solidFill>
                  <a:srgbClr val="FF0000"/>
                </a:solidFill>
                <a:effectLst/>
                <a:latin typeface="Times New Roman" panose="02020603050405020304" pitchFamily="18" charset="0"/>
                <a:ea typeface="UD デジタル 教科書体 NK-B" panose="02020700000000000000" pitchFamily="18" charset="-128"/>
              </a:rPr>
              <a:t>と考えます。</a:t>
            </a:r>
            <a:endParaRPr lang="en-US" altLang="ja-JP" sz="1000" kern="100" dirty="0">
              <a:solidFill>
                <a:srgbClr val="FF0000"/>
              </a:solidFill>
              <a:effectLst/>
              <a:latin typeface="Times New Roman" panose="02020603050405020304" pitchFamily="18" charset="0"/>
              <a:ea typeface="UD デジタル 教科書体 NK-B" panose="02020700000000000000" pitchFamily="18" charset="-128"/>
            </a:endParaRPr>
          </a:p>
          <a:p>
            <a:pPr marL="417830" indent="0" algn="just">
              <a:buNone/>
            </a:pP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そのため、</a:t>
            </a:r>
            <a:r>
              <a:rPr lang="ja-JP" altLang="ja-JP" sz="1000" kern="100" dirty="0">
                <a:solidFill>
                  <a:srgbClr val="FF0000"/>
                </a:solidFill>
                <a:effectLst/>
                <a:latin typeface="Times New Roman" panose="02020603050405020304" pitchFamily="18" charset="0"/>
                <a:ea typeface="UD デジタル 教科書体 NK-B" panose="02020700000000000000" pitchFamily="18" charset="-128"/>
              </a:rPr>
              <a:t>わかった振りをすることが多</a:t>
            </a:r>
            <a:r>
              <a:rPr lang="ja-JP" altLang="en-US" sz="1000" kern="100" dirty="0">
                <a:solidFill>
                  <a:srgbClr val="FF0000"/>
                </a:solidFill>
                <a:effectLst/>
                <a:latin typeface="Times New Roman" panose="02020603050405020304" pitchFamily="18" charset="0"/>
                <a:ea typeface="UD デジタル 教科書体 NK-B" panose="02020700000000000000" pitchFamily="18" charset="-128"/>
              </a:rPr>
              <a:t>く</a:t>
            </a:r>
            <a:r>
              <a:rPr lang="ja-JP" altLang="ja-JP" sz="1000" kern="100" dirty="0">
                <a:solidFill>
                  <a:srgbClr val="FF0000"/>
                </a:solidFill>
                <a:effectLst/>
                <a:latin typeface="Times New Roman" panose="02020603050405020304" pitchFamily="18" charset="0"/>
                <a:ea typeface="UD デジタル 教科書体 NK-B" panose="02020700000000000000" pitchFamily="18" charset="-128"/>
              </a:rPr>
              <a:t>（うま</a:t>
            </a:r>
            <a:r>
              <a:rPr lang="ja-JP" altLang="en-US" sz="1000" kern="100" dirty="0">
                <a:solidFill>
                  <a:srgbClr val="FF0000"/>
                </a:solidFill>
                <a:effectLst/>
                <a:latin typeface="Times New Roman" panose="02020603050405020304" pitchFamily="18" charset="0"/>
                <a:ea typeface="UD デジタル 教科書体 NK-B" panose="02020700000000000000" pitchFamily="18" charset="-128"/>
              </a:rPr>
              <a:t>く</a:t>
            </a:r>
            <a:r>
              <a:rPr lang="ja-JP" altLang="ja-JP" sz="1000" kern="100" dirty="0">
                <a:solidFill>
                  <a:srgbClr val="FF0000"/>
                </a:solidFill>
                <a:effectLst/>
                <a:latin typeface="Times New Roman" panose="02020603050405020304" pitchFamily="18" charset="0"/>
                <a:ea typeface="UD デジタル 教科書体 NK-B" panose="02020700000000000000" pitchFamily="18" charset="-128"/>
              </a:rPr>
              <a:t>）長期的な支援をする上で同じコミュニケーションスキルにたった体制を確保しないと、成長に必須である信頼関係の構築に大きな障害となる</a:t>
            </a:r>
            <a:r>
              <a:rPr lang="ja-JP" altLang="en-US" sz="1000" kern="100" dirty="0">
                <a:solidFill>
                  <a:srgbClr val="FF0000"/>
                </a:solidFill>
                <a:effectLst/>
                <a:latin typeface="Times New Roman" panose="02020603050405020304" pitchFamily="18" charset="0"/>
                <a:ea typeface="UD デジタル 教科書体 NK-B" panose="02020700000000000000" pitchFamily="18" charset="-128"/>
              </a:rPr>
              <a:t>と考えるためです。</a:t>
            </a:r>
            <a:endParaRPr lang="en-US" altLang="ja-JP" sz="1000" kern="100" dirty="0">
              <a:solidFill>
                <a:srgbClr val="FF0000"/>
              </a:solidFill>
              <a:effectLst/>
              <a:latin typeface="Times New Roman" panose="02020603050405020304" pitchFamily="18" charset="0"/>
              <a:ea typeface="UD デジタル 教科書体 NK-B" panose="02020700000000000000" pitchFamily="18" charset="-128"/>
            </a:endParaRPr>
          </a:p>
          <a:p>
            <a:pPr marL="417830" indent="0" algn="just">
              <a:buNone/>
            </a:pP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もう一点は、人生における</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就労</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においては、</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ありのままのあなた</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ではなく</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（程度は関係なく）成長できる自分</a:t>
            </a:r>
            <a:r>
              <a:rPr lang="en-US" altLang="ja-JP" sz="1000" kern="100" dirty="0">
                <a:solidFill>
                  <a:srgbClr val="FF0000"/>
                </a:solidFill>
                <a:latin typeface="Times New Roman" panose="02020603050405020304" pitchFamily="18" charset="0"/>
                <a:ea typeface="UD デジタル 教科書体 NK-B" panose="02020700000000000000" pitchFamily="18" charset="-128"/>
              </a:rPr>
              <a:t>』</a:t>
            </a:r>
            <a:r>
              <a:rPr lang="ja-JP" altLang="en-US" sz="1000" kern="100" dirty="0">
                <a:solidFill>
                  <a:srgbClr val="FF0000"/>
                </a:solidFill>
                <a:latin typeface="Times New Roman" panose="02020603050405020304" pitchFamily="18" charset="0"/>
                <a:ea typeface="UD デジタル 教科書体 NK-B" panose="02020700000000000000" pitchFamily="18" charset="-128"/>
              </a:rPr>
              <a:t>という感覚が必須になるためです。</a:t>
            </a:r>
            <a:r>
              <a:rPr lang="en-US" altLang="ja-JP" sz="1000" kern="100" dirty="0">
                <a:effectLst/>
                <a:latin typeface="UD デジタル 教科書体 NK-B" panose="02020700000000000000" pitchFamily="18" charset="-128"/>
                <a:ea typeface="SimSun" panose="02010600030101010101" pitchFamily="2" charset="-122"/>
              </a:rPr>
              <a:t> </a:t>
            </a:r>
            <a:endParaRPr lang="ja-JP" altLang="ja-JP" sz="1000" kern="100" dirty="0">
              <a:effectLst/>
              <a:latin typeface="Times New Roman" panose="02020603050405020304" pitchFamily="18" charset="0"/>
              <a:ea typeface="SimSun" panose="02010600030101010101" pitchFamily="2" charset="-122"/>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p:txBody>
      </p:sp>
    </p:spTree>
    <p:extLst>
      <p:ext uri="{BB962C8B-B14F-4D97-AF65-F5344CB8AC3E}">
        <p14:creationId xmlns:p14="http://schemas.microsoft.com/office/powerpoint/2010/main" val="2700746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9AD77267-A34D-41C8-A102-A30A19EAF2D2}"/>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3ED1B9F3-4C2E-4A46-8609-6040B4476165}"/>
              </a:ext>
            </a:extLst>
          </p:cNvPr>
          <p:cNvGrpSpPr/>
          <p:nvPr/>
        </p:nvGrpSpPr>
        <p:grpSpPr>
          <a:xfrm>
            <a:off x="0" y="298905"/>
            <a:ext cx="3917796" cy="3393996"/>
            <a:chOff x="-119190" y="3139501"/>
            <a:chExt cx="3453841" cy="1580709"/>
          </a:xfrm>
        </p:grpSpPr>
        <p:sp>
          <p:nvSpPr>
            <p:cNvPr id="7" name="タイトル 1">
              <a:extLst>
                <a:ext uri="{FF2B5EF4-FFF2-40B4-BE49-F238E27FC236}">
                  <a16:creationId xmlns:a16="http://schemas.microsoft.com/office/drawing/2014/main" id="{6832BF7C-074C-46EF-91DC-2D879F505990}"/>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9" name="タイトル 1">
              <a:extLst>
                <a:ext uri="{FF2B5EF4-FFF2-40B4-BE49-F238E27FC236}">
                  <a16:creationId xmlns:a16="http://schemas.microsoft.com/office/drawing/2014/main" id="{4AFB1CD6-ECFA-490A-BA20-85E313EF42F6}"/>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en-US" sz="2000" dirty="0">
                  <a:latin typeface="UD デジタル 教科書体 NP-B" panose="02020700000000000000" pitchFamily="18" charset="-128"/>
                  <a:ea typeface="UD デジタル 教科書体 NP-B" panose="02020700000000000000" pitchFamily="18" charset="-128"/>
                </a:rPr>
                <a:t>２</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ja-JP" sz="2000" dirty="0">
                  <a:latin typeface="UD デジタル 教科書体 NP-B" panose="02020700000000000000" pitchFamily="18" charset="-128"/>
                  <a:ea typeface="UD デジタル 教科書体 NP-B" panose="02020700000000000000" pitchFamily="18" charset="-128"/>
                </a:rPr>
                <a:t>日本語能力検定模試</a:t>
              </a:r>
              <a:r>
                <a:rPr lang="ja-JP" altLang="en-US" sz="2000" dirty="0">
                  <a:latin typeface="UD デジタル 教科書体 NP-B" panose="02020700000000000000" pitchFamily="18" charset="-128"/>
                  <a:ea typeface="UD デジタル 教科書体 NP-B" panose="02020700000000000000" pitchFamily="18" charset="-128"/>
                </a:rPr>
                <a:t>　　</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a:t>
              </a:r>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a:t>
              </a:r>
              <a:r>
                <a:rPr lang="ja-JP" altLang="en-US" sz="2000" dirty="0">
                  <a:latin typeface="UD デジタル 教科書体 NP-B" panose="02020700000000000000" pitchFamily="18" charset="-128"/>
                  <a:ea typeface="UD デジタル 教科書体 NP-B" panose="02020700000000000000" pitchFamily="18" charset="-128"/>
                </a:rPr>
                <a:t>３</a:t>
              </a:r>
              <a:r>
                <a:rPr lang="ja-JP" altLang="ja-JP" sz="2000" dirty="0">
                  <a:latin typeface="UD デジタル 教科書体 NP-B" panose="02020700000000000000" pitchFamily="18" charset="-128"/>
                  <a:ea typeface="UD デジタル 教科書体 NP-B" panose="02020700000000000000" pitchFamily="18" charset="-128"/>
                </a:rPr>
                <a:t>）の実施</a:t>
              </a:r>
            </a:p>
            <a:p>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＊日本語能力検定とは</a:t>
              </a:r>
              <a:endParaRPr lang="ja-JP" altLang="ja-JP" sz="2000" dirty="0">
                <a:latin typeface="UD デジタル 教科書体 NP-B" panose="02020700000000000000" pitchFamily="18" charset="-128"/>
                <a:ea typeface="UD デジタル 教科書体 NP-B" panose="02020700000000000000" pitchFamily="18" charset="-128"/>
              </a:endParaRP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pic>
        <p:nvPicPr>
          <p:cNvPr id="12" name="図 11">
            <a:extLst>
              <a:ext uri="{FF2B5EF4-FFF2-40B4-BE49-F238E27FC236}">
                <a16:creationId xmlns:a16="http://schemas.microsoft.com/office/drawing/2014/main" id="{8854B795-E8F1-4A41-AB74-60068B719F76}"/>
              </a:ext>
            </a:extLst>
          </p:cNvPr>
          <p:cNvPicPr>
            <a:picLocks noChangeAspect="1"/>
          </p:cNvPicPr>
          <p:nvPr/>
        </p:nvPicPr>
        <p:blipFill>
          <a:blip r:embed="rId2"/>
          <a:stretch>
            <a:fillRect/>
          </a:stretch>
        </p:blipFill>
        <p:spPr>
          <a:xfrm>
            <a:off x="3436739" y="692696"/>
            <a:ext cx="6279762" cy="4677271"/>
          </a:xfrm>
          <a:prstGeom prst="rect">
            <a:avLst/>
          </a:prstGeom>
        </p:spPr>
      </p:pic>
      <p:sp>
        <p:nvSpPr>
          <p:cNvPr id="13" name="テキスト ボックス 12">
            <a:extLst>
              <a:ext uri="{FF2B5EF4-FFF2-40B4-BE49-F238E27FC236}">
                <a16:creationId xmlns:a16="http://schemas.microsoft.com/office/drawing/2014/main" id="{9EDEDC9D-6DBC-448D-99E6-E7E9E5B678C8}"/>
              </a:ext>
            </a:extLst>
          </p:cNvPr>
          <p:cNvSpPr txBox="1"/>
          <p:nvPr/>
        </p:nvSpPr>
        <p:spPr>
          <a:xfrm>
            <a:off x="3436739" y="5582877"/>
            <a:ext cx="6337569" cy="369332"/>
          </a:xfrm>
          <a:prstGeom prst="rect">
            <a:avLst/>
          </a:prstGeom>
          <a:noFill/>
        </p:spPr>
        <p:txBody>
          <a:bodyPr wrap="none" rtlCol="0">
            <a:spAutoFit/>
          </a:bodyPr>
          <a:lstStyle/>
          <a:p>
            <a:r>
              <a:rPr lang="ja-JP" altLang="ja-JP" sz="1800" kern="100" dirty="0">
                <a:effectLst/>
                <a:ea typeface="UD デジタル 教科書体 NK-B" panose="02020700000000000000" pitchFamily="18" charset="-128"/>
                <a:cs typeface="Times New Roman" panose="02020603050405020304" pitchFamily="18" charset="0"/>
              </a:rPr>
              <a:t>日本語能力試験</a:t>
            </a:r>
            <a:r>
              <a:rPr lang="en-US" altLang="ja-JP" sz="1800" kern="100" dirty="0">
                <a:effectLst/>
                <a:ea typeface="UD デジタル 教科書体 NK-B" panose="02020700000000000000" pitchFamily="18" charset="-128"/>
                <a:cs typeface="Times New Roman" panose="02020603050405020304" pitchFamily="18" charset="0"/>
              </a:rPr>
              <a:t>HP</a:t>
            </a:r>
            <a:r>
              <a:rPr lang="ja-JP" altLang="ja-JP" sz="1800" kern="100" dirty="0">
                <a:effectLst/>
                <a:ea typeface="UD デジタル 教科書体 NK-B" panose="02020700000000000000" pitchFamily="18" charset="-128"/>
                <a:cs typeface="Times New Roman" panose="02020603050405020304" pitchFamily="18" charset="0"/>
              </a:rPr>
              <a:t>より抜粋</a:t>
            </a:r>
            <a:r>
              <a:rPr lang="en-US" altLang="ja-JP" sz="1800" u="sng" kern="100" dirty="0">
                <a:solidFill>
                  <a:srgbClr val="0563C1"/>
                </a:solidFill>
                <a:effectLst/>
                <a:ea typeface="UD デジタル 教科書体 NK-B" panose="02020700000000000000" pitchFamily="18" charset="-128"/>
                <a:cs typeface="Times New Roman" panose="02020603050405020304" pitchFamily="18" charset="0"/>
                <a:hlinkClick r:id="rId3"/>
              </a:rPr>
              <a:t>https://www.jlpt.jp/about/points.html</a:t>
            </a:r>
            <a:endParaRPr kumimoji="1" lang="ja-JP" altLang="en-US" dirty="0"/>
          </a:p>
        </p:txBody>
      </p:sp>
    </p:spTree>
    <p:extLst>
      <p:ext uri="{BB962C8B-B14F-4D97-AF65-F5344CB8AC3E}">
        <p14:creationId xmlns:p14="http://schemas.microsoft.com/office/powerpoint/2010/main" val="287891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711BE01F-D9C6-47F3-8A5B-FA36C8752FFC}"/>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962EA967-F5DB-4B98-AA64-E48703746C51}"/>
              </a:ext>
            </a:extLst>
          </p:cNvPr>
          <p:cNvGrpSpPr/>
          <p:nvPr/>
        </p:nvGrpSpPr>
        <p:grpSpPr>
          <a:xfrm>
            <a:off x="65044" y="260648"/>
            <a:ext cx="3917796" cy="3393996"/>
            <a:chOff x="-119190" y="3139501"/>
            <a:chExt cx="3453841" cy="1580709"/>
          </a:xfrm>
        </p:grpSpPr>
        <p:sp>
          <p:nvSpPr>
            <p:cNvPr id="11" name="タイトル 1">
              <a:extLst>
                <a:ext uri="{FF2B5EF4-FFF2-40B4-BE49-F238E27FC236}">
                  <a16:creationId xmlns:a16="http://schemas.microsoft.com/office/drawing/2014/main" id="{92CF15A2-22B6-445B-8FBC-3D0A9CE2AFCC}"/>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12" name="タイトル 1">
              <a:extLst>
                <a:ext uri="{FF2B5EF4-FFF2-40B4-BE49-F238E27FC236}">
                  <a16:creationId xmlns:a16="http://schemas.microsoft.com/office/drawing/2014/main" id="{B7758BC0-98D1-40F2-A65E-FE32E5E94D37}"/>
                </a:ext>
              </a:extLst>
            </p:cNvPr>
            <p:cNvSpPr txBox="1">
              <a:spLocks/>
            </p:cNvSpPr>
            <p:nvPr/>
          </p:nvSpPr>
          <p:spPr>
            <a:xfrm>
              <a:off x="-119190" y="3139501"/>
              <a:ext cx="2880320"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en-US" altLang="ja-JP" sz="2000" dirty="0">
                  <a:latin typeface="UD デジタル 教科書体 NP-B" panose="02020700000000000000" pitchFamily="18" charset="-128"/>
                  <a:ea typeface="UD デジタル 教科書体 NP-B" panose="02020700000000000000" pitchFamily="18" charset="-128"/>
                </a:rPr>
                <a:t>(</a:t>
              </a:r>
              <a:r>
                <a:rPr lang="ja-JP" altLang="en-US" sz="2000" dirty="0">
                  <a:latin typeface="UD デジタル 教科書体 NP-B" panose="02020700000000000000" pitchFamily="18" charset="-128"/>
                  <a:ea typeface="UD デジタル 教科書体 NP-B" panose="02020700000000000000" pitchFamily="18" charset="-128"/>
                </a:rPr>
                <a:t>２</a:t>
              </a:r>
              <a:r>
                <a:rPr lang="en-US" altLang="ja-JP" sz="2000" dirty="0">
                  <a:latin typeface="UD デジタル 教科書体 NP-B" panose="02020700000000000000" pitchFamily="18" charset="-128"/>
                  <a:ea typeface="UD デジタル 教科書体 NP-B" panose="02020700000000000000" pitchFamily="18" charset="-128"/>
                </a:rPr>
                <a:t>)</a:t>
              </a:r>
              <a:r>
                <a:rPr lang="ja-JP" altLang="ja-JP" sz="2000" dirty="0">
                  <a:latin typeface="UD デジタル 教科書体 NP-B" panose="02020700000000000000" pitchFamily="18" charset="-128"/>
                  <a:ea typeface="UD デジタル 教科書体 NP-B" panose="02020700000000000000" pitchFamily="18" charset="-128"/>
                </a:rPr>
                <a:t>日本語能力検定模試</a:t>
              </a:r>
              <a:r>
                <a:rPr lang="ja-JP" altLang="en-US" sz="2000" dirty="0">
                  <a:latin typeface="UD デジタル 教科書体 NP-B" panose="02020700000000000000" pitchFamily="18" charset="-128"/>
                  <a:ea typeface="UD デジタル 教科書体 NP-B" panose="02020700000000000000" pitchFamily="18" charset="-128"/>
                </a:rPr>
                <a:t>　　</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a:t>
              </a:r>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a:t>
              </a:r>
              <a:r>
                <a:rPr lang="en-US" altLang="ja-JP" sz="2000" dirty="0">
                  <a:latin typeface="UD デジタル 教科書体 NP-B" panose="02020700000000000000" pitchFamily="18" charset="-128"/>
                  <a:ea typeface="UD デジタル 教科書体 NP-B" panose="02020700000000000000" pitchFamily="18" charset="-128"/>
                </a:rPr>
                <a:t>n</a:t>
              </a:r>
              <a:r>
                <a:rPr lang="ja-JP" altLang="en-US" sz="2000" dirty="0">
                  <a:latin typeface="UD デジタル 教科書体 NP-B" panose="02020700000000000000" pitchFamily="18" charset="-128"/>
                  <a:ea typeface="UD デジタル 教科書体 NP-B" panose="02020700000000000000" pitchFamily="18" charset="-128"/>
                </a:rPr>
                <a:t>３</a:t>
              </a:r>
              <a:r>
                <a:rPr lang="ja-JP" altLang="ja-JP" sz="2000" dirty="0">
                  <a:latin typeface="UD デジタル 教科書体 NP-B" panose="02020700000000000000" pitchFamily="18" charset="-128"/>
                  <a:ea typeface="UD デジタル 教科書体 NP-B" panose="02020700000000000000" pitchFamily="18" charset="-128"/>
                </a:rPr>
                <a:t>）の実施</a:t>
              </a:r>
            </a:p>
            <a:p>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＊日本語能力検定</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グレード目安</a:t>
              </a:r>
              <a:endParaRPr lang="ja-JP" altLang="ja-JP" sz="2000" dirty="0">
                <a:latin typeface="UD デジタル 教科書体 NP-B" panose="02020700000000000000" pitchFamily="18" charset="-128"/>
                <a:ea typeface="UD デジタル 教科書体 NP-B" panose="02020700000000000000" pitchFamily="18" charset="-128"/>
              </a:endParaRP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pic>
        <p:nvPicPr>
          <p:cNvPr id="2051" name="Picture 3">
            <a:extLst>
              <a:ext uri="{FF2B5EF4-FFF2-40B4-BE49-F238E27FC236}">
                <a16:creationId xmlns:a16="http://schemas.microsoft.com/office/drawing/2014/main" id="{A7D73DCF-7A2C-40CF-A5FA-B7516C969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0650" y="173749"/>
            <a:ext cx="5069746" cy="6033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ボックス 12">
            <a:extLst>
              <a:ext uri="{FF2B5EF4-FFF2-40B4-BE49-F238E27FC236}">
                <a16:creationId xmlns:a16="http://schemas.microsoft.com/office/drawing/2014/main" id="{30FD8A87-9FD9-4406-9487-F6B2C641E9D9}"/>
              </a:ext>
            </a:extLst>
          </p:cNvPr>
          <p:cNvSpPr txBox="1"/>
          <p:nvPr/>
        </p:nvSpPr>
        <p:spPr>
          <a:xfrm>
            <a:off x="3436739" y="6355568"/>
            <a:ext cx="6337569" cy="369332"/>
          </a:xfrm>
          <a:prstGeom prst="rect">
            <a:avLst/>
          </a:prstGeom>
          <a:noFill/>
        </p:spPr>
        <p:txBody>
          <a:bodyPr wrap="none" rtlCol="0">
            <a:spAutoFit/>
          </a:bodyPr>
          <a:lstStyle/>
          <a:p>
            <a:r>
              <a:rPr lang="ja-JP" altLang="ja-JP" sz="1800" kern="100" dirty="0">
                <a:effectLst/>
                <a:ea typeface="UD デジタル 教科書体 NK-B" panose="02020700000000000000" pitchFamily="18" charset="-128"/>
                <a:cs typeface="Times New Roman" panose="02020603050405020304" pitchFamily="18" charset="0"/>
              </a:rPr>
              <a:t>日本語能力試験</a:t>
            </a:r>
            <a:r>
              <a:rPr lang="en-US" altLang="ja-JP" sz="1800" kern="100" dirty="0">
                <a:effectLst/>
                <a:ea typeface="UD デジタル 教科書体 NK-B" panose="02020700000000000000" pitchFamily="18" charset="-128"/>
                <a:cs typeface="Times New Roman" panose="02020603050405020304" pitchFamily="18" charset="0"/>
              </a:rPr>
              <a:t>HP</a:t>
            </a:r>
            <a:r>
              <a:rPr lang="ja-JP" altLang="ja-JP" sz="1800" kern="100" dirty="0">
                <a:effectLst/>
                <a:ea typeface="UD デジタル 教科書体 NK-B" panose="02020700000000000000" pitchFamily="18" charset="-128"/>
                <a:cs typeface="Times New Roman" panose="02020603050405020304" pitchFamily="18" charset="0"/>
              </a:rPr>
              <a:t>より抜粋</a:t>
            </a:r>
            <a:r>
              <a:rPr lang="en-US" altLang="ja-JP" sz="1800" u="sng" kern="100" dirty="0">
                <a:solidFill>
                  <a:srgbClr val="0563C1"/>
                </a:solidFill>
                <a:effectLst/>
                <a:ea typeface="UD デジタル 教科書体 NK-B" panose="02020700000000000000" pitchFamily="18" charset="-128"/>
                <a:cs typeface="Times New Roman" panose="02020603050405020304" pitchFamily="18" charset="0"/>
                <a:hlinkClick r:id="rId3"/>
              </a:rPr>
              <a:t>https://www.jlpt.jp/about/points.html</a:t>
            </a:r>
            <a:endParaRPr kumimoji="1" lang="ja-JP" altLang="en-US" dirty="0"/>
          </a:p>
        </p:txBody>
      </p:sp>
    </p:spTree>
    <p:extLst>
      <p:ext uri="{BB962C8B-B14F-4D97-AF65-F5344CB8AC3E}">
        <p14:creationId xmlns:p14="http://schemas.microsoft.com/office/powerpoint/2010/main" val="3419773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7CD5F9BA-1997-449A-85D3-923F45BF89AA}"/>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D2B890A1-33F4-4932-B5FD-2670FEF0C2F7}"/>
              </a:ext>
            </a:extLst>
          </p:cNvPr>
          <p:cNvGrpSpPr/>
          <p:nvPr/>
        </p:nvGrpSpPr>
        <p:grpSpPr>
          <a:xfrm>
            <a:off x="-14809" y="264480"/>
            <a:ext cx="3290173" cy="3393996"/>
            <a:chOff x="-82069" y="3236619"/>
            <a:chExt cx="3416720" cy="1580709"/>
          </a:xfrm>
        </p:grpSpPr>
        <p:sp>
          <p:nvSpPr>
            <p:cNvPr id="7" name="タイトル 1">
              <a:extLst>
                <a:ext uri="{FF2B5EF4-FFF2-40B4-BE49-F238E27FC236}">
                  <a16:creationId xmlns:a16="http://schemas.microsoft.com/office/drawing/2014/main" id="{D5ED26BD-7F39-420B-A867-642FAD523756}"/>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8" name="タイトル 1">
              <a:extLst>
                <a:ext uri="{FF2B5EF4-FFF2-40B4-BE49-F238E27FC236}">
                  <a16:creationId xmlns:a16="http://schemas.microsoft.com/office/drawing/2014/main" id="{D6B36C9A-396E-48F2-AE5B-9FD888F6DD20}"/>
                </a:ext>
              </a:extLst>
            </p:cNvPr>
            <p:cNvSpPr txBox="1">
              <a:spLocks/>
            </p:cNvSpPr>
            <p:nvPr/>
          </p:nvSpPr>
          <p:spPr>
            <a:xfrm>
              <a:off x="-82069" y="3236619"/>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1800" dirty="0">
                  <a:latin typeface="UD デジタル 教科書体 NP-B" panose="02020700000000000000" pitchFamily="18" charset="-128"/>
                  <a:ea typeface="UD デジタル 教科書体 NP-B" panose="02020700000000000000" pitchFamily="18" charset="-128"/>
                </a:rPr>
                <a:t>(</a:t>
              </a:r>
              <a:r>
                <a:rPr lang="ja-JP" altLang="en-US" sz="1800" dirty="0">
                  <a:latin typeface="UD デジタル 教科書体 NP-B" panose="02020700000000000000" pitchFamily="18" charset="-128"/>
                  <a:ea typeface="UD デジタル 教科書体 NP-B" panose="02020700000000000000" pitchFamily="18" charset="-128"/>
                </a:rPr>
                <a:t>３</a:t>
              </a:r>
              <a:r>
                <a:rPr lang="en-US" altLang="ja-JP" sz="1800" dirty="0">
                  <a:latin typeface="UD デジタル 教科書体 NP-B" panose="02020700000000000000" pitchFamily="18" charset="-128"/>
                  <a:ea typeface="UD デジタル 教科書体 NP-B" panose="02020700000000000000" pitchFamily="18" charset="-128"/>
                </a:rPr>
                <a:t>)</a:t>
              </a:r>
              <a:r>
                <a:rPr lang="ja-JP" altLang="ja-JP" sz="1800" dirty="0">
                  <a:latin typeface="UD デジタル 教科書体 NP-B" panose="02020700000000000000" pitchFamily="18" charset="-128"/>
                  <a:ea typeface="UD デジタル 教科書体 NP-B" panose="02020700000000000000" pitchFamily="18" charset="-128"/>
                </a:rPr>
                <a:t>医療機関による発達心</a:t>
              </a:r>
              <a:r>
                <a:rPr lang="ja-JP" altLang="en-US" sz="1800" dirty="0">
                  <a:latin typeface="UD デジタル 教科書体 NP-B" panose="02020700000000000000" pitchFamily="18" charset="-128"/>
                  <a:ea typeface="UD デジタル 教科書体 NP-B" panose="02020700000000000000" pitchFamily="18" charset="-128"/>
                </a:rPr>
                <a:t>　</a:t>
              </a:r>
              <a:br>
                <a:rPr lang="en-US" altLang="ja-JP" sz="1800" dirty="0">
                  <a:latin typeface="UD デジタル 教科書体 NP-B" panose="02020700000000000000" pitchFamily="18" charset="-128"/>
                  <a:ea typeface="UD デジタル 教科書体 NP-B" panose="02020700000000000000" pitchFamily="18" charset="-128"/>
                </a:rPr>
              </a:br>
              <a:r>
                <a:rPr lang="ja-JP" altLang="en-US" sz="1800" dirty="0">
                  <a:latin typeface="UD デジタル 教科書体 NP-B" panose="02020700000000000000" pitchFamily="18" charset="-128"/>
                  <a:ea typeface="UD デジタル 教科書体 NP-B" panose="02020700000000000000" pitchFamily="18" charset="-128"/>
                </a:rPr>
                <a:t>　　　</a:t>
              </a:r>
              <a:r>
                <a:rPr lang="ja-JP" altLang="ja-JP" sz="1800" dirty="0">
                  <a:latin typeface="UD デジタル 教科書体 NP-B" panose="02020700000000000000" pitchFamily="18" charset="-128"/>
                  <a:ea typeface="UD デジタル 教科書体 NP-B" panose="02020700000000000000" pitchFamily="18" charset="-128"/>
                </a:rPr>
                <a:t>理検査及びカウンセリ</a:t>
              </a:r>
              <a:br>
                <a:rPr lang="en-US" altLang="ja-JP" sz="1800" dirty="0">
                  <a:latin typeface="UD デジタル 教科書体 NP-B" panose="02020700000000000000" pitchFamily="18" charset="-128"/>
                  <a:ea typeface="UD デジタル 教科書体 NP-B" panose="02020700000000000000" pitchFamily="18" charset="-128"/>
                </a:rPr>
              </a:br>
              <a:r>
                <a:rPr lang="ja-JP" altLang="en-US" sz="1800" dirty="0">
                  <a:latin typeface="UD デジタル 教科書体 NP-B" panose="02020700000000000000" pitchFamily="18" charset="-128"/>
                  <a:ea typeface="UD デジタル 教科書体 NP-B" panose="02020700000000000000" pitchFamily="18" charset="-128"/>
                </a:rPr>
                <a:t>　　　</a:t>
              </a:r>
              <a:r>
                <a:rPr lang="ja-JP" altLang="ja-JP" sz="1800" dirty="0">
                  <a:latin typeface="UD デジタル 教科書体 NP-B" panose="02020700000000000000" pitchFamily="18" charset="-128"/>
                  <a:ea typeface="UD デジタル 教科書体 NP-B" panose="02020700000000000000" pitchFamily="18" charset="-128"/>
                </a:rPr>
                <a:t>ングの実施</a:t>
              </a: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ja-JP" altLang="en-US" sz="2000" dirty="0">
                  <a:solidFill>
                    <a:srgbClr val="FFFFFF"/>
                  </a:solidFill>
                  <a:latin typeface="UD デジタル 教科書体 NP-B" panose="02020700000000000000" pitchFamily="18" charset="-128"/>
                  <a:ea typeface="UD デジタル 教科書体 NP-B" panose="02020700000000000000" pitchFamily="18" charset="-128"/>
                </a:rPr>
                <a:t>　</a:t>
              </a:r>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sp>
        <p:nvSpPr>
          <p:cNvPr id="9" name="コンテンツ プレースホルダー 2">
            <a:extLst>
              <a:ext uri="{FF2B5EF4-FFF2-40B4-BE49-F238E27FC236}">
                <a16:creationId xmlns:a16="http://schemas.microsoft.com/office/drawing/2014/main" id="{A16CA51E-E313-4A2E-9B97-C42717FEE10B}"/>
              </a:ext>
            </a:extLst>
          </p:cNvPr>
          <p:cNvSpPr txBox="1">
            <a:spLocks/>
          </p:cNvSpPr>
          <p:nvPr/>
        </p:nvSpPr>
        <p:spPr>
          <a:xfrm>
            <a:off x="3275363" y="832162"/>
            <a:ext cx="6414124" cy="5652630"/>
          </a:xfrm>
          <a:prstGeom prst="rect">
            <a:avLst/>
          </a:prstGeom>
        </p:spPr>
        <p:txBody>
          <a:bodyPr vert="horz" lIns="91440" tIns="45720" rIns="91440" bIns="45720" rtlCol="0" anchor="t">
            <a:normAutofit fontScale="925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buNone/>
            </a:pPr>
            <a:r>
              <a:rPr lang="ja-JP" altLang="en-US" sz="1400" kern="100" dirty="0">
                <a:latin typeface="UD デジタル 教科書体 NP-B" panose="02020700000000000000" pitchFamily="18" charset="-128"/>
                <a:ea typeface="UD デジタル 教科書体 NP-B" panose="02020700000000000000" pitchFamily="18" charset="-128"/>
              </a:rPr>
              <a:t>（３）医療機関による発達心理検査及びカウンセリングの実施</a:t>
            </a:r>
            <a:endParaRPr lang="en-US" altLang="ja-JP" sz="1400" kern="100" dirty="0">
              <a:latin typeface="Times New Roman" panose="02020603050405020304" pitchFamily="18" charset="0"/>
              <a:ea typeface="UD デジタル 教科書体 NK-B" panose="02020700000000000000" pitchFamily="18" charset="-128"/>
            </a:endParaRPr>
          </a:p>
          <a:p>
            <a:pPr marL="0" indent="0">
              <a:buNone/>
            </a:pPr>
            <a:r>
              <a:rPr lang="ja-JP" altLang="en-US" sz="1400" kern="100" dirty="0">
                <a:latin typeface="Times New Roman" panose="02020603050405020304" pitchFamily="18" charset="0"/>
                <a:ea typeface="UD デジタル 教科書体 NK-B" panose="02020700000000000000" pitchFamily="18" charset="-128"/>
              </a:rPr>
              <a:t>    ①目的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effectLst/>
                <a:ea typeface="UD デジタル 教科書体 NK-B" panose="02020700000000000000" pitchFamily="18" charset="-128"/>
                <a:cs typeface="Times New Roman" panose="02020603050405020304" pitchFamily="18" charset="0"/>
              </a:rPr>
              <a:t>入所時点</a:t>
            </a:r>
            <a:r>
              <a:rPr lang="ja-JP" altLang="ja-JP" sz="1400" kern="100" dirty="0">
                <a:ea typeface="UD デジタル 教科書体 NK-B" panose="02020700000000000000" pitchFamily="18" charset="-128"/>
                <a:cs typeface="Times New Roman" panose="02020603050405020304" pitchFamily="18" charset="0"/>
              </a:rPr>
              <a:t>での、心理状況及び能力について正確に把握するため。</a:t>
            </a:r>
            <a:r>
              <a:rPr lang="ja-JP" altLang="en-US" sz="1400" kern="100" dirty="0">
                <a:ea typeface="UD デジタル 教科書体 NK-B" panose="02020700000000000000" pitchFamily="18" charset="-128"/>
                <a:cs typeface="Times New Roman" panose="02020603050405020304" pitchFamily="18" charset="0"/>
              </a:rPr>
              <a:t>　　　　</a:t>
            </a:r>
            <a:r>
              <a:rPr lang="ja-JP" altLang="en-US" sz="1400" kern="100" dirty="0">
                <a:effectLst/>
                <a:ea typeface="UD デジタル 教科書体 NK-B" panose="02020700000000000000" pitchFamily="18" charset="-128"/>
                <a:cs typeface="Times New Roman" panose="02020603050405020304" pitchFamily="18" charset="0"/>
              </a:rPr>
              <a:t>　　　</a:t>
            </a:r>
            <a: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br>
              <a:rPr lang="en-US" altLang="ja-JP" sz="1400" kern="100" dirty="0">
                <a:latin typeface="Times New Roman" panose="02020603050405020304" pitchFamily="18" charset="0"/>
                <a:ea typeface="UD デジタル 教科書体 NK-B" panose="02020700000000000000" pitchFamily="18" charset="-128"/>
              </a:rPr>
            </a:b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②</a:t>
            </a:r>
            <a:r>
              <a:rPr lang="ja-JP" altLang="ja-JP" sz="1400" kern="100" dirty="0">
                <a:latin typeface="Times New Roman" panose="02020603050405020304" pitchFamily="18" charset="0"/>
                <a:ea typeface="UD デジタル 教科書体 NK-B" panose="02020700000000000000" pitchFamily="18" charset="-128"/>
              </a:rPr>
              <a:t>実施主体及び方法</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UD デジタル 教科書体 NP-B" panose="02020700000000000000" pitchFamily="18" charset="-128"/>
                <a:ea typeface="UD デジタル 教科書体 NP-B" panose="02020700000000000000" pitchFamily="18" charset="-128"/>
              </a:rPr>
              <a:t>　　　　　　　　</a:t>
            </a:r>
            <a:br>
              <a:rPr lang="en-US" altLang="ja-JP" sz="1400" kern="100" dirty="0">
                <a:latin typeface="UD デジタル 教科書体 NP-B" panose="02020700000000000000" pitchFamily="18" charset="-128"/>
                <a:ea typeface="UD デジタル 教科書体 NP-B" panose="02020700000000000000" pitchFamily="18" charset="-128"/>
              </a:rPr>
            </a:br>
            <a:r>
              <a:rPr lang="ja-JP" altLang="en-US" sz="1400" kern="100" dirty="0">
                <a:latin typeface="UD デジタル 教科書体 NP-B" panose="02020700000000000000" pitchFamily="18" charset="-128"/>
                <a:ea typeface="UD デジタル 教科書体 NP-B" panose="02020700000000000000" pitchFamily="18" charset="-128"/>
              </a:rPr>
              <a:t>　 </a:t>
            </a:r>
            <a:r>
              <a:rPr lang="ja-JP" altLang="ja-JP" sz="1400" kern="100" dirty="0">
                <a:ea typeface="UD デジタル 教科書体 NK-B" panose="02020700000000000000" pitchFamily="18" charset="-128"/>
                <a:cs typeface="Times New Roman" panose="02020603050405020304" pitchFamily="18" charset="0"/>
              </a:rPr>
              <a:t>主治医医療機関もしく協力医療機関</a:t>
            </a:r>
            <a:r>
              <a:rPr lang="ja-JP" altLang="en-US" sz="1400" kern="100" dirty="0">
                <a:ea typeface="UD デジタル 教科書体 NK-B" panose="02020700000000000000" pitchFamily="18" charset="-128"/>
                <a:cs typeface="Times New Roman" panose="02020603050405020304" pitchFamily="18" charset="0"/>
              </a:rPr>
              <a:t>。</a:t>
            </a:r>
            <a:r>
              <a:rPr lang="en-US" altLang="ja-JP" sz="1400" kern="100" dirty="0">
                <a:ea typeface="UD デジタル 教科書体 NK-B" panose="02020700000000000000" pitchFamily="18" charset="-128"/>
                <a:cs typeface="Times New Roman" panose="02020603050405020304" pitchFamily="18" charset="0"/>
              </a:rPr>
              <a:t>      </a:t>
            </a:r>
            <a:r>
              <a:rPr lang="ja-JP" altLang="en-US" sz="1400" kern="100" dirty="0">
                <a:ea typeface="UD デジタル 教科書体 NK-B" panose="02020700000000000000" pitchFamily="18" charset="-128"/>
                <a:cs typeface="Times New Roman" panose="02020603050405020304" pitchFamily="18" charset="0"/>
              </a:rPr>
              <a:t>　　　　　　　　　　　</a:t>
            </a:r>
            <a:r>
              <a:rPr lang="ja-JP" altLang="en-US" sz="1400" kern="100" dirty="0">
                <a:solidFill>
                  <a:schemeClr val="accent6">
                    <a:lumMod val="20000"/>
                    <a:lumOff val="80000"/>
                  </a:schemeClr>
                </a:solidFill>
                <a:ea typeface="UD デジタル 教科書体 NK-B" panose="02020700000000000000" pitchFamily="18" charset="-128"/>
                <a:cs typeface="Times New Roman" panose="02020603050405020304" pitchFamily="18" charset="0"/>
              </a:rPr>
              <a:t>　　</a:t>
            </a:r>
            <a:r>
              <a:rPr lang="ja-JP" altLang="en-US" sz="1400" kern="100" dirty="0">
                <a:ea typeface="UD デジタル 教科書体 NK-B" panose="02020700000000000000" pitchFamily="18" charset="-128"/>
                <a:cs typeface="Times New Roman" panose="02020603050405020304" pitchFamily="18" charset="0"/>
              </a:rPr>
              <a:t>　</a:t>
            </a:r>
            <a:r>
              <a:rPr lang="ja-JP" altLang="en-US" sz="1800" kern="100" dirty="0">
                <a:effectLst/>
                <a:ea typeface="UD デジタル 教科書体 NK-B" panose="02020700000000000000" pitchFamily="18" charset="-128"/>
                <a:cs typeface="Times New Roman" panose="02020603050405020304" pitchFamily="18" charset="0"/>
              </a:rPr>
              <a:t>　　</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③</a:t>
            </a:r>
            <a:r>
              <a:rPr lang="ja-JP" altLang="ja-JP" sz="1400" kern="100" dirty="0">
                <a:latin typeface="Times New Roman" panose="02020603050405020304" pitchFamily="18" charset="0"/>
                <a:ea typeface="UD デジタル 教科書体 NK-B" panose="02020700000000000000" pitchFamily="18" charset="-128"/>
              </a:rPr>
              <a:t>方法</a:t>
            </a:r>
            <a:r>
              <a:rPr lang="ja-JP" altLang="en-US" sz="1400" kern="100" dirty="0">
                <a:latin typeface="Times New Roman" panose="02020603050405020304" pitchFamily="18" charset="0"/>
                <a:ea typeface="UD デジタル 教科書体 NK-B" panose="02020700000000000000" pitchFamily="18" charset="-128"/>
              </a:rPr>
              <a:t>等　　　　　　</a:t>
            </a:r>
            <a:r>
              <a:rPr lang="en-US" altLang="ja-JP" sz="1400" kern="100" dirty="0">
                <a:latin typeface="Times New Roman" panose="02020603050405020304" pitchFamily="18" charset="0"/>
                <a:ea typeface="UD デジタル 教科書体 NK-B" panose="02020700000000000000" pitchFamily="18" charset="-128"/>
              </a:rPr>
              <a:t>         </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20000"/>
                    <a:lumOff val="80000"/>
                  </a:schemeClr>
                </a:solidFill>
                <a:latin typeface="Times New Roman" panose="02020603050405020304" pitchFamily="18" charset="0"/>
                <a:ea typeface="UD デジタル 教科書体 NK-B" panose="02020700000000000000" pitchFamily="18" charset="-128"/>
              </a:rPr>
              <a:t>　</a:t>
            </a:r>
            <a:br>
              <a:rPr lang="en-US" altLang="ja-JP"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a:t>
            </a:r>
            <a:r>
              <a:rPr lang="ja-JP" altLang="ja-JP" sz="1400" kern="100" dirty="0">
                <a:ea typeface="UD デジタル 教科書体 NK-B" panose="02020700000000000000" pitchFamily="18" charset="-128"/>
                <a:cs typeface="Times New Roman" panose="02020603050405020304" pitchFamily="18" charset="0"/>
              </a:rPr>
              <a:t>発達心理テストによる以下の診断情報の把握。</a:t>
            </a:r>
            <a:br>
              <a:rPr lang="en-US" altLang="ja-JP" sz="1400" kern="100" dirty="0">
                <a:ea typeface="UD デジタル 教科書体 NK-B" panose="02020700000000000000" pitchFamily="18" charset="-128"/>
                <a:cs typeface="Times New Roman" panose="02020603050405020304" pitchFamily="18" charset="0"/>
              </a:rPr>
            </a:br>
            <a:r>
              <a:rPr lang="ja-JP" altLang="en-US" sz="1400" kern="100" dirty="0">
                <a:ea typeface="UD デジタル 教科書体 NK-B" panose="02020700000000000000" pitchFamily="18" charset="-128"/>
                <a:cs typeface="Times New Roman" panose="02020603050405020304" pitchFamily="18" charset="0"/>
              </a:rPr>
              <a:t>　　　　</a:t>
            </a:r>
            <a:r>
              <a:rPr lang="en-US" altLang="ja-JP" sz="1400" kern="100" dirty="0">
                <a:ea typeface="UD デジタル 教科書体 NK-B" panose="02020700000000000000" pitchFamily="18" charset="-128"/>
                <a:cs typeface="Times New Roman" panose="02020603050405020304" pitchFamily="18" charset="0"/>
              </a:rPr>
              <a:t>WAIS-</a:t>
            </a:r>
            <a:r>
              <a:rPr lang="ja-JP" altLang="ja-JP" sz="1400" kern="100" dirty="0">
                <a:ea typeface="UD デジタル 教科書体 NK-B" panose="02020700000000000000" pitchFamily="18" charset="-128"/>
                <a:cs typeface="Times New Roman" panose="02020603050405020304" pitchFamily="18" charset="0"/>
              </a:rPr>
              <a:t>Ⅲ（知能検査）</a:t>
            </a:r>
            <a:r>
              <a:rPr lang="en-US" altLang="ja-JP" sz="1400" kern="100" dirty="0">
                <a:ea typeface="UD デジタル 教科書体 NK-B" panose="02020700000000000000" pitchFamily="18" charset="-128"/>
                <a:cs typeface="Times New Roman" panose="02020603050405020304" pitchFamily="18" charset="0"/>
              </a:rPr>
              <a:t> AQ</a:t>
            </a:r>
            <a:r>
              <a:rPr lang="ja-JP" altLang="ja-JP" sz="1400" kern="100" dirty="0">
                <a:ea typeface="UD デジタル 教科書体 NK-B" panose="02020700000000000000" pitchFamily="18" charset="-128"/>
                <a:cs typeface="Times New Roman" panose="02020603050405020304" pitchFamily="18" charset="0"/>
              </a:rPr>
              <a:t>（</a:t>
            </a:r>
            <a:r>
              <a:rPr lang="en-US" altLang="ja-JP" sz="1400" kern="100" dirty="0">
                <a:ea typeface="UD デジタル 教科書体 NK-B" panose="02020700000000000000" pitchFamily="18" charset="-128"/>
                <a:cs typeface="Times New Roman" panose="02020603050405020304" pitchFamily="18" charset="0"/>
              </a:rPr>
              <a:t>ASD</a:t>
            </a:r>
            <a:r>
              <a:rPr lang="ja-JP" altLang="ja-JP" sz="1400" kern="100" dirty="0">
                <a:ea typeface="UD デジタル 教科書体 NK-B" panose="02020700000000000000" pitchFamily="18" charset="-128"/>
                <a:cs typeface="Times New Roman" panose="02020603050405020304" pitchFamily="18" charset="0"/>
              </a:rPr>
              <a:t>検査）</a:t>
            </a:r>
            <a:r>
              <a:rPr lang="en-US" altLang="ja-JP" sz="1400" kern="100" dirty="0">
                <a:ea typeface="UD デジタル 教科書体 NK-B" panose="02020700000000000000" pitchFamily="18" charset="-128"/>
                <a:cs typeface="Times New Roman" panose="02020603050405020304" pitchFamily="18" charset="0"/>
              </a:rPr>
              <a:t> ASRS</a:t>
            </a:r>
            <a:r>
              <a:rPr lang="ja-JP" altLang="ja-JP" sz="1400" kern="100" dirty="0">
                <a:ea typeface="UD デジタル 教科書体 NK-B" panose="02020700000000000000" pitchFamily="18" charset="-128"/>
                <a:cs typeface="Times New Roman" panose="02020603050405020304" pitchFamily="18" charset="0"/>
              </a:rPr>
              <a:t>（</a:t>
            </a:r>
            <a:r>
              <a:rPr lang="en-US" altLang="ja-JP" sz="1400" kern="100" dirty="0">
                <a:ea typeface="UD デジタル 教科書体 NK-B" panose="02020700000000000000" pitchFamily="18" charset="-128"/>
                <a:cs typeface="Times New Roman" panose="02020603050405020304" pitchFamily="18" charset="0"/>
              </a:rPr>
              <a:t>ADHD</a:t>
            </a:r>
            <a:r>
              <a:rPr lang="ja-JP" altLang="ja-JP" sz="1400" kern="100" dirty="0">
                <a:ea typeface="UD デジタル 教科書体 NK-B" panose="02020700000000000000" pitchFamily="18" charset="-128"/>
                <a:cs typeface="Times New Roman" panose="02020603050405020304" pitchFamily="18" charset="0"/>
              </a:rPr>
              <a:t>検査）バウムテスト（心理検査）</a:t>
            </a:r>
            <a:br>
              <a:rPr lang="en-US" altLang="ja-JP" sz="1400" kern="100" dirty="0">
                <a:ea typeface="UD デジタル 教科書体 NK-B" panose="02020700000000000000" pitchFamily="18" charset="-128"/>
                <a:cs typeface="Times New Roman" panose="02020603050405020304" pitchFamily="18" charset="0"/>
              </a:rPr>
            </a:br>
            <a:r>
              <a:rPr lang="ja-JP" altLang="en-US" sz="1400" kern="100" dirty="0">
                <a:ea typeface="UD デジタル 教科書体 NK-B" panose="02020700000000000000" pitchFamily="18" charset="-128"/>
                <a:cs typeface="Times New Roman" panose="02020603050405020304" pitchFamily="18" charset="0"/>
              </a:rPr>
              <a:t>　　　　</a:t>
            </a:r>
            <a:r>
              <a:rPr lang="ja-JP" altLang="ja-JP" sz="1400" kern="100" dirty="0">
                <a:ea typeface="UD デジタル 教科書体 NK-B" panose="02020700000000000000" pitchFamily="18" charset="-128"/>
                <a:cs typeface="Times New Roman" panose="02020603050405020304" pitchFamily="18" charset="0"/>
              </a:rPr>
              <a:t>作業</a:t>
            </a:r>
            <a:r>
              <a:rPr lang="en-US" altLang="ja-JP" sz="1400" kern="100" dirty="0">
                <a:ea typeface="UD デジタル 教科書体 NK-B" panose="02020700000000000000" pitchFamily="18" charset="-128"/>
                <a:cs typeface="Times New Roman" panose="02020603050405020304" pitchFamily="18" charset="0"/>
              </a:rPr>
              <a:t>IQ</a:t>
            </a:r>
            <a:r>
              <a:rPr lang="ja-JP" altLang="ja-JP" sz="1400" kern="100" dirty="0">
                <a:ea typeface="UD デジタル 教科書体 NK-B" panose="02020700000000000000" pitchFamily="18" charset="-128"/>
                <a:cs typeface="Times New Roman" panose="02020603050405020304" pitchFamily="18" charset="0"/>
              </a:rPr>
              <a:t>・言語</a:t>
            </a:r>
            <a:r>
              <a:rPr lang="en-US" altLang="ja-JP" sz="1400" kern="100" dirty="0">
                <a:ea typeface="UD デジタル 教科書体 NK-B" panose="02020700000000000000" pitchFamily="18" charset="-128"/>
                <a:cs typeface="Times New Roman" panose="02020603050405020304" pitchFamily="18" charset="0"/>
              </a:rPr>
              <a:t>IQ</a:t>
            </a:r>
            <a:r>
              <a:rPr lang="ja-JP" altLang="ja-JP" sz="1400" kern="100" dirty="0">
                <a:ea typeface="UD デジタル 教科書体 NK-B" panose="02020700000000000000" pitchFamily="18" charset="-128"/>
                <a:cs typeface="Times New Roman" panose="02020603050405020304" pitchFamily="18" charset="0"/>
              </a:rPr>
              <a:t>。</a:t>
            </a:r>
            <a:r>
              <a:rPr lang="en-US" altLang="ja-JP" sz="1400" kern="100" dirty="0">
                <a:ea typeface="UD デジタル 教科書体 NK-B" panose="02020700000000000000" pitchFamily="18" charset="-128"/>
                <a:cs typeface="Times New Roman" panose="02020603050405020304" pitchFamily="18" charset="0"/>
              </a:rPr>
              <a:t>ADL</a:t>
            </a:r>
            <a:r>
              <a:rPr lang="ja-JP" altLang="ja-JP" sz="1400" kern="100" dirty="0">
                <a:ea typeface="UD デジタル 教科書体 NK-B" panose="02020700000000000000" pitchFamily="18" charset="-128"/>
                <a:cs typeface="Times New Roman" panose="02020603050405020304" pitchFamily="18" charset="0"/>
              </a:rPr>
              <a:t>・</a:t>
            </a:r>
            <a:r>
              <a:rPr lang="en-US" altLang="ja-JP" sz="1400" kern="100" dirty="0">
                <a:ea typeface="UD デジタル 教科書体 NK-B" panose="02020700000000000000" pitchFamily="18" charset="-128"/>
                <a:cs typeface="Times New Roman" panose="02020603050405020304" pitchFamily="18" charset="0"/>
              </a:rPr>
              <a:t>ADHD</a:t>
            </a:r>
            <a:r>
              <a:rPr lang="ja-JP" altLang="ja-JP" sz="1400" kern="100" dirty="0">
                <a:ea typeface="UD デジタル 教科書体 NK-B" panose="02020700000000000000" pitchFamily="18" charset="-128"/>
                <a:cs typeface="Times New Roman" panose="02020603050405020304" pitchFamily="18" charset="0"/>
              </a:rPr>
              <a:t>の把握。</a:t>
            </a:r>
            <a:br>
              <a:rPr lang="en-US" altLang="ja-JP" sz="1400" kern="100" dirty="0">
                <a:ea typeface="UD デジタル 教科書体 NK-B" panose="02020700000000000000" pitchFamily="18" charset="-128"/>
                <a:cs typeface="Times New Roman" panose="02020603050405020304" pitchFamily="18" charset="0"/>
              </a:rPr>
            </a:br>
            <a:r>
              <a:rPr lang="ja-JP" altLang="en-US" sz="1400" kern="100" dirty="0">
                <a:ea typeface="UD デジタル 教科書体 NK-B" panose="02020700000000000000" pitchFamily="18" charset="-128"/>
                <a:cs typeface="Times New Roman" panose="02020603050405020304" pitchFamily="18" charset="0"/>
              </a:rPr>
              <a:t>　　　　</a:t>
            </a:r>
            <a:r>
              <a:rPr lang="ja-JP" altLang="ja-JP" sz="1400" kern="100" dirty="0">
                <a:ea typeface="UD デジタル 教科書体 NK-B" panose="02020700000000000000" pitchFamily="18" charset="-128"/>
                <a:cs typeface="Times New Roman" panose="02020603050405020304" pitchFamily="18" charset="0"/>
              </a:rPr>
              <a:t>心理状況の把握</a:t>
            </a:r>
            <a:r>
              <a:rPr lang="ja-JP" altLang="en-US" sz="1400" kern="100" dirty="0">
                <a:ea typeface="UD デジタル 教科書体 NK-B" panose="02020700000000000000" pitchFamily="18" charset="-128"/>
                <a:cs typeface="Times New Roman" panose="02020603050405020304" pitchFamily="18" charset="0"/>
              </a:rPr>
              <a:t>。</a:t>
            </a:r>
            <a:r>
              <a:rPr lang="ja-JP" altLang="ja-JP" sz="1400" kern="100" dirty="0">
                <a:ea typeface="UD デジタル 教科書体 NK-B" panose="02020700000000000000" pitchFamily="18" charset="-128"/>
                <a:cs typeface="Times New Roman" panose="02020603050405020304" pitchFamily="18" charset="0"/>
              </a:rPr>
              <a:t>心理状況によってはカウンセラーによるカウンセリングの実施。</a:t>
            </a: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さ</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④　費用負担　　　　　　　　　　　　　　　　　　　　　　　　　　　　　　　　　　　　　　　　　　　　　　　　</a:t>
            </a:r>
            <a:r>
              <a:rPr lang="ja-JP" altLang="en-US" sz="14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さ</a:t>
            </a:r>
            <a:br>
              <a:rPr lang="en-US" altLang="ja-JP" sz="1400" kern="100" dirty="0">
                <a:latin typeface="Times New Roman" panose="02020603050405020304" pitchFamily="18" charset="0"/>
                <a:ea typeface="UD デジタル 教科書体 NK-B" panose="02020700000000000000" pitchFamily="18" charset="-128"/>
              </a:rPr>
            </a:br>
            <a:r>
              <a:rPr lang="ja-JP" altLang="en-US" sz="1400" kern="100" dirty="0">
                <a:latin typeface="Times New Roman" panose="02020603050405020304" pitchFamily="18" charset="0"/>
                <a:ea typeface="UD デジタル 教科書体 NK-B" panose="02020700000000000000" pitchFamily="18" charset="-128"/>
              </a:rPr>
              <a:t>　　　　　事業所負担</a:t>
            </a: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a:p>
            <a:pPr marL="0" indent="0" algn="just">
              <a:buNone/>
            </a:pPr>
            <a:r>
              <a:rPr lang="ja-JP" altLang="en-US" sz="1400" kern="100" dirty="0">
                <a:latin typeface="Times New Roman" panose="02020603050405020304" pitchFamily="18" charset="0"/>
                <a:ea typeface="UD デジタル 教科書体 NK-B" panose="02020700000000000000" pitchFamily="18" charset="-128"/>
              </a:rPr>
              <a:t>　</a:t>
            </a:r>
            <a:r>
              <a:rPr lang="ja-JP" altLang="en-US" sz="1400" kern="100" dirty="0">
                <a:solidFill>
                  <a:srgbClr val="FF0000"/>
                </a:solidFill>
                <a:latin typeface="Times New Roman" panose="02020603050405020304" pitchFamily="18" charset="0"/>
                <a:ea typeface="UD デジタル 教科書体 NK-B" panose="02020700000000000000" pitchFamily="18" charset="-128"/>
              </a:rPr>
              <a:t>　</a:t>
            </a:r>
            <a:r>
              <a:rPr lang="ja-JP" altLang="en-US" sz="1100" kern="100" dirty="0">
                <a:solidFill>
                  <a:srgbClr val="FF0000"/>
                </a:solidFill>
                <a:latin typeface="Times New Roman" panose="02020603050405020304" pitchFamily="18" charset="0"/>
                <a:ea typeface="UD デジタル 教科書体 NK-B" panose="02020700000000000000" pitchFamily="18" charset="-128"/>
              </a:rPr>
              <a:t>＊支援グループ向け</a:t>
            </a:r>
            <a:endParaRPr lang="en-US" altLang="ja-JP" sz="1100" kern="100" dirty="0">
              <a:solidFill>
                <a:srgbClr val="FF0000"/>
              </a:solidFill>
              <a:latin typeface="Times New Roman" panose="02020603050405020304" pitchFamily="18" charset="0"/>
              <a:ea typeface="UD デジタル 教科書体 NK-B" panose="02020700000000000000" pitchFamily="18" charset="-128"/>
            </a:endParaRPr>
          </a:p>
          <a:p>
            <a:pPr marL="417830" indent="0" algn="just">
              <a:buNone/>
            </a:pPr>
            <a:r>
              <a:rPr lang="ja-JP" altLang="en-US" sz="1100" kern="100" dirty="0">
                <a:solidFill>
                  <a:srgbClr val="FF0000"/>
                </a:solidFill>
                <a:ea typeface="UD デジタル 教科書体 NK-B" panose="02020700000000000000" pitchFamily="18" charset="-128"/>
                <a:cs typeface="Times New Roman" panose="02020603050405020304" pitchFamily="18" charset="0"/>
              </a:rPr>
              <a:t>相談支援等の</a:t>
            </a:r>
            <a:r>
              <a:rPr lang="ja-JP" altLang="en-US" sz="1100" kern="100" dirty="0">
                <a:solidFill>
                  <a:srgbClr val="FF0000"/>
                </a:solidFill>
                <a:effectLst/>
                <a:ea typeface="UD デジタル 教科書体 NK-B" panose="02020700000000000000" pitchFamily="18" charset="-128"/>
                <a:cs typeface="Times New Roman" panose="02020603050405020304" pitchFamily="18" charset="0"/>
              </a:rPr>
              <a:t>育成歴情報や</a:t>
            </a:r>
            <a:r>
              <a:rPr lang="ja-JP" altLang="ja-JP" sz="1100" kern="100" dirty="0">
                <a:solidFill>
                  <a:srgbClr val="FF0000"/>
                </a:solidFill>
                <a:effectLst/>
                <a:ea typeface="UD デジタル 教科書体 NK-B" panose="02020700000000000000" pitchFamily="18" charset="-128"/>
                <a:cs typeface="Times New Roman" panose="02020603050405020304" pitchFamily="18" charset="0"/>
              </a:rPr>
              <a:t>職員によるアセスメントは、特性行動が発見できたとしても、その特性行動の原因まで正確に把握することは難し</a:t>
            </a:r>
            <a:r>
              <a:rPr lang="ja-JP" altLang="en-US" sz="1100" kern="100" dirty="0">
                <a:solidFill>
                  <a:srgbClr val="FF0000"/>
                </a:solidFill>
                <a:effectLst/>
                <a:ea typeface="UD デジタル 教科書体 NK-B" panose="02020700000000000000" pitchFamily="18" charset="-128"/>
                <a:cs typeface="Times New Roman" panose="02020603050405020304" pitchFamily="18" charset="0"/>
              </a:rPr>
              <a:t>い事が多々あります。</a:t>
            </a:r>
            <a:endParaRPr lang="en-US" altLang="ja-JP" sz="1100" kern="100" dirty="0">
              <a:solidFill>
                <a:srgbClr val="FF0000"/>
              </a:solidFill>
              <a:effectLst/>
              <a:ea typeface="UD デジタル 教科書体 NK-B" panose="02020700000000000000" pitchFamily="18" charset="-128"/>
              <a:cs typeface="Times New Roman" panose="02020603050405020304" pitchFamily="18" charset="0"/>
            </a:endParaRPr>
          </a:p>
          <a:p>
            <a:pPr marL="417830" indent="0" algn="just">
              <a:buNone/>
            </a:pPr>
            <a:r>
              <a:rPr lang="ja-JP" altLang="ja-JP" sz="1100" kern="100" dirty="0">
                <a:solidFill>
                  <a:srgbClr val="FF0000"/>
                </a:solidFill>
                <a:effectLst/>
                <a:ea typeface="UD デジタル 教科書体 NK-B" panose="02020700000000000000" pitchFamily="18" charset="-128"/>
                <a:cs typeface="Times New Roman" panose="02020603050405020304" pitchFamily="18" charset="0"/>
              </a:rPr>
              <a:t>たとえば集中力がないという特性行動の原因が、知覚過敏によるものかもしれないし、その時点での環境により精神的エネルギーが低い状態なのかも知れなし、生活習慣に起因するものなのかもしれ</a:t>
            </a:r>
            <a:r>
              <a:rPr lang="ja-JP" altLang="en-US" sz="1100" kern="100" dirty="0">
                <a:solidFill>
                  <a:srgbClr val="FF0000"/>
                </a:solidFill>
                <a:effectLst/>
                <a:ea typeface="UD デジタル 教科書体 NK-B" panose="02020700000000000000" pitchFamily="18" charset="-128"/>
                <a:cs typeface="Times New Roman" panose="02020603050405020304" pitchFamily="18" charset="0"/>
              </a:rPr>
              <a:t>ません</a:t>
            </a:r>
            <a:r>
              <a:rPr lang="ja-JP" altLang="ja-JP" sz="1100" kern="100" dirty="0">
                <a:solidFill>
                  <a:srgbClr val="FF0000"/>
                </a:solidFill>
                <a:effectLst/>
                <a:ea typeface="UD デジタル 教科書体 NK-B" panose="02020700000000000000" pitchFamily="18" charset="-128"/>
                <a:cs typeface="Times New Roman" panose="02020603050405020304" pitchFamily="18" charset="0"/>
              </a:rPr>
              <a:t>。</a:t>
            </a:r>
            <a:endParaRPr lang="en-US" altLang="ja-JP" sz="1100" kern="100" dirty="0">
              <a:solidFill>
                <a:srgbClr val="FF0000"/>
              </a:solidFill>
              <a:effectLst/>
              <a:ea typeface="UD デジタル 教科書体 NK-B" panose="02020700000000000000" pitchFamily="18" charset="-128"/>
              <a:cs typeface="Times New Roman" panose="02020603050405020304" pitchFamily="18" charset="0"/>
            </a:endParaRPr>
          </a:p>
          <a:p>
            <a:pPr marL="417830" indent="0" algn="just">
              <a:buNone/>
            </a:pPr>
            <a:r>
              <a:rPr lang="ja-JP" altLang="ja-JP" sz="1100" kern="100" dirty="0">
                <a:solidFill>
                  <a:srgbClr val="FF0000"/>
                </a:solidFill>
                <a:effectLst/>
                <a:ea typeface="UD デジタル 教科書体 NK-B" panose="02020700000000000000" pitchFamily="18" charset="-128"/>
                <a:cs typeface="Times New Roman" panose="02020603050405020304" pitchFamily="18" charset="0"/>
              </a:rPr>
              <a:t>発達心理検査によりすべて把握できるわけでもないが、能力による特性要因を把握できるだけでも支援方針の錯誤の確率を下げることができる</a:t>
            </a:r>
            <a:r>
              <a:rPr lang="ja-JP" altLang="en-US" sz="1100" kern="100" dirty="0">
                <a:solidFill>
                  <a:srgbClr val="FF0000"/>
                </a:solidFill>
                <a:effectLst/>
                <a:ea typeface="UD デジタル 教科書体 NK-B" panose="02020700000000000000" pitchFamily="18" charset="-128"/>
                <a:cs typeface="Times New Roman" panose="02020603050405020304" pitchFamily="18" charset="0"/>
              </a:rPr>
              <a:t>と考えております。</a:t>
            </a:r>
            <a:r>
              <a:rPr lang="en-US" altLang="ja-JP" sz="1100" kern="100" dirty="0">
                <a:effectLst/>
                <a:latin typeface="UD デジタル 教科書体 NK-B" panose="02020700000000000000" pitchFamily="18" charset="-128"/>
                <a:ea typeface="SimSun" panose="02010600030101010101" pitchFamily="2" charset="-122"/>
              </a:rPr>
              <a:t> </a:t>
            </a:r>
            <a:endParaRPr lang="en-US" altLang="ja-JP" sz="1400" kern="100" dirty="0">
              <a:latin typeface="Times New Roman" panose="02020603050405020304" pitchFamily="18" charset="0"/>
              <a:ea typeface="UD デジタル 教科書体 NK-B" panose="02020700000000000000" pitchFamily="18" charset="-128"/>
            </a:endParaRPr>
          </a:p>
        </p:txBody>
      </p:sp>
    </p:spTree>
    <p:extLst>
      <p:ext uri="{BB962C8B-B14F-4D97-AF65-F5344CB8AC3E}">
        <p14:creationId xmlns:p14="http://schemas.microsoft.com/office/powerpoint/2010/main" val="2823490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227A289E-ED28-4807-A850-DE7B7D9AA7A3}"/>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EA4AEF84-07F1-4904-B189-36B873B18CF1}"/>
              </a:ext>
            </a:extLst>
          </p:cNvPr>
          <p:cNvGrpSpPr/>
          <p:nvPr/>
        </p:nvGrpSpPr>
        <p:grpSpPr>
          <a:xfrm>
            <a:off x="-7657" y="138282"/>
            <a:ext cx="3325919" cy="3393996"/>
            <a:chOff x="-119190" y="3139501"/>
            <a:chExt cx="3453841" cy="1580709"/>
          </a:xfrm>
        </p:grpSpPr>
        <p:sp>
          <p:nvSpPr>
            <p:cNvPr id="7" name="タイトル 1">
              <a:extLst>
                <a:ext uri="{FF2B5EF4-FFF2-40B4-BE49-F238E27FC236}">
                  <a16:creationId xmlns:a16="http://schemas.microsoft.com/office/drawing/2014/main" id="{BF34D553-A366-41D2-9A10-2751C78CA696}"/>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8" name="タイトル 1">
              <a:extLst>
                <a:ext uri="{FF2B5EF4-FFF2-40B4-BE49-F238E27FC236}">
                  <a16:creationId xmlns:a16="http://schemas.microsoft.com/office/drawing/2014/main" id="{195660FF-868C-4D08-9752-71BDEE80EA9E}"/>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４．</a:t>
              </a:r>
              <a:r>
                <a:rPr lang="ja-JP" altLang="ja-JP" sz="2000" dirty="0">
                  <a:latin typeface="UD デジタル 教科書体 NP-B" panose="02020700000000000000" pitchFamily="18" charset="-128"/>
                  <a:ea typeface="UD デジタル 教科書体 NP-B" panose="02020700000000000000" pitchFamily="18" charset="-128"/>
                </a:rPr>
                <a:t>暫定利用期間</a:t>
              </a:r>
              <a:r>
                <a:rPr lang="en-US" altLang="ja-JP" sz="900" dirty="0">
                  <a:latin typeface="UD デジタル 教科書体 NP-B" panose="02020700000000000000" pitchFamily="18" charset="-128"/>
                  <a:ea typeface="UD デジタル 教科書体 NP-B" panose="02020700000000000000" pitchFamily="18" charset="-128"/>
                </a:rPr>
                <a:t>(</a:t>
              </a:r>
              <a:r>
                <a:rPr lang="ja-JP" altLang="ja-JP" sz="900" dirty="0">
                  <a:latin typeface="UD デジタル 教科書体 NP-B" panose="02020700000000000000" pitchFamily="18" charset="-128"/>
                  <a:ea typeface="UD デジタル 教科書体 NP-B" panose="02020700000000000000" pitchFamily="18" charset="-128"/>
                </a:rPr>
                <a:t>入所後</a:t>
              </a:r>
              <a:r>
                <a:rPr lang="en-US" altLang="ja-JP" sz="900" dirty="0">
                  <a:latin typeface="UD デジタル 教科書体 NP-B" panose="02020700000000000000" pitchFamily="18" charset="-128"/>
                  <a:ea typeface="UD デジタル 教科書体 NP-B" panose="02020700000000000000" pitchFamily="18" charset="-128"/>
                </a:rPr>
                <a:t>2</a:t>
              </a:r>
              <a:r>
                <a:rPr lang="ja-JP" altLang="ja-JP" sz="900" dirty="0">
                  <a:latin typeface="UD デジタル 教科書体 NP-B" panose="02020700000000000000" pitchFamily="18" charset="-128"/>
                  <a:ea typeface="UD デジタル 教科書体 NP-B" panose="02020700000000000000" pitchFamily="18" charset="-128"/>
                </a:rPr>
                <a:t>ヶ月）</a:t>
              </a:r>
              <a:br>
                <a:rPr lang="en-US" altLang="ja-JP" sz="2000" dirty="0">
                  <a:latin typeface="UD デジタル 教科書体 NP-B" panose="02020700000000000000" pitchFamily="18" charset="-128"/>
                  <a:ea typeface="UD デジタル 教科書体 NP-B" panose="02020700000000000000" pitchFamily="18" charset="-128"/>
                </a:rPr>
              </a:br>
              <a:r>
                <a:rPr lang="en-US" altLang="ja-JP"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アセスメントについて</a:t>
              </a:r>
            </a:p>
            <a:p>
              <a:endParaRPr lang="en-US" altLang="ja-JP" sz="2000" dirty="0">
                <a:latin typeface="UD デジタル 教科書体 NP-B" panose="02020700000000000000" pitchFamily="18" charset="-128"/>
                <a:ea typeface="UD デジタル 教科書体 NP-B" panose="02020700000000000000" pitchFamily="18" charset="-128"/>
              </a:endParaRPr>
            </a:p>
            <a:p>
              <a:r>
                <a:rPr lang="ja-JP" altLang="en-US" sz="2000" dirty="0">
                  <a:latin typeface="UD デジタル 教科書体 NP-B" panose="02020700000000000000" pitchFamily="18" charset="-128"/>
                  <a:ea typeface="UD デジタル 教科書体 NP-B" panose="02020700000000000000" pitchFamily="18" charset="-128"/>
                </a:rPr>
                <a:t>　</a:t>
              </a:r>
              <a:r>
                <a:rPr lang="en-US" altLang="ja-JP" sz="1800" dirty="0">
                  <a:latin typeface="UD デジタル 教科書体 NP-B" panose="02020700000000000000" pitchFamily="18" charset="-128"/>
                  <a:ea typeface="UD デジタル 教科書体 NP-B" panose="02020700000000000000" pitchFamily="18" charset="-128"/>
                </a:rPr>
                <a:t>(4)</a:t>
              </a:r>
              <a:r>
                <a:rPr lang="ja-JP" altLang="en-US" sz="1800" dirty="0">
                  <a:latin typeface="UD デジタル 教科書体 NP-B" panose="02020700000000000000" pitchFamily="18" charset="-128"/>
                  <a:ea typeface="UD デジタル 教科書体 NP-B" panose="02020700000000000000" pitchFamily="18" charset="-128"/>
                </a:rPr>
                <a:t>本人の作業集中度など</a:t>
              </a:r>
              <a:br>
                <a:rPr lang="en-US" altLang="ja-JP" sz="1800" dirty="0">
                  <a:latin typeface="UD デジタル 教科書体 NP-B" panose="02020700000000000000" pitchFamily="18" charset="-128"/>
                  <a:ea typeface="UD デジタル 教科書体 NP-B" panose="02020700000000000000" pitchFamily="18" charset="-128"/>
                </a:rPr>
              </a:br>
              <a:r>
                <a:rPr lang="ja-JP" altLang="en-US" sz="1800" dirty="0">
                  <a:latin typeface="UD デジタル 教科書体 NP-B" panose="02020700000000000000" pitchFamily="18" charset="-128"/>
                  <a:ea typeface="UD デジタル 教科書体 NP-B" panose="02020700000000000000" pitchFamily="18" charset="-128"/>
                </a:rPr>
                <a:t>　　 の確認</a:t>
              </a:r>
              <a:endParaRPr lang="ja-JP" altLang="ja-JP" sz="1800" dirty="0">
                <a:latin typeface="UD デジタル 教科書体 NP-B" panose="02020700000000000000" pitchFamily="18" charset="-128"/>
                <a:ea typeface="UD デジタル 教科書体 NP-B" panose="02020700000000000000" pitchFamily="18" charset="-128"/>
              </a:endParaRPr>
            </a:p>
            <a:p>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ja-JP" altLang="en-US" sz="2000" dirty="0">
                  <a:solidFill>
                    <a:srgbClr val="FFFFFF"/>
                  </a:solidFill>
                  <a:latin typeface="UD デジタル 教科書体 NP-B" panose="02020700000000000000" pitchFamily="18" charset="-128"/>
                  <a:ea typeface="UD デジタル 教科書体 NP-B" panose="02020700000000000000" pitchFamily="18" charset="-128"/>
                </a:rPr>
                <a:t>　</a:t>
              </a:r>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sp>
        <p:nvSpPr>
          <p:cNvPr id="9" name="コンテンツ プレースホルダー 2">
            <a:extLst>
              <a:ext uri="{FF2B5EF4-FFF2-40B4-BE49-F238E27FC236}">
                <a16:creationId xmlns:a16="http://schemas.microsoft.com/office/drawing/2014/main" id="{E1311239-5A58-422B-85C1-C69BD8C44D5A}"/>
              </a:ext>
            </a:extLst>
          </p:cNvPr>
          <p:cNvSpPr txBox="1">
            <a:spLocks/>
          </p:cNvSpPr>
          <p:nvPr/>
        </p:nvSpPr>
        <p:spPr>
          <a:xfrm>
            <a:off x="3300478" y="293558"/>
            <a:ext cx="6414124" cy="6173278"/>
          </a:xfrm>
          <a:prstGeom prst="rect">
            <a:avLst/>
          </a:prstGeom>
        </p:spPr>
        <p:txBody>
          <a:bodyPr vert="horz" lIns="91440" tIns="45720" rIns="91440" bIns="45720" rtlCol="0" anchor="t">
            <a:normAutofit fontScale="77500" lnSpcReduction="2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buNone/>
            </a:pPr>
            <a:r>
              <a:rPr lang="ja-JP" altLang="en-US" sz="1800" kern="100" dirty="0">
                <a:latin typeface="UD デジタル 教科書体 NP-B" panose="02020700000000000000" pitchFamily="18" charset="-128"/>
                <a:ea typeface="UD デジタル 教科書体 NP-B" panose="02020700000000000000" pitchFamily="18" charset="-128"/>
              </a:rPr>
              <a:t>（</a:t>
            </a:r>
            <a:r>
              <a:rPr lang="en-US" altLang="ja-JP" sz="1800" kern="100" dirty="0">
                <a:latin typeface="UD デジタル 教科書体 NP-B" panose="02020700000000000000" pitchFamily="18" charset="-128"/>
                <a:ea typeface="UD デジタル 教科書体 NP-B" panose="02020700000000000000" pitchFamily="18" charset="-128"/>
              </a:rPr>
              <a:t>4</a:t>
            </a:r>
            <a:r>
              <a:rPr lang="ja-JP" altLang="en-US" sz="1800" kern="100" dirty="0">
                <a:latin typeface="UD デジタル 教科書体 NP-B" panose="02020700000000000000" pitchFamily="18" charset="-128"/>
                <a:ea typeface="UD デジタル 教科書体 NP-B" panose="02020700000000000000" pitchFamily="18" charset="-128"/>
              </a:rPr>
              <a:t>）</a:t>
            </a:r>
            <a:r>
              <a:rPr lang="ja-JP" altLang="ja-JP" sz="1800" kern="100" dirty="0">
                <a:latin typeface="UD デジタル 教科書体 NP-B" panose="02020700000000000000" pitchFamily="18" charset="-128"/>
                <a:ea typeface="UD デジタル 教科書体 NP-B" panose="02020700000000000000" pitchFamily="18" charset="-128"/>
              </a:rPr>
              <a:t>本人の作業集中度などの確認</a:t>
            </a:r>
          </a:p>
          <a:p>
            <a:pPr marL="0" indent="0" algn="just">
              <a:buNone/>
            </a:pPr>
            <a:r>
              <a:rPr lang="ja-JP" altLang="en-US" sz="1800" kern="100" dirty="0">
                <a:latin typeface="Times New Roman" panose="02020603050405020304" pitchFamily="18" charset="0"/>
                <a:ea typeface="UD デジタル 教科書体 NK-B" panose="02020700000000000000" pitchFamily="18" charset="-128"/>
              </a:rPr>
              <a:t>    ①目的                                    </a:t>
            </a:r>
            <a:r>
              <a:rPr lang="en-US" altLang="ja-JP" sz="1800" kern="100" dirty="0">
                <a:solidFill>
                  <a:schemeClr val="bg2"/>
                </a:solidFill>
                <a:latin typeface="Times New Roman" panose="02020603050405020304" pitchFamily="18" charset="0"/>
                <a:ea typeface="UD デジタル 教科書体 NK-B" panose="02020700000000000000" pitchFamily="18" charset="-128"/>
              </a:rPr>
              <a:t>s</a:t>
            </a:r>
            <a:r>
              <a:rPr lang="ja-JP" altLang="en-US" sz="1800" kern="100" dirty="0">
                <a:latin typeface="Times New Roman" panose="02020603050405020304" pitchFamily="18" charset="0"/>
                <a:ea typeface="UD デジタル 教科書体 NK-B" panose="02020700000000000000" pitchFamily="18" charset="-128"/>
              </a:rPr>
              <a:t>　　　 　　　　　　　　　　　　　　　　　　　</a:t>
            </a:r>
            <a:br>
              <a:rPr lang="en-US" altLang="ja-JP" sz="1800" kern="100" dirty="0">
                <a:latin typeface="Times New Roman" panose="02020603050405020304" pitchFamily="18" charset="0"/>
                <a:ea typeface="UD デジタル 教科書体 NK-B" panose="02020700000000000000" pitchFamily="18" charset="-128"/>
              </a:rPr>
            </a:br>
            <a:r>
              <a:rPr lang="ja-JP" altLang="en-US" sz="1800" kern="100" dirty="0">
                <a:latin typeface="Times New Roman" panose="02020603050405020304" pitchFamily="18" charset="0"/>
                <a:ea typeface="UD デジタル 教科書体 NK-B" panose="02020700000000000000" pitchFamily="18" charset="-128"/>
              </a:rPr>
              <a:t>　　　 </a:t>
            </a:r>
            <a:r>
              <a:rPr lang="ja-JP" altLang="ja-JP" sz="1800" kern="100" dirty="0">
                <a:effectLst/>
                <a:ea typeface="UD デジタル 教科書体 NK-B" panose="02020700000000000000" pitchFamily="18" charset="-128"/>
                <a:cs typeface="Times New Roman" panose="02020603050405020304" pitchFamily="18" charset="0"/>
              </a:rPr>
              <a:t>上記のアセスメント終了までに、手芸作業や農業作業など通じて、観察把握で</a:t>
            </a:r>
            <a:br>
              <a:rPr lang="en-US" altLang="ja-JP" sz="1800" kern="100" dirty="0">
                <a:effectLst/>
                <a:ea typeface="UD デジタル 教科書体 NK-B" panose="02020700000000000000" pitchFamily="18" charset="-128"/>
                <a:cs typeface="Times New Roman" panose="02020603050405020304" pitchFamily="18" charset="0"/>
              </a:rPr>
            </a:br>
            <a:r>
              <a:rPr lang="en-US" altLang="ja-JP" sz="1800" kern="100" dirty="0">
                <a:effectLst/>
                <a:ea typeface="UD デジタル 教科書体 NK-B" panose="02020700000000000000" pitchFamily="18" charset="-128"/>
                <a:cs typeface="Times New Roman" panose="02020603050405020304" pitchFamily="18" charset="0"/>
              </a:rPr>
              <a:t> </a:t>
            </a:r>
            <a:r>
              <a:rPr lang="ja-JP" altLang="en-US" sz="1800" kern="100" dirty="0">
                <a:effectLst/>
                <a:ea typeface="UD デジタル 教科書体 NK-B" panose="02020700000000000000" pitchFamily="18" charset="-128"/>
                <a:cs typeface="Times New Roman" panose="02020603050405020304" pitchFamily="18" charset="0"/>
              </a:rPr>
              <a:t>　　</a:t>
            </a:r>
            <a:r>
              <a:rPr lang="ja-JP" altLang="ja-JP" sz="1800" kern="100" dirty="0">
                <a:effectLst/>
                <a:ea typeface="UD デジタル 教科書体 NK-B" panose="02020700000000000000" pitchFamily="18" charset="-128"/>
                <a:cs typeface="Times New Roman" panose="02020603050405020304" pitchFamily="18" charset="0"/>
              </a:rPr>
              <a:t>きる集中力や作業能力などを把握するため。</a:t>
            </a:r>
            <a:r>
              <a:rPr lang="ja-JP" altLang="en-US" sz="1800" kern="100" dirty="0">
                <a:effectLst/>
                <a:ea typeface="UD デジタル 教科書体 NK-B" panose="02020700000000000000" pitchFamily="18" charset="-128"/>
                <a:cs typeface="Times New Roman" panose="02020603050405020304" pitchFamily="18" charset="0"/>
              </a:rPr>
              <a:t>　　　　　　　　　</a:t>
            </a:r>
            <a:r>
              <a:rPr lang="en-US" altLang="ja-JP"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s</a:t>
            </a:r>
            <a:r>
              <a:rPr lang="ja-JP" altLang="en-US"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r>
              <a:rPr lang="ja-JP" altLang="en-US" sz="1800" kern="100" dirty="0">
                <a:latin typeface="Times New Roman" panose="02020603050405020304" pitchFamily="18" charset="0"/>
                <a:ea typeface="UD デジタル 教科書体 NK-B" panose="02020700000000000000" pitchFamily="18" charset="-128"/>
              </a:rPr>
              <a:t>　 </a:t>
            </a:r>
            <a:br>
              <a:rPr lang="en-US" altLang="ja-JP" sz="1800" kern="100" dirty="0">
                <a:latin typeface="Times New Roman" panose="02020603050405020304" pitchFamily="18" charset="0"/>
                <a:ea typeface="UD デジタル 教科書体 NK-B" panose="02020700000000000000" pitchFamily="18" charset="-128"/>
              </a:rPr>
            </a:br>
            <a:r>
              <a:rPr lang="en-US" altLang="ja-JP" sz="1800" kern="100" dirty="0">
                <a:latin typeface="Times New Roman" panose="02020603050405020304" pitchFamily="18" charset="0"/>
                <a:ea typeface="UD デジタル 教科書体 NK-B" panose="02020700000000000000" pitchFamily="18" charset="-128"/>
              </a:rPr>
              <a:t>  </a:t>
            </a:r>
            <a:r>
              <a:rPr lang="ja-JP" altLang="en-US" sz="1800" kern="100" dirty="0">
                <a:latin typeface="Times New Roman" panose="02020603050405020304" pitchFamily="18" charset="0"/>
                <a:ea typeface="UD デジタル 教科書体 NK-B" panose="02020700000000000000" pitchFamily="18" charset="-128"/>
              </a:rPr>
              <a:t>  ②</a:t>
            </a:r>
            <a:r>
              <a:rPr lang="ja-JP" altLang="ja-JP" sz="1800" kern="100" dirty="0">
                <a:latin typeface="Times New Roman" panose="02020603050405020304" pitchFamily="18" charset="0"/>
                <a:ea typeface="UD デジタル 教科書体 NK-B" panose="02020700000000000000" pitchFamily="18" charset="-128"/>
              </a:rPr>
              <a:t>実施主体及び方法</a:t>
            </a:r>
            <a:r>
              <a:rPr lang="ja-JP" altLang="en-US" sz="1800" kern="100" dirty="0">
                <a:latin typeface="Times New Roman" panose="02020603050405020304" pitchFamily="18" charset="0"/>
                <a:ea typeface="UD デジタル 教科書体 NK-B" panose="02020700000000000000" pitchFamily="18" charset="-128"/>
              </a:rPr>
              <a:t>　　 　      　　　　　　　　　　</a:t>
            </a:r>
            <a:r>
              <a:rPr lang="ja-JP" altLang="en-US"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ム</a:t>
            </a:r>
            <a:r>
              <a:rPr lang="ja-JP" altLang="en-US" sz="1800" kern="100" dirty="0">
                <a:latin typeface="UD デジタル 教科書体 NP-B" panose="02020700000000000000" pitchFamily="18" charset="-128"/>
                <a:ea typeface="UD デジタル 教科書体 NP-B" panose="02020700000000000000" pitchFamily="18" charset="-128"/>
              </a:rPr>
              <a:t>　　　　　　　　</a:t>
            </a:r>
            <a:br>
              <a:rPr lang="en-US" altLang="ja-JP" sz="1800" kern="100" dirty="0">
                <a:latin typeface="UD デジタル 教科書体 NP-B" panose="02020700000000000000" pitchFamily="18" charset="-128"/>
                <a:ea typeface="UD デジタル 教科書体 NP-B" panose="02020700000000000000" pitchFamily="18" charset="-128"/>
              </a:rPr>
            </a:br>
            <a:r>
              <a:rPr lang="ja-JP" altLang="en-US" sz="1800" kern="100" dirty="0">
                <a:latin typeface="UD デジタル 教科書体 NP-B" panose="02020700000000000000" pitchFamily="18" charset="-128"/>
                <a:ea typeface="UD デジタル 教科書体 NP-B" panose="02020700000000000000" pitchFamily="18" charset="-128"/>
              </a:rPr>
              <a:t>　　 提携先：</a:t>
            </a:r>
            <a:endParaRPr lang="en-US" altLang="ja-JP" sz="1800" kern="100" dirty="0">
              <a:latin typeface="UD デジタル 教科書体 NP-B" panose="02020700000000000000" pitchFamily="18" charset="-128"/>
              <a:ea typeface="UD デジタル 教科書体 NP-B" panose="02020700000000000000" pitchFamily="18" charset="-128"/>
            </a:endParaRPr>
          </a:p>
          <a:p>
            <a:pPr marL="0" indent="0" algn="just">
              <a:buNone/>
            </a:pPr>
            <a:r>
              <a:rPr lang="ja-JP" altLang="en-US" sz="1800" kern="100" dirty="0">
                <a:latin typeface="UD デジタル 教科書体 NP-B" panose="02020700000000000000" pitchFamily="18" charset="-128"/>
                <a:ea typeface="UD デジタル 教科書体 NP-B" panose="02020700000000000000" pitchFamily="18" charset="-128"/>
              </a:rPr>
              <a:t>　　</a:t>
            </a:r>
            <a:r>
              <a:rPr lang="ja-JP" altLang="en-US" sz="1800" kern="100" dirty="0">
                <a:latin typeface="Times New Roman" panose="02020603050405020304" pitchFamily="18" charset="0"/>
                <a:ea typeface="UD デジタル 教科書体 NK-B" panose="02020700000000000000" pitchFamily="18" charset="-128"/>
              </a:rPr>
              <a:t>　　　　　　　　　　　　　　</a:t>
            </a:r>
            <a:r>
              <a:rPr lang="ja-JP" altLang="en-US"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a:t>
            </a:r>
            <a:br>
              <a:rPr lang="en-US" altLang="ja-JP" sz="1800" kern="100" dirty="0">
                <a:latin typeface="Times New Roman" panose="02020603050405020304" pitchFamily="18" charset="0"/>
                <a:ea typeface="UD デジタル 教科書体 NK-B" panose="02020700000000000000" pitchFamily="18" charset="-128"/>
              </a:rPr>
            </a:br>
            <a:r>
              <a:rPr lang="ja-JP" altLang="en-US" sz="1800" kern="100" dirty="0">
                <a:latin typeface="Times New Roman" panose="02020603050405020304" pitchFamily="18" charset="0"/>
                <a:ea typeface="UD デジタル 教科書体 NK-B" panose="02020700000000000000" pitchFamily="18" charset="-128"/>
              </a:rPr>
              <a:t>    ③</a:t>
            </a:r>
            <a:r>
              <a:rPr lang="ja-JP" altLang="ja-JP" sz="1800" kern="100" dirty="0">
                <a:latin typeface="Times New Roman" panose="02020603050405020304" pitchFamily="18" charset="0"/>
                <a:ea typeface="UD デジタル 教科書体 NK-B" panose="02020700000000000000" pitchFamily="18" charset="-128"/>
              </a:rPr>
              <a:t>方法</a:t>
            </a:r>
            <a:r>
              <a:rPr lang="ja-JP" altLang="en-US" sz="1800" kern="100" dirty="0">
                <a:latin typeface="Times New Roman" panose="02020603050405020304" pitchFamily="18" charset="0"/>
                <a:ea typeface="UD デジタル 教科書体 NK-B" panose="02020700000000000000" pitchFamily="18" charset="-128"/>
              </a:rPr>
              <a:t>等　　　　　　</a:t>
            </a:r>
            <a:r>
              <a:rPr lang="en-US" altLang="ja-JP" sz="1800" kern="100" dirty="0">
                <a:latin typeface="Times New Roman" panose="02020603050405020304" pitchFamily="18" charset="0"/>
                <a:ea typeface="UD デジタル 教科書体 NK-B" panose="02020700000000000000" pitchFamily="18" charset="-128"/>
              </a:rPr>
              <a:t>         </a:t>
            </a:r>
            <a:r>
              <a:rPr lang="ja-JP" altLang="en-US" sz="1800" kern="100" dirty="0">
                <a:latin typeface="Times New Roman" panose="02020603050405020304" pitchFamily="18" charset="0"/>
                <a:ea typeface="UD デジタル 教科書体 NK-B" panose="02020700000000000000" pitchFamily="18" charset="-128"/>
              </a:rPr>
              <a:t>　　　　　　　　　　　　</a:t>
            </a:r>
            <a:r>
              <a:rPr lang="ja-JP" altLang="en-US"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t>　さ</a:t>
            </a:r>
            <a:br>
              <a:rPr lang="en-US" altLang="ja-JP" sz="1800" kern="100" dirty="0">
                <a:solidFill>
                  <a:schemeClr val="accent6">
                    <a:lumMod val="40000"/>
                    <a:lumOff val="60000"/>
                  </a:schemeClr>
                </a:solidFill>
                <a:latin typeface="Times New Roman" panose="02020603050405020304" pitchFamily="18" charset="0"/>
                <a:ea typeface="UD デジタル 教科書体 NK-B" panose="02020700000000000000" pitchFamily="18" charset="-128"/>
              </a:rPr>
            </a:br>
            <a:r>
              <a:rPr lang="ja-JP" altLang="en-US" sz="1800" kern="100" dirty="0">
                <a:latin typeface="Times New Roman" panose="02020603050405020304" pitchFamily="18" charset="0"/>
                <a:ea typeface="UD デジタル 教科書体 NK-B" panose="02020700000000000000" pitchFamily="18" charset="-128"/>
              </a:rPr>
              <a:t>　　　　　　</a:t>
            </a:r>
            <a:br>
              <a:rPr lang="en-US" altLang="ja-JP" sz="1800" kern="100" dirty="0">
                <a:latin typeface="Times New Roman" panose="02020603050405020304" pitchFamily="18" charset="0"/>
                <a:ea typeface="UD デジタル 教科書体 NK-B" panose="02020700000000000000" pitchFamily="18" charset="-128"/>
              </a:rPr>
            </a:br>
            <a:r>
              <a:rPr lang="ja-JP" altLang="en-US" sz="1800" kern="100" dirty="0">
                <a:latin typeface="Times New Roman" panose="02020603050405020304" pitchFamily="18" charset="0"/>
                <a:ea typeface="UD デジタル 教科書体 NK-B" panose="02020700000000000000" pitchFamily="18" charset="-128"/>
              </a:rPr>
              <a:t>　</a:t>
            </a:r>
            <a:r>
              <a:rPr lang="ja-JP" altLang="en-US" sz="1800" kern="100" dirty="0">
                <a:solidFill>
                  <a:srgbClr val="FF0000"/>
                </a:solidFill>
                <a:latin typeface="Times New Roman" panose="02020603050405020304" pitchFamily="18" charset="0"/>
                <a:ea typeface="UD デジタル 教科書体 NK-B" panose="02020700000000000000" pitchFamily="18" charset="-128"/>
              </a:rPr>
              <a:t>　＊支援グループ向け</a:t>
            </a:r>
            <a:endParaRPr lang="en-US" altLang="ja-JP" sz="1800" kern="100" dirty="0">
              <a:solidFill>
                <a:srgbClr val="FF0000"/>
              </a:solidFill>
              <a:latin typeface="Times New Roman" panose="02020603050405020304" pitchFamily="18" charset="0"/>
              <a:ea typeface="UD デジタル 教科書体 NK-B" panose="02020700000000000000" pitchFamily="18" charset="-128"/>
            </a:endParaRPr>
          </a:p>
          <a:p>
            <a:pPr marL="417830" indent="0" algn="just">
              <a:buNone/>
            </a:pPr>
            <a:r>
              <a:rPr lang="ja-JP" altLang="en-US" sz="1800" kern="100" dirty="0">
                <a:solidFill>
                  <a:srgbClr val="FF0000"/>
                </a:solidFill>
                <a:ea typeface="UD デジタル 教科書体 NK-B" panose="02020700000000000000" pitchFamily="18" charset="-128"/>
                <a:cs typeface="Times New Roman" panose="02020603050405020304" pitchFamily="18" charset="0"/>
              </a:rPr>
              <a:t>アセスメントでは</a:t>
            </a:r>
            <a:r>
              <a:rPr lang="ja-JP" altLang="ja-JP" sz="1800" kern="100" dirty="0">
                <a:solidFill>
                  <a:srgbClr val="FF0000"/>
                </a:solidFill>
                <a:effectLst/>
                <a:ea typeface="UD デジタル 教科書体 NK-B" panose="02020700000000000000" pitchFamily="18" charset="-128"/>
                <a:cs typeface="Times New Roman" panose="02020603050405020304" pitchFamily="18" charset="0"/>
              </a:rPr>
              <a:t>特性要因</a:t>
            </a:r>
            <a:r>
              <a:rPr lang="ja-JP" altLang="en-US" sz="1800" kern="100" dirty="0">
                <a:solidFill>
                  <a:srgbClr val="FF0000"/>
                </a:solidFill>
                <a:effectLst/>
                <a:ea typeface="UD デジタル 教科書体 NK-B" panose="02020700000000000000" pitchFamily="18" charset="-128"/>
                <a:cs typeface="Times New Roman" panose="02020603050405020304" pitchFamily="18" charset="0"/>
              </a:rPr>
              <a:t>を</a:t>
            </a:r>
            <a:r>
              <a:rPr lang="ja-JP" altLang="ja-JP" sz="1800" kern="100" dirty="0">
                <a:solidFill>
                  <a:srgbClr val="FF0000"/>
                </a:solidFill>
                <a:effectLst/>
                <a:ea typeface="UD デジタル 教科書体 NK-B" panose="02020700000000000000" pitchFamily="18" charset="-128"/>
                <a:cs typeface="Times New Roman" panose="02020603050405020304" pitchFamily="18" charset="0"/>
              </a:rPr>
              <a:t>把握できないことも多いが、一緒に作業する時間や休憩時間の過ごしかたにより</a:t>
            </a:r>
            <a:r>
              <a:rPr lang="ja-JP" altLang="en-US" sz="1800" kern="100" dirty="0">
                <a:solidFill>
                  <a:srgbClr val="FF0000"/>
                </a:solidFill>
                <a:effectLst/>
                <a:ea typeface="UD デジタル 教科書体 NK-B" panose="02020700000000000000" pitchFamily="18" charset="-128"/>
                <a:cs typeface="Times New Roman" panose="02020603050405020304" pitchFamily="18" charset="0"/>
              </a:rPr>
              <a:t>、事前に分析したアセスメント結果などを補正していきます。</a:t>
            </a:r>
            <a:r>
              <a:rPr lang="en-US" altLang="ja-JP" sz="1800" kern="100" dirty="0">
                <a:effectLst/>
                <a:latin typeface="UD デジタル 教科書体 NK-B" panose="02020700000000000000" pitchFamily="18" charset="-128"/>
                <a:ea typeface="SimSun" panose="02010600030101010101" pitchFamily="2" charset="-122"/>
              </a:rPr>
              <a:t>   </a:t>
            </a:r>
          </a:p>
          <a:p>
            <a:pPr marL="417830" indent="0">
              <a:buNone/>
            </a:pPr>
            <a:br>
              <a:rPr lang="en-US" altLang="ja-JP" sz="1800" kern="100" dirty="0">
                <a:effectLst/>
                <a:ea typeface="UD デジタル 教科書体 NK-B" panose="02020700000000000000" pitchFamily="18" charset="-128"/>
                <a:cs typeface="Times New Roman" panose="02020603050405020304" pitchFamily="18" charset="0"/>
              </a:rPr>
            </a:br>
            <a:r>
              <a:rPr lang="ja-JP" altLang="ja-JP" kern="100" dirty="0">
                <a:effectLst/>
                <a:ea typeface="UD デジタル 教科書体 NK-B" panose="02020700000000000000" pitchFamily="18" charset="-128"/>
                <a:cs typeface="Times New Roman" panose="02020603050405020304" pitchFamily="18" charset="0"/>
              </a:rPr>
              <a:t>アセスメントに得られた情報により、個別支援計画案を提示。就労移行支援の支援期間は２年と限定されるため、状況に応じて他サービス利用の提案も選択肢として考える。</a:t>
            </a:r>
            <a:r>
              <a:rPr lang="ja-JP" altLang="en-US" kern="100" dirty="0">
                <a:effectLst/>
                <a:ea typeface="UD デジタル 教科書体 NK-B" panose="02020700000000000000" pitchFamily="18" charset="-128"/>
                <a:cs typeface="Times New Roman" panose="02020603050405020304" pitchFamily="18" charset="0"/>
              </a:rPr>
              <a:t>　　　　　</a:t>
            </a:r>
            <a:r>
              <a:rPr lang="ja-JP" altLang="en-US" sz="1800" kern="100" dirty="0">
                <a:effectLst/>
                <a:ea typeface="UD デジタル 教科書体 NK-B" panose="02020700000000000000" pitchFamily="18" charset="-128"/>
                <a:cs typeface="Times New Roman" panose="02020603050405020304" pitchFamily="18" charset="0"/>
              </a:rPr>
              <a:t>　　　　　　　　　　　　　　　　　　　　</a:t>
            </a:r>
            <a:r>
              <a:rPr lang="ja-JP" altLang="en-US" sz="1800" kern="100" dirty="0">
                <a:solidFill>
                  <a:schemeClr val="accent6">
                    <a:lumMod val="40000"/>
                    <a:lumOff val="60000"/>
                  </a:schemeClr>
                </a:solidFill>
                <a:effectLst/>
                <a:ea typeface="UD デジタル 教科書体 NK-B" panose="02020700000000000000" pitchFamily="18" charset="-128"/>
                <a:cs typeface="Times New Roman" panose="02020603050405020304" pitchFamily="18" charset="0"/>
              </a:rPr>
              <a:t>　　　Ｓ</a:t>
            </a: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endParaRPr lang="en-US" altLang="ja-JP" sz="1800" kern="100" dirty="0">
              <a:effectLst/>
              <a:ea typeface="UD デジタル 教科書体 NK-B" panose="02020700000000000000" pitchFamily="18" charset="-128"/>
              <a:cs typeface="Times New Roman" panose="02020603050405020304" pitchFamily="18" charset="0"/>
            </a:endParaRPr>
          </a:p>
          <a:p>
            <a:pPr marL="417830" indent="0" algn="just">
              <a:buNone/>
            </a:pPr>
            <a:endParaRPr lang="en-US" altLang="ja-JP" sz="1800" kern="100" dirty="0">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a:p>
            <a:pPr marL="417830" indent="0" algn="just">
              <a:buNone/>
            </a:pPr>
            <a:endParaRPr lang="en-US" altLang="ja-JP" sz="15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ja-JP" altLang="ja-JP" sz="1400" kern="100" dirty="0">
              <a:effectLst/>
              <a:latin typeface="Times New Roman" panose="02020603050405020304" pitchFamily="18" charset="0"/>
              <a:ea typeface="SimSun" panose="02010600030101010101" pitchFamily="2" charset="-122"/>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p:txBody>
      </p:sp>
      <p:grpSp>
        <p:nvGrpSpPr>
          <p:cNvPr id="11" name="グループ化 10">
            <a:extLst>
              <a:ext uri="{FF2B5EF4-FFF2-40B4-BE49-F238E27FC236}">
                <a16:creationId xmlns:a16="http://schemas.microsoft.com/office/drawing/2014/main" id="{4EADD202-9199-4ED4-A526-DC10F449609F}"/>
              </a:ext>
            </a:extLst>
          </p:cNvPr>
          <p:cNvGrpSpPr/>
          <p:nvPr/>
        </p:nvGrpSpPr>
        <p:grpSpPr>
          <a:xfrm>
            <a:off x="0" y="3270739"/>
            <a:ext cx="3418213" cy="1787463"/>
            <a:chOff x="-210400" y="3296853"/>
            <a:chExt cx="3549685" cy="2632438"/>
          </a:xfrm>
        </p:grpSpPr>
        <p:sp>
          <p:nvSpPr>
            <p:cNvPr id="13" name="タイトル 1">
              <a:extLst>
                <a:ext uri="{FF2B5EF4-FFF2-40B4-BE49-F238E27FC236}">
                  <a16:creationId xmlns:a16="http://schemas.microsoft.com/office/drawing/2014/main" id="{56AF9F81-9E32-4745-A878-35D907F47A76}"/>
                </a:ext>
              </a:extLst>
            </p:cNvPr>
            <p:cNvSpPr txBox="1">
              <a:spLocks/>
            </p:cNvSpPr>
            <p:nvPr/>
          </p:nvSpPr>
          <p:spPr>
            <a:xfrm>
              <a:off x="458965" y="3296853"/>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14" name="タイトル 1">
              <a:extLst>
                <a:ext uri="{FF2B5EF4-FFF2-40B4-BE49-F238E27FC236}">
                  <a16:creationId xmlns:a16="http://schemas.microsoft.com/office/drawing/2014/main" id="{FEC411D3-B619-47A6-81A7-2375C3D92848}"/>
                </a:ext>
              </a:extLst>
            </p:cNvPr>
            <p:cNvSpPr txBox="1">
              <a:spLocks/>
            </p:cNvSpPr>
            <p:nvPr/>
          </p:nvSpPr>
          <p:spPr>
            <a:xfrm>
              <a:off x="-210400" y="4348582"/>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５．支援体制（個別支援</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計画）の構築及び合</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意形成について</a:t>
              </a:r>
              <a:r>
                <a:rPr lang="en-US" altLang="ja-JP" sz="2000" dirty="0">
                  <a:latin typeface="UD デジタル 教科書体 NP-B" panose="02020700000000000000" pitchFamily="18" charset="-128"/>
                  <a:ea typeface="UD デジタル 教科書体 NP-B" panose="02020700000000000000" pitchFamily="18" charset="-128"/>
                </a:rPr>
                <a:t>  </a:t>
              </a:r>
              <a:endParaRPr lang="ja-JP" altLang="en-US" sz="2000" dirty="0">
                <a:latin typeface="UD デジタル 教科書体 NP-B" panose="02020700000000000000" pitchFamily="18" charset="-128"/>
                <a:ea typeface="UD デジタル 教科書体 NP-B" panose="02020700000000000000" pitchFamily="18" charset="-128"/>
              </a:endParaRPr>
            </a:p>
          </p:txBody>
        </p:sp>
      </p:grpSp>
    </p:spTree>
    <p:extLst>
      <p:ext uri="{BB962C8B-B14F-4D97-AF65-F5344CB8AC3E}">
        <p14:creationId xmlns:p14="http://schemas.microsoft.com/office/powerpoint/2010/main" val="3531052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9F60BE43-35A5-4B66-983D-E453FBC10388}"/>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6221B670-F2FB-4EA2-82C4-5329B645016E}"/>
              </a:ext>
            </a:extLst>
          </p:cNvPr>
          <p:cNvGrpSpPr/>
          <p:nvPr/>
        </p:nvGrpSpPr>
        <p:grpSpPr>
          <a:xfrm>
            <a:off x="70257" y="404664"/>
            <a:ext cx="3325919" cy="3393996"/>
            <a:chOff x="-119190" y="3139501"/>
            <a:chExt cx="3453841" cy="1580709"/>
          </a:xfrm>
        </p:grpSpPr>
        <p:sp>
          <p:nvSpPr>
            <p:cNvPr id="7" name="タイトル 1">
              <a:extLst>
                <a:ext uri="{FF2B5EF4-FFF2-40B4-BE49-F238E27FC236}">
                  <a16:creationId xmlns:a16="http://schemas.microsoft.com/office/drawing/2014/main" id="{7EEED0AD-60EF-4DE7-92C9-D6604E5BB22C}"/>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8" name="タイトル 1">
              <a:extLst>
                <a:ext uri="{FF2B5EF4-FFF2-40B4-BE49-F238E27FC236}">
                  <a16:creationId xmlns:a16="http://schemas.microsoft.com/office/drawing/2014/main" id="{616BB4B8-F00D-4170-BDF9-2B8B48E82F77}"/>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１年目就労支援サー</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ビス概要</a:t>
              </a:r>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ja-JP" altLang="en-US" sz="2000" dirty="0">
                  <a:solidFill>
                    <a:srgbClr val="FFFFFF"/>
                  </a:solidFill>
                  <a:latin typeface="UD デジタル 教科書体 NP-B" panose="02020700000000000000" pitchFamily="18" charset="-128"/>
                  <a:ea typeface="UD デジタル 教科書体 NP-B" panose="02020700000000000000" pitchFamily="18" charset="-128"/>
                </a:rPr>
                <a:t>　</a:t>
              </a:r>
              <a:r>
                <a:rPr lang="ja-JP"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sp>
        <p:nvSpPr>
          <p:cNvPr id="9" name="コンテンツ プレースホルダー 2">
            <a:extLst>
              <a:ext uri="{FF2B5EF4-FFF2-40B4-BE49-F238E27FC236}">
                <a16:creationId xmlns:a16="http://schemas.microsoft.com/office/drawing/2014/main" id="{EEB94C82-D55E-438F-897B-2E93AB80796E}"/>
              </a:ext>
            </a:extLst>
          </p:cNvPr>
          <p:cNvSpPr txBox="1">
            <a:spLocks/>
          </p:cNvSpPr>
          <p:nvPr/>
        </p:nvSpPr>
        <p:spPr>
          <a:xfrm>
            <a:off x="3396176" y="188640"/>
            <a:ext cx="6414124" cy="6480720"/>
          </a:xfrm>
          <a:prstGeom prst="rect">
            <a:avLst/>
          </a:prstGeom>
        </p:spPr>
        <p:txBody>
          <a:bodyPr vert="horz" lIns="91440" tIns="45720" rIns="91440" bIns="45720" rtlCol="0" anchor="t">
            <a:normAutofit fontScale="85000" lnSpcReduction="2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lgn="just">
              <a:buNone/>
            </a:pPr>
            <a:endParaRPr lang="ja-JP" altLang="ja-JP" sz="1800" kern="100" dirty="0">
              <a:effectLst/>
              <a:latin typeface="Times New Roman" panose="02020603050405020304" pitchFamily="18" charset="0"/>
              <a:ea typeface="SimSun" panose="02010600030101010101" pitchFamily="2" charset="-122"/>
            </a:endParaRPr>
          </a:p>
          <a:p>
            <a:pPr marL="0" lvl="0" indent="0" algn="l">
              <a:buNone/>
            </a:pPr>
            <a:r>
              <a:rPr lang="ja-JP" altLang="en-US" sz="1800" kern="100" dirty="0">
                <a:effectLst/>
                <a:latin typeface="Times New Roman" panose="02020603050405020304" pitchFamily="18" charset="0"/>
                <a:ea typeface="UD デジタル 教科書体 NK-B" panose="02020700000000000000" pitchFamily="18" charset="-128"/>
              </a:rPr>
              <a:t>（１）</a:t>
            </a:r>
            <a:r>
              <a:rPr lang="ja-JP" altLang="ja-JP" sz="1800" kern="100" dirty="0">
                <a:effectLst/>
                <a:latin typeface="Times New Roman" panose="02020603050405020304" pitchFamily="18" charset="0"/>
                <a:ea typeface="UD デジタル 教科書体 NK-B" panose="02020700000000000000" pitchFamily="18" charset="-128"/>
              </a:rPr>
              <a:t>パソコン及びスマフォ、タブレット及び</a:t>
            </a:r>
            <a:r>
              <a:rPr lang="en-US" altLang="ja-JP" sz="1800" kern="100" dirty="0">
                <a:effectLst/>
                <a:latin typeface="Times New Roman" panose="02020603050405020304" pitchFamily="18" charset="0"/>
                <a:ea typeface="UD デジタル 教科書体 NK-B" panose="02020700000000000000" pitchFamily="18" charset="-128"/>
              </a:rPr>
              <a:t>SNS</a:t>
            </a:r>
            <a:r>
              <a:rPr lang="ja-JP" altLang="ja-JP" sz="1800" kern="100" dirty="0">
                <a:effectLst/>
                <a:latin typeface="Times New Roman" panose="02020603050405020304" pitchFamily="18" charset="0"/>
                <a:ea typeface="UD デジタル 教科書体 NK-B" panose="02020700000000000000" pitchFamily="18" charset="-128"/>
              </a:rPr>
              <a:t>についての講座</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基本的なパソコンの操作は就職するうえで必須スキル。パソコンの周辺機</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器の接続から事務アプリケーション（ワード・エクセル等）、メールソフトの</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使い方などの授業を実施。</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原則パソコンを一人一台配備。</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スマートフォンやタブレットなどの使い方</a:t>
            </a:r>
            <a:r>
              <a:rPr lang="ja-JP" altLang="en-US" sz="1800" kern="100" dirty="0">
                <a:effectLst/>
                <a:latin typeface="Times New Roman" panose="02020603050405020304" pitchFamily="18" charset="0"/>
                <a:ea typeface="UD デジタル 教科書体 NK-B" panose="02020700000000000000" pitchFamily="18" charset="-128"/>
              </a:rPr>
              <a:t>。</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en-US" altLang="ja-JP" sz="1800" kern="100" dirty="0">
                <a:effectLst/>
                <a:latin typeface="Times New Roman" panose="02020603050405020304" pitchFamily="18" charset="0"/>
                <a:ea typeface="UD デジタル 教科書体 NK-B" panose="02020700000000000000" pitchFamily="18" charset="-128"/>
              </a:rPr>
              <a:t>SNS</a:t>
            </a:r>
            <a:r>
              <a:rPr lang="ja-JP" altLang="ja-JP" sz="1800" kern="100" dirty="0">
                <a:effectLst/>
                <a:latin typeface="Times New Roman" panose="02020603050405020304" pitchFamily="18" charset="0"/>
                <a:ea typeface="UD デジタル 教科書体 NK-B" panose="02020700000000000000" pitchFamily="18" charset="-128"/>
              </a:rPr>
              <a:t>の危険性を踏まえた利用法なども伝達。</a:t>
            </a:r>
            <a:endParaRPr lang="ja-JP" altLang="ja-JP" sz="1800" kern="100" dirty="0">
              <a:effectLst/>
              <a:latin typeface="Times New Roman" panose="02020603050405020304" pitchFamily="18" charset="0"/>
              <a:ea typeface="SimSun" panose="02010600030101010101" pitchFamily="2" charset="-122"/>
            </a:endParaRPr>
          </a:p>
          <a:p>
            <a:pPr marL="0" lvl="0" indent="0" algn="l">
              <a:buNone/>
            </a:pPr>
            <a:r>
              <a:rPr lang="ja-JP" altLang="en-US" sz="1800" kern="100" dirty="0">
                <a:effectLst/>
                <a:latin typeface="Times New Roman" panose="02020603050405020304" pitchFamily="18" charset="0"/>
                <a:ea typeface="UD デジタル 教科書体 NK-B" panose="02020700000000000000" pitchFamily="18" charset="-128"/>
              </a:rPr>
              <a:t>（２）</a:t>
            </a:r>
            <a:r>
              <a:rPr lang="ja-JP" altLang="ja-JP" sz="1800" kern="100" dirty="0">
                <a:effectLst/>
                <a:latin typeface="Times New Roman" panose="02020603050405020304" pitchFamily="18" charset="0"/>
                <a:ea typeface="UD デジタル 教科書体 NK-B" panose="02020700000000000000" pitchFamily="18" charset="-128"/>
              </a:rPr>
              <a:t>ヘルスケア講座</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健康維持のための習慣（呼吸法）と生活習慣（食生活・睡眠・ストレス等）</a:t>
            </a:r>
            <a:r>
              <a:rPr lang="ja-JP" altLang="en-US" sz="1800" kern="100" dirty="0">
                <a:effectLst/>
                <a:latin typeface="Times New Roman" panose="02020603050405020304" pitchFamily="18" charset="0"/>
                <a:ea typeface="UD デジタル 教科書体 NK-B" panose="02020700000000000000" pitchFamily="18" charset="-128"/>
              </a:rPr>
              <a:t>　　　</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との関連性を説明し、理解を促す。</a:t>
            </a:r>
            <a:endParaRPr lang="ja-JP" altLang="ja-JP" sz="1800" kern="100" dirty="0">
              <a:effectLst/>
              <a:latin typeface="Times New Roman" panose="02020603050405020304" pitchFamily="18" charset="0"/>
              <a:ea typeface="SimSun" panose="02010600030101010101" pitchFamily="2" charset="-122"/>
            </a:endParaRPr>
          </a:p>
          <a:p>
            <a:pPr marL="0" lvl="0" indent="0" algn="l">
              <a:buNone/>
            </a:pPr>
            <a:r>
              <a:rPr lang="ja-JP" altLang="en-US" sz="1800" kern="100" dirty="0">
                <a:effectLst/>
                <a:latin typeface="Times New Roman" panose="02020603050405020304" pitchFamily="18" charset="0"/>
                <a:ea typeface="UD デジタル 教科書体 NK-B" panose="02020700000000000000" pitchFamily="18" charset="-128"/>
              </a:rPr>
              <a:t>（３）</a:t>
            </a:r>
            <a:r>
              <a:rPr lang="ja-JP" altLang="ja-JP" sz="1800" kern="100" dirty="0">
                <a:effectLst/>
                <a:latin typeface="Times New Roman" panose="02020603050405020304" pitchFamily="18" charset="0"/>
                <a:ea typeface="UD デジタル 教科書体 NK-B" panose="02020700000000000000" pitchFamily="18" charset="-128"/>
              </a:rPr>
              <a:t>法務基礎講座</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一般的な自分自身の持つ権利や義務、また日常生活における常識的な法</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律知識などを習得。</a:t>
            </a:r>
            <a:endParaRPr lang="en-US" altLang="ja-JP" sz="1800" kern="100" dirty="0">
              <a:effectLst/>
              <a:latin typeface="Times New Roman" panose="02020603050405020304" pitchFamily="18" charset="0"/>
              <a:ea typeface="UD デジタル 教科書体 NK-B" panose="02020700000000000000" pitchFamily="18" charset="-128"/>
            </a:endParaRPr>
          </a:p>
          <a:p>
            <a:pPr marL="0" indent="0">
              <a:buNone/>
            </a:pPr>
            <a:r>
              <a:rPr lang="ja-JP" altLang="en-US" sz="1800" kern="100" dirty="0">
                <a:effectLst/>
                <a:ea typeface="UD デジタル 教科書体 NK-B" panose="02020700000000000000" pitchFamily="18" charset="-128"/>
                <a:cs typeface="Times New Roman" panose="02020603050405020304" pitchFamily="18" charset="0"/>
              </a:rPr>
              <a:t>（４）グループワーク</a:t>
            </a:r>
            <a:br>
              <a:rPr lang="en-US" altLang="ja-JP" sz="1800" kern="100" dirty="0">
                <a:effectLst/>
                <a:ea typeface="UD デジタル 教科書体 NK-B" panose="02020700000000000000" pitchFamily="18" charset="-128"/>
                <a:cs typeface="Times New Roman" panose="02020603050405020304" pitchFamily="18" charset="0"/>
              </a:rPr>
            </a:br>
            <a:r>
              <a:rPr lang="ja-JP" altLang="en-US" sz="1800" kern="100" dirty="0">
                <a:effectLst/>
                <a:ea typeface="UD デジタル 教科書体 NK-B" panose="02020700000000000000" pitchFamily="18" charset="-128"/>
                <a:cs typeface="Times New Roman" panose="02020603050405020304" pitchFamily="18" charset="0"/>
              </a:rPr>
              <a:t>　　　</a:t>
            </a:r>
            <a:r>
              <a:rPr lang="ja-JP" altLang="ja-JP" sz="1800" kern="100" dirty="0">
                <a:effectLst/>
                <a:latin typeface="Times New Roman" panose="02020603050405020304" pitchFamily="18" charset="0"/>
                <a:ea typeface="UD デジタル 教科書体 NK-B" panose="02020700000000000000" pitchFamily="18" charset="-128"/>
              </a:rPr>
              <a:t>午後の時間を使って、全員で共通の仕事の課題・目標に対して取り組み、</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解決していくことを通して、他者（仲間）とのコミュニケーションや意見の統</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一する過程などを学び、共通の目的への達成や挫折を経験し、レジリエン</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ス力向上を図る。</a:t>
            </a:r>
            <a:endParaRPr lang="ja-JP" altLang="ja-JP" sz="1800" kern="100" dirty="0">
              <a:effectLst/>
              <a:latin typeface="Times New Roman" panose="02020603050405020304" pitchFamily="18" charset="0"/>
              <a:ea typeface="SimSun" panose="02010600030101010101" pitchFamily="2" charset="-122"/>
            </a:endParaRPr>
          </a:p>
          <a:p>
            <a:pPr marL="0" lvl="0" indent="0" algn="l">
              <a:buNone/>
            </a:pP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endParaRPr lang="en-US" altLang="ja-JP" sz="1800" kern="100" dirty="0">
              <a:effectLst/>
              <a:ea typeface="UD デジタル 教科書体 NK-B" panose="02020700000000000000" pitchFamily="18" charset="-128"/>
              <a:cs typeface="Times New Roman" panose="02020603050405020304" pitchFamily="18" charset="0"/>
            </a:endParaRPr>
          </a:p>
          <a:p>
            <a:pPr marL="417830" indent="0" algn="just">
              <a:buNone/>
            </a:pPr>
            <a:endParaRPr lang="en-US" altLang="ja-JP" sz="1800" kern="100" dirty="0">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a:p>
            <a:pPr marL="417830" indent="0" algn="just">
              <a:buNone/>
            </a:pPr>
            <a:endParaRPr lang="en-US" altLang="ja-JP" sz="15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ja-JP" altLang="ja-JP" sz="1400" kern="100" dirty="0">
              <a:effectLst/>
              <a:latin typeface="Times New Roman" panose="02020603050405020304" pitchFamily="18" charset="0"/>
              <a:ea typeface="SimSun" panose="02010600030101010101" pitchFamily="2" charset="-122"/>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p:txBody>
      </p:sp>
    </p:spTree>
    <p:extLst>
      <p:ext uri="{BB962C8B-B14F-4D97-AF65-F5344CB8AC3E}">
        <p14:creationId xmlns:p14="http://schemas.microsoft.com/office/powerpoint/2010/main" val="1220968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08913E72-C671-41F0-B262-D0EB3ADE3B89}"/>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5CD38F0D-72FC-4B17-8BA9-EED104D6F90A}"/>
              </a:ext>
            </a:extLst>
          </p:cNvPr>
          <p:cNvGrpSpPr/>
          <p:nvPr/>
        </p:nvGrpSpPr>
        <p:grpSpPr>
          <a:xfrm>
            <a:off x="114913" y="563523"/>
            <a:ext cx="3325919" cy="3393996"/>
            <a:chOff x="-119190" y="3139501"/>
            <a:chExt cx="3453841" cy="1580709"/>
          </a:xfrm>
        </p:grpSpPr>
        <p:sp>
          <p:nvSpPr>
            <p:cNvPr id="11" name="タイトル 1">
              <a:extLst>
                <a:ext uri="{FF2B5EF4-FFF2-40B4-BE49-F238E27FC236}">
                  <a16:creationId xmlns:a16="http://schemas.microsoft.com/office/drawing/2014/main" id="{1A9D757F-7E7D-4584-A03D-BC84B4A2F14C}"/>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12" name="タイトル 1">
              <a:extLst>
                <a:ext uri="{FF2B5EF4-FFF2-40B4-BE49-F238E27FC236}">
                  <a16:creationId xmlns:a16="http://schemas.microsoft.com/office/drawing/2014/main" id="{3BBA5053-B7CF-46E0-B853-D0CDE5FA2CBD}"/>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１年目就労支援サー</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a:t>
              </a:r>
              <a:r>
                <a:rPr lang="ja-JP" altLang="ja-JP" sz="2000" dirty="0">
                  <a:latin typeface="UD デジタル 教科書体 NP-B" panose="02020700000000000000" pitchFamily="18" charset="-128"/>
                  <a:ea typeface="UD デジタル 教科書体 NP-B" panose="02020700000000000000" pitchFamily="18" charset="-128"/>
                </a:rPr>
                <a:t>ビス</a:t>
              </a:r>
              <a:r>
                <a:rPr lang="ja-JP" altLang="en-US" sz="2000" dirty="0">
                  <a:latin typeface="UD デジタル 教科書体 NP-B" panose="02020700000000000000" pitchFamily="18" charset="-128"/>
                  <a:ea typeface="UD デジタル 教科書体 NP-B" panose="02020700000000000000" pitchFamily="18" charset="-128"/>
                </a:rPr>
                <a:t>　</a:t>
              </a:r>
              <a:br>
                <a:rPr lang="en-US" altLang="ja-JP" sz="2000" dirty="0">
                  <a:latin typeface="UD デジタル 教科書体 NP-B" panose="02020700000000000000" pitchFamily="18" charset="-128"/>
                  <a:ea typeface="UD デジタル 教科書体 NP-B" panose="02020700000000000000" pitchFamily="18" charset="-128"/>
                </a:rPr>
              </a:br>
              <a:r>
                <a:rPr lang="ja-JP" altLang="en-US" sz="2000" dirty="0">
                  <a:latin typeface="UD デジタル 教科書体 NP-B" panose="02020700000000000000" pitchFamily="18" charset="-128"/>
                  <a:ea typeface="UD デジタル 教科書体 NP-B" panose="02020700000000000000" pitchFamily="18" charset="-128"/>
                </a:rPr>
                <a:t>　　　時間割　例）　</a:t>
              </a:r>
              <a:b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br>
              <a:r>
                <a:rPr lang="en-US" altLang="ja-JP" sz="2000" dirty="0">
                  <a:solidFill>
                    <a:srgbClr val="FFFFFF"/>
                  </a:solidFill>
                  <a:latin typeface="UD デジタル 教科書体 NP-B" panose="02020700000000000000" pitchFamily="18" charset="-128"/>
                  <a:ea typeface="UD デジタル 教科書体 NP-B" panose="02020700000000000000" pitchFamily="18" charset="-128"/>
                </a:rPr>
                <a:t>  </a:t>
              </a:r>
              <a:endParaRPr lang="ja-JP" altLang="en-US" sz="2000" dirty="0">
                <a:solidFill>
                  <a:srgbClr val="FFFFFF"/>
                </a:solidFill>
                <a:latin typeface="UD デジタル 教科書体 NP-B" panose="02020700000000000000" pitchFamily="18" charset="-128"/>
                <a:ea typeface="UD デジタル 教科書体 NP-B" panose="02020700000000000000" pitchFamily="18" charset="-128"/>
              </a:endParaRPr>
            </a:p>
          </p:txBody>
        </p:sp>
      </p:grpSp>
      <p:pic>
        <p:nvPicPr>
          <p:cNvPr id="1026" name="図 1">
            <a:extLst>
              <a:ext uri="{FF2B5EF4-FFF2-40B4-BE49-F238E27FC236}">
                <a16:creationId xmlns:a16="http://schemas.microsoft.com/office/drawing/2014/main" id="{16A48D31-3E4D-45C4-87AF-A896CD905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108" y="908720"/>
            <a:ext cx="6287979" cy="37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5">
            <a:extLst>
              <a:ext uri="{FF2B5EF4-FFF2-40B4-BE49-F238E27FC236}">
                <a16:creationId xmlns:a16="http://schemas.microsoft.com/office/drawing/2014/main" id="{86166349-B653-4038-9A63-911AE6C31400}"/>
              </a:ext>
            </a:extLst>
          </p:cNvPr>
          <p:cNvSpPr txBox="1"/>
          <p:nvPr/>
        </p:nvSpPr>
        <p:spPr>
          <a:xfrm>
            <a:off x="3728864" y="4797152"/>
            <a:ext cx="4320413" cy="307777"/>
          </a:xfrm>
          <a:prstGeom prst="rect">
            <a:avLst/>
          </a:prstGeom>
          <a:noFill/>
        </p:spPr>
        <p:txBody>
          <a:bodyPr wrap="none" rtlCol="0">
            <a:spAutoFit/>
          </a:bodyPr>
          <a:lstStyle/>
          <a:p>
            <a:r>
              <a:rPr lang="ja-JP" altLang="ja-JP" sz="1400" kern="100" dirty="0">
                <a:effectLst/>
                <a:ea typeface="UD デジタル 教科書体 NK-B" panose="02020700000000000000" pitchFamily="18" charset="-128"/>
                <a:cs typeface="Times New Roman" panose="02020603050405020304" pitchFamily="18" charset="0"/>
              </a:rPr>
              <a:t>　※利用者特性および相互の影響に応じて変更します。</a:t>
            </a:r>
            <a:endParaRPr kumimoji="1" lang="ja-JP" altLang="en-US" sz="1400" dirty="0"/>
          </a:p>
        </p:txBody>
      </p:sp>
    </p:spTree>
    <p:extLst>
      <p:ext uri="{BB962C8B-B14F-4D97-AF65-F5344CB8AC3E}">
        <p14:creationId xmlns:p14="http://schemas.microsoft.com/office/powerpoint/2010/main" val="157732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16A648C5-E576-4831-BB5E-10750046F44B}"/>
              </a:ext>
            </a:extLst>
          </p:cNvPr>
          <p:cNvSpPr/>
          <p:nvPr/>
        </p:nvSpPr>
        <p:spPr>
          <a:xfrm>
            <a:off x="0" y="0"/>
            <a:ext cx="3224808" cy="6381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E14FA61C-EB7E-426F-9744-99893196F2C0}"/>
              </a:ext>
            </a:extLst>
          </p:cNvPr>
          <p:cNvGrpSpPr/>
          <p:nvPr/>
        </p:nvGrpSpPr>
        <p:grpSpPr>
          <a:xfrm>
            <a:off x="19943" y="548680"/>
            <a:ext cx="3541943" cy="3393996"/>
            <a:chOff x="-119190" y="3139501"/>
            <a:chExt cx="3453841" cy="1580709"/>
          </a:xfrm>
        </p:grpSpPr>
        <p:sp>
          <p:nvSpPr>
            <p:cNvPr id="7" name="タイトル 1">
              <a:extLst>
                <a:ext uri="{FF2B5EF4-FFF2-40B4-BE49-F238E27FC236}">
                  <a16:creationId xmlns:a16="http://schemas.microsoft.com/office/drawing/2014/main" id="{2DB665EB-4BED-4548-ADBB-1A02E43BADBA}"/>
                </a:ext>
              </a:extLst>
            </p:cNvPr>
            <p:cNvSpPr txBox="1">
              <a:spLocks/>
            </p:cNvSpPr>
            <p:nvPr/>
          </p:nvSpPr>
          <p:spPr>
            <a:xfrm>
              <a:off x="454331" y="3501009"/>
              <a:ext cx="2880320" cy="115212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endParaRPr lang="ja-JP" altLang="en-US" sz="2200" dirty="0">
                <a:solidFill>
                  <a:schemeClr val="bg1">
                    <a:lumMod val="95000"/>
                  </a:schemeClr>
                </a:solidFill>
                <a:latin typeface="UD デジタル 教科書体 NP-B" panose="02020700000000000000" pitchFamily="18" charset="-128"/>
                <a:ea typeface="UD デジタル 教科書体 NP-B" panose="02020700000000000000" pitchFamily="18" charset="-128"/>
              </a:endParaRPr>
            </a:p>
          </p:txBody>
        </p:sp>
        <p:sp>
          <p:nvSpPr>
            <p:cNvPr id="9" name="タイトル 1">
              <a:extLst>
                <a:ext uri="{FF2B5EF4-FFF2-40B4-BE49-F238E27FC236}">
                  <a16:creationId xmlns:a16="http://schemas.microsoft.com/office/drawing/2014/main" id="{0D993839-35E6-48DA-BF97-7B2180CC4F23}"/>
                </a:ext>
              </a:extLst>
            </p:cNvPr>
            <p:cNvSpPr txBox="1">
              <a:spLocks/>
            </p:cNvSpPr>
            <p:nvPr/>
          </p:nvSpPr>
          <p:spPr>
            <a:xfrm>
              <a:off x="-119190" y="3139501"/>
              <a:ext cx="3351181" cy="1580709"/>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r>
                <a:rPr lang="ja-JP" altLang="en-US" sz="2000" dirty="0">
                  <a:latin typeface="UD デジタル 教科書体 NP-B" panose="02020700000000000000" pitchFamily="18" charset="-128"/>
                  <a:ea typeface="UD デジタル 教科書体 NP-B" panose="02020700000000000000" pitchFamily="18" charset="-128"/>
                </a:rPr>
                <a:t>５．</a:t>
              </a:r>
              <a:r>
                <a:rPr lang="ja-JP" altLang="ja-JP" sz="2000" dirty="0">
                  <a:latin typeface="UD デジタル 教科書体 NP-B" panose="02020700000000000000" pitchFamily="18" charset="-128"/>
                  <a:ea typeface="UD デジタル 教科書体 NP-B" panose="02020700000000000000" pitchFamily="18" charset="-128"/>
                </a:rPr>
                <a:t>１年目工賃等について</a:t>
              </a:r>
              <a:endParaRPr lang="ja-JP" altLang="en-US" sz="2000" dirty="0">
                <a:latin typeface="UD デジタル 教科書体 NP-B" panose="02020700000000000000" pitchFamily="18" charset="-128"/>
                <a:ea typeface="UD デジタル 教科書体 NP-B" panose="02020700000000000000" pitchFamily="18" charset="-128"/>
              </a:endParaRPr>
            </a:p>
          </p:txBody>
        </p:sp>
      </p:grpSp>
      <p:sp>
        <p:nvSpPr>
          <p:cNvPr id="11" name="コンテンツ プレースホルダー 2">
            <a:extLst>
              <a:ext uri="{FF2B5EF4-FFF2-40B4-BE49-F238E27FC236}">
                <a16:creationId xmlns:a16="http://schemas.microsoft.com/office/drawing/2014/main" id="{E8D599EE-7F37-4C63-A3A7-161BC5C28D95}"/>
              </a:ext>
            </a:extLst>
          </p:cNvPr>
          <p:cNvSpPr txBox="1">
            <a:spLocks/>
          </p:cNvSpPr>
          <p:nvPr/>
        </p:nvSpPr>
        <p:spPr>
          <a:xfrm>
            <a:off x="3396176" y="188640"/>
            <a:ext cx="6414124" cy="6480720"/>
          </a:xfrm>
          <a:prstGeom prst="rect">
            <a:avLst/>
          </a:prstGeom>
        </p:spPr>
        <p:txBody>
          <a:bodyPr vert="horz" lIns="91440" tIns="45720" rIns="91440" bIns="45720" rtlCol="0" anchor="t">
            <a:normAutofit fontScale="85000"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marL="0" indent="0" algn="just">
              <a:buNone/>
            </a:pPr>
            <a:endParaRPr lang="ja-JP" altLang="ja-JP" sz="1800" kern="100" dirty="0">
              <a:effectLst/>
              <a:latin typeface="Times New Roman" panose="02020603050405020304" pitchFamily="18" charset="0"/>
              <a:ea typeface="SimSun" panose="02010600030101010101" pitchFamily="2" charset="-122"/>
            </a:endParaRPr>
          </a:p>
          <a:p>
            <a:pPr marL="0" indent="0" algn="just">
              <a:buNone/>
            </a:pPr>
            <a:r>
              <a:rPr lang="ja-JP" altLang="en-US" sz="1800" kern="100" dirty="0">
                <a:effectLst/>
                <a:latin typeface="Times New Roman" panose="02020603050405020304" pitchFamily="18" charset="0"/>
                <a:ea typeface="UD デジタル 教科書体 NK-B" panose="02020700000000000000" pitchFamily="18" charset="-128"/>
              </a:rPr>
              <a:t>（１）工賃について                                         </a:t>
            </a:r>
            <a:r>
              <a:rPr lang="en-US" altLang="ja-JP" sz="1800" kern="100" dirty="0">
                <a:solidFill>
                  <a:schemeClr val="accent6">
                    <a:lumMod val="40000"/>
                    <a:lumOff val="60000"/>
                  </a:schemeClr>
                </a:solidFill>
                <a:effectLst/>
                <a:latin typeface="Times New Roman" panose="02020603050405020304" pitchFamily="18" charset="0"/>
                <a:ea typeface="UD デジタル 教科書体 NK-B" panose="02020700000000000000" pitchFamily="18" charset="-128"/>
              </a:rPr>
              <a:t>a</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暫定利用期間 　　　　　　　　</a:t>
            </a:r>
            <a:r>
              <a:rPr lang="en-US" altLang="ja-JP" sz="1800" kern="100" dirty="0">
                <a:effectLst/>
                <a:latin typeface="Times New Roman" panose="02020603050405020304" pitchFamily="18" charset="0"/>
                <a:ea typeface="UD デジタル 教科書体 NK-B" panose="02020700000000000000" pitchFamily="18" charset="-128"/>
              </a:rPr>
              <a:t>200</a:t>
            </a:r>
            <a:r>
              <a:rPr lang="ja-JP" altLang="ja-JP" sz="1800" kern="100" dirty="0">
                <a:effectLst/>
                <a:latin typeface="Times New Roman" panose="02020603050405020304" pitchFamily="18" charset="0"/>
                <a:ea typeface="UD デジタル 教科書体 NK-B" panose="02020700000000000000" pitchFamily="18" charset="-128"/>
              </a:rPr>
              <a:t>円</a:t>
            </a:r>
            <a:r>
              <a:rPr lang="en-US" altLang="ja-JP" sz="1800" kern="100" dirty="0">
                <a:effectLst/>
                <a:latin typeface="Times New Roman" panose="02020603050405020304" pitchFamily="18" charset="0"/>
                <a:ea typeface="UD デジタル 教科書体 NK-B" panose="02020700000000000000" pitchFamily="18" charset="-128"/>
              </a:rPr>
              <a:t>/</a:t>
            </a:r>
            <a:r>
              <a:rPr lang="ja-JP" altLang="ja-JP" sz="1800" kern="100" dirty="0">
                <a:effectLst/>
                <a:latin typeface="Times New Roman" panose="02020603050405020304" pitchFamily="18" charset="0"/>
                <a:ea typeface="UD デジタル 教科書体 NK-B" panose="02020700000000000000" pitchFamily="18" charset="-128"/>
              </a:rPr>
              <a:t>時　　⇒　精勤の場合月額約２万円程度</a:t>
            </a:r>
            <a:br>
              <a:rPr lang="en-US" altLang="ja-JP" sz="1800" kern="100" dirty="0">
                <a:latin typeface="Times New Roman" panose="02020603050405020304" pitchFamily="18" charset="0"/>
                <a:ea typeface="SimSun" panose="02010600030101010101" pitchFamily="2" charset="-122"/>
              </a:rPr>
            </a:br>
            <a:r>
              <a:rPr lang="ja-JP" altLang="en-US" sz="1800" kern="100" dirty="0">
                <a:latin typeface="Times New Roman" panose="02020603050405020304" pitchFamily="18" charset="0"/>
                <a:ea typeface="SimSun" panose="02010600030101010101" pitchFamily="2" charset="-122"/>
              </a:rPr>
              <a:t>　　 </a:t>
            </a:r>
            <a:r>
              <a:rPr lang="ja-JP" altLang="ja-JP" sz="1800" kern="100" dirty="0">
                <a:effectLst/>
                <a:latin typeface="Times New Roman" panose="02020603050405020304" pitchFamily="18" charset="0"/>
                <a:ea typeface="UD デジタル 教科書体 NK-B" panose="02020700000000000000" pitchFamily="18" charset="-128"/>
              </a:rPr>
              <a:t>個別支援計画作成後　　　　</a:t>
            </a:r>
            <a:r>
              <a:rPr lang="en-US" altLang="ja-JP" sz="1800" kern="100" dirty="0">
                <a:effectLst/>
                <a:latin typeface="Times New Roman" panose="02020603050405020304" pitchFamily="18" charset="0"/>
                <a:ea typeface="UD デジタル 教科書体 NK-B" panose="02020700000000000000" pitchFamily="18" charset="-128"/>
              </a:rPr>
              <a:t>400</a:t>
            </a:r>
            <a:r>
              <a:rPr lang="ja-JP" altLang="ja-JP" sz="1800" kern="100" dirty="0">
                <a:effectLst/>
                <a:latin typeface="Times New Roman" panose="02020603050405020304" pitchFamily="18" charset="0"/>
                <a:ea typeface="UD デジタル 教科書体 NK-B" panose="02020700000000000000" pitchFamily="18" charset="-128"/>
              </a:rPr>
              <a:t>円</a:t>
            </a:r>
            <a:r>
              <a:rPr lang="en-US" altLang="ja-JP" sz="1800" kern="100" dirty="0">
                <a:effectLst/>
                <a:latin typeface="Times New Roman" panose="02020603050405020304" pitchFamily="18" charset="0"/>
                <a:ea typeface="UD デジタル 教科書体 NK-B" panose="02020700000000000000" pitchFamily="18" charset="-128"/>
              </a:rPr>
              <a:t>/</a:t>
            </a:r>
            <a:r>
              <a:rPr lang="ja-JP" altLang="ja-JP" sz="1800" kern="100" dirty="0">
                <a:effectLst/>
                <a:latin typeface="Times New Roman" panose="02020603050405020304" pitchFamily="18" charset="0"/>
                <a:ea typeface="UD デジタル 教科書体 NK-B" panose="02020700000000000000" pitchFamily="18" charset="-128"/>
              </a:rPr>
              <a:t>時　　⇒　精勤の場合月額約</a:t>
            </a:r>
            <a:r>
              <a:rPr lang="en-US" altLang="ja-JP" sz="1800" kern="100" dirty="0">
                <a:effectLst/>
                <a:latin typeface="Times New Roman" panose="02020603050405020304" pitchFamily="18" charset="0"/>
                <a:ea typeface="UD デジタル 教科書体 NK-B" panose="02020700000000000000" pitchFamily="18" charset="-128"/>
              </a:rPr>
              <a:t>4</a:t>
            </a:r>
            <a:r>
              <a:rPr lang="ja-JP" altLang="ja-JP" sz="1800" kern="100" dirty="0">
                <a:effectLst/>
                <a:latin typeface="Times New Roman" panose="02020603050405020304" pitchFamily="18" charset="0"/>
                <a:ea typeface="UD デジタル 教科書体 NK-B" panose="02020700000000000000" pitchFamily="18" charset="-128"/>
              </a:rPr>
              <a:t>万円程度</a:t>
            </a:r>
            <a:endParaRPr lang="ja-JP" altLang="ja-JP" sz="1800" kern="100" dirty="0">
              <a:effectLst/>
              <a:latin typeface="Times New Roman" panose="02020603050405020304" pitchFamily="18" charset="0"/>
              <a:ea typeface="SimSun" panose="02010600030101010101" pitchFamily="2" charset="-122"/>
            </a:endParaRPr>
          </a:p>
          <a:p>
            <a:pPr marL="0" indent="0">
              <a:buNone/>
            </a:pPr>
            <a:r>
              <a:rPr lang="en-US" altLang="ja-JP" sz="1800" kern="100" dirty="0">
                <a:ea typeface="UD デジタル 教科書体 NK-B" panose="02020700000000000000" pitchFamily="18" charset="-128"/>
                <a:cs typeface="Times New Roman" panose="02020603050405020304" pitchFamily="18" charset="0"/>
              </a:rPr>
              <a:t>      </a:t>
            </a:r>
            <a:r>
              <a:rPr lang="ja-JP" altLang="ja-JP" sz="1800" kern="100" dirty="0">
                <a:effectLst/>
                <a:ea typeface="UD デジタル 教科書体 NK-B" panose="02020700000000000000" pitchFamily="18" charset="-128"/>
                <a:cs typeface="Times New Roman" panose="02020603050405020304" pitchFamily="18" charset="0"/>
              </a:rPr>
              <a:t>　＊業務により加算有</a:t>
            </a:r>
            <a:endParaRPr lang="en-US" altLang="ja-JP" sz="1800" kern="100" dirty="0">
              <a:effectLst/>
              <a:ea typeface="UD デジタル 教科書体 NK-B" panose="02020700000000000000" pitchFamily="18" charset="-128"/>
              <a:cs typeface="Times New Roman" panose="02020603050405020304" pitchFamily="18" charset="0"/>
            </a:endParaRPr>
          </a:p>
          <a:p>
            <a:pPr marL="0" indent="0">
              <a:buNone/>
            </a:pPr>
            <a:r>
              <a:rPr lang="ja-JP" altLang="en-US" sz="1800" kern="100" dirty="0">
                <a:effectLst/>
                <a:latin typeface="Times New Roman" panose="02020603050405020304" pitchFamily="18" charset="0"/>
                <a:ea typeface="UD デジタル 教科書体 NK-B" panose="02020700000000000000" pitchFamily="18" charset="-128"/>
              </a:rPr>
              <a:t>（２）</a:t>
            </a:r>
            <a:r>
              <a:rPr lang="ja-JP" altLang="en-US" sz="1800" kern="100" dirty="0">
                <a:latin typeface="Times New Roman" panose="02020603050405020304" pitchFamily="18" charset="0"/>
                <a:ea typeface="UD デジタル 教科書体 NK-B" panose="02020700000000000000" pitchFamily="18" charset="-128"/>
              </a:rPr>
              <a:t>送迎について</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ea typeface="UD デジタル 教科書体 NK-B" panose="02020700000000000000" pitchFamily="18" charset="-128"/>
                <a:cs typeface="Times New Roman" panose="02020603050405020304" pitchFamily="18" charset="0"/>
              </a:rPr>
              <a:t>１年目は原則自宅まで送迎を実施します。２年目以降は目標に応じて公共</a:t>
            </a:r>
            <a:br>
              <a:rPr lang="en-US" altLang="ja-JP" sz="1800" kern="100" dirty="0">
                <a:effectLst/>
                <a:ea typeface="UD デジタル 教科書体 NK-B" panose="02020700000000000000" pitchFamily="18" charset="-128"/>
                <a:cs typeface="Times New Roman" panose="02020603050405020304" pitchFamily="18" charset="0"/>
              </a:rPr>
            </a:br>
            <a:r>
              <a:rPr lang="ja-JP" altLang="en-US" sz="1800" kern="100" dirty="0">
                <a:effectLst/>
                <a:ea typeface="UD デジタル 教科書体 NK-B" panose="02020700000000000000" pitchFamily="18" charset="-128"/>
                <a:cs typeface="Times New Roman" panose="02020603050405020304" pitchFamily="18" charset="0"/>
              </a:rPr>
              <a:t>　　　</a:t>
            </a:r>
            <a:r>
              <a:rPr lang="ja-JP" altLang="ja-JP" sz="1800" kern="100" dirty="0">
                <a:effectLst/>
                <a:ea typeface="UD デジタル 教科書体 NK-B" panose="02020700000000000000" pitchFamily="18" charset="-128"/>
                <a:cs typeface="Times New Roman" panose="02020603050405020304" pitchFamily="18" charset="0"/>
              </a:rPr>
              <a:t>交通機関などの利用を推奨する場合がありますがその場合は一部通勤手</a:t>
            </a:r>
            <a:br>
              <a:rPr lang="en-US" altLang="ja-JP" sz="1800" kern="100" dirty="0">
                <a:effectLst/>
                <a:ea typeface="UD デジタル 教科書体 NK-B" panose="02020700000000000000" pitchFamily="18" charset="-128"/>
                <a:cs typeface="Times New Roman" panose="02020603050405020304" pitchFamily="18" charset="0"/>
              </a:rPr>
            </a:br>
            <a:r>
              <a:rPr lang="ja-JP" altLang="en-US" sz="1800" kern="100" dirty="0">
                <a:effectLst/>
                <a:ea typeface="UD デジタル 教科書体 NK-B" panose="02020700000000000000" pitchFamily="18" charset="-128"/>
                <a:cs typeface="Times New Roman" panose="02020603050405020304" pitchFamily="18" charset="0"/>
              </a:rPr>
              <a:t>　　　</a:t>
            </a:r>
            <a:r>
              <a:rPr lang="ja-JP" altLang="ja-JP" sz="1800" kern="100" dirty="0">
                <a:effectLst/>
                <a:ea typeface="UD デジタル 教科書体 NK-B" panose="02020700000000000000" pitchFamily="18" charset="-128"/>
                <a:cs typeface="Times New Roman" panose="02020603050405020304" pitchFamily="18" charset="0"/>
              </a:rPr>
              <a:t>当を支給。</a:t>
            </a:r>
            <a:endParaRPr lang="ja-JP" altLang="ja-JP" sz="1800" kern="100" dirty="0">
              <a:effectLst/>
              <a:latin typeface="Times New Roman" panose="02020603050405020304" pitchFamily="18" charset="0"/>
              <a:ea typeface="SimSun" panose="02010600030101010101" pitchFamily="2" charset="-122"/>
            </a:endParaRPr>
          </a:p>
          <a:p>
            <a:pPr marL="0" lvl="0" indent="0" algn="l">
              <a:buNone/>
            </a:pPr>
            <a:r>
              <a:rPr lang="ja-JP" altLang="en-US" sz="1800" kern="100" dirty="0">
                <a:effectLst/>
                <a:latin typeface="Times New Roman" panose="02020603050405020304" pitchFamily="18" charset="0"/>
                <a:ea typeface="UD デジタル 教科書体 NK-B" panose="02020700000000000000" pitchFamily="18" charset="-128"/>
              </a:rPr>
              <a:t>（３）一年目課題学習</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一般的な自分自身の持つ権利や義務、また日常生活における常識的な法</a:t>
            </a:r>
            <a:br>
              <a:rPr lang="en-US" altLang="ja-JP" sz="1800" kern="100" dirty="0">
                <a:effectLst/>
                <a:latin typeface="Times New Roman" panose="02020603050405020304" pitchFamily="18" charset="0"/>
                <a:ea typeface="UD デジタル 教科書体 NK-B" panose="02020700000000000000" pitchFamily="18" charset="-128"/>
              </a:rPr>
            </a:br>
            <a:r>
              <a:rPr lang="ja-JP" altLang="en-US" sz="1800" kern="100" dirty="0">
                <a:effectLst/>
                <a:latin typeface="Times New Roman" panose="02020603050405020304" pitchFamily="18" charset="0"/>
                <a:ea typeface="UD デジタル 教科書体 NK-B" panose="02020700000000000000" pitchFamily="18" charset="-128"/>
              </a:rPr>
              <a:t>　　　</a:t>
            </a:r>
            <a:r>
              <a:rPr lang="ja-JP" altLang="ja-JP" sz="1800" kern="100" dirty="0">
                <a:effectLst/>
                <a:latin typeface="Times New Roman" panose="02020603050405020304" pitchFamily="18" charset="0"/>
                <a:ea typeface="UD デジタル 教科書体 NK-B" panose="02020700000000000000" pitchFamily="18" charset="-128"/>
              </a:rPr>
              <a:t>律知識などを習得。</a:t>
            </a:r>
            <a:endParaRPr lang="en-US" altLang="ja-JP" sz="1800" kern="100" dirty="0">
              <a:effectLst/>
              <a:latin typeface="Times New Roman" panose="02020603050405020304" pitchFamily="18" charset="0"/>
              <a:ea typeface="UD デジタル 教科書体 NK-B" panose="02020700000000000000" pitchFamily="18" charset="-128"/>
            </a:endParaRPr>
          </a:p>
          <a:p>
            <a:pPr marL="0" lvl="0" indent="0" algn="l">
              <a:buNone/>
            </a:pPr>
            <a:endParaRPr lang="en-US" altLang="ja-JP" sz="1800" kern="100" dirty="0">
              <a:effectLst/>
              <a:ea typeface="UD デジタル 教科書体 NK-B" panose="02020700000000000000" pitchFamily="18" charset="-128"/>
              <a:cs typeface="Times New Roman" panose="02020603050405020304" pitchFamily="18" charset="0"/>
            </a:endParaRPr>
          </a:p>
          <a:p>
            <a:pPr marL="0" lvl="0" indent="0" algn="l">
              <a:buNone/>
            </a:pPr>
            <a:endParaRPr lang="en-US" altLang="ja-JP" sz="1800" kern="100" dirty="0">
              <a:effectLst/>
              <a:ea typeface="UD デジタル 教科書体 NK-B" panose="02020700000000000000" pitchFamily="18" charset="-128"/>
              <a:cs typeface="Times New Roman" panose="02020603050405020304" pitchFamily="18" charset="0"/>
            </a:endParaRPr>
          </a:p>
          <a:p>
            <a:pPr marL="0" lvl="0" indent="0" algn="l">
              <a:buNone/>
            </a:pPr>
            <a:endParaRPr lang="en-US" altLang="ja-JP" sz="1800" kern="100" dirty="0">
              <a:ea typeface="UD デジタル 教科書体 NK-B" panose="02020700000000000000" pitchFamily="18" charset="-128"/>
              <a:cs typeface="Times New Roman" panose="02020603050405020304" pitchFamily="18" charset="0"/>
            </a:endParaRPr>
          </a:p>
          <a:p>
            <a:pPr marL="0" lvl="0" indent="0" algn="l">
              <a:buNone/>
            </a:pP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br>
              <a:rPr lang="en-US" altLang="ja-JP" sz="1800" kern="100" dirty="0">
                <a:effectLst/>
                <a:ea typeface="UD デジタル 教科書体 NK-B" panose="02020700000000000000" pitchFamily="18" charset="-128"/>
                <a:cs typeface="Times New Roman" panose="02020603050405020304" pitchFamily="18" charset="0"/>
              </a:rPr>
            </a:br>
            <a:endParaRPr lang="en-US" altLang="ja-JP" sz="1800" kern="100" dirty="0">
              <a:effectLst/>
              <a:ea typeface="UD デジタル 教科書体 NK-B" panose="02020700000000000000" pitchFamily="18" charset="-128"/>
              <a:cs typeface="Times New Roman" panose="02020603050405020304" pitchFamily="18" charset="0"/>
            </a:endParaRPr>
          </a:p>
          <a:p>
            <a:pPr marL="417830" indent="0" algn="just">
              <a:buNone/>
            </a:pPr>
            <a:endParaRPr lang="en-US" altLang="ja-JP" sz="1800" kern="100" dirty="0">
              <a:latin typeface="UD デジタル 教科書体 NK-B" panose="02020700000000000000" pitchFamily="18" charset="-128"/>
              <a:ea typeface="UD デジタル 教科書体 NK-B" panose="02020700000000000000" pitchFamily="18" charset="-128"/>
              <a:cs typeface="Times New Roman" panose="02020603050405020304" pitchFamily="18" charset="0"/>
            </a:endParaRPr>
          </a:p>
          <a:p>
            <a:pPr marL="417830" indent="0" algn="just">
              <a:buNone/>
            </a:pPr>
            <a:endParaRPr lang="en-US" altLang="ja-JP" sz="15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latin typeface="UD デジタル 教科書体 NK-B" panose="02020700000000000000" pitchFamily="18" charset="-128"/>
              <a:ea typeface="SimSun" panose="02010600030101010101" pitchFamily="2" charset="-122"/>
            </a:endParaRPr>
          </a:p>
          <a:p>
            <a:pPr marL="417830" indent="0" algn="just">
              <a:buNone/>
            </a:pPr>
            <a:endParaRPr lang="en-US" altLang="ja-JP" sz="1400" kern="100" dirty="0">
              <a:effectLst/>
              <a:latin typeface="UD デジタル 教科書体 NK-B" panose="02020700000000000000" pitchFamily="18" charset="-128"/>
              <a:ea typeface="SimSun" panose="02010600030101010101" pitchFamily="2" charset="-122"/>
            </a:endParaRPr>
          </a:p>
          <a:p>
            <a:pPr marL="417830" indent="0" algn="just">
              <a:buNone/>
            </a:pPr>
            <a:endParaRPr lang="ja-JP" altLang="ja-JP" sz="1400" kern="100" dirty="0">
              <a:effectLst/>
              <a:latin typeface="Times New Roman" panose="02020603050405020304" pitchFamily="18" charset="0"/>
              <a:ea typeface="SimSun" panose="02010600030101010101" pitchFamily="2" charset="-122"/>
            </a:endParaRPr>
          </a:p>
          <a:p>
            <a:pPr marL="0" indent="0" algn="just">
              <a:buNone/>
            </a:pPr>
            <a:endParaRPr lang="en-US" altLang="ja-JP" sz="1400" kern="100" dirty="0">
              <a:latin typeface="Times New Roman" panose="02020603050405020304" pitchFamily="18" charset="0"/>
              <a:ea typeface="UD デジタル 教科書体 NK-B" panose="02020700000000000000" pitchFamily="18" charset="-128"/>
            </a:endParaRPr>
          </a:p>
        </p:txBody>
      </p:sp>
    </p:spTree>
    <p:extLst>
      <p:ext uri="{BB962C8B-B14F-4D97-AF65-F5344CB8AC3E}">
        <p14:creationId xmlns:p14="http://schemas.microsoft.com/office/powerpoint/2010/main" val="593727980"/>
      </p:ext>
    </p:extLst>
  </p:cSld>
  <p:clrMapOvr>
    <a:masterClrMapping/>
  </p:clrMapOvr>
</p:sld>
</file>

<file path=ppt/theme/theme1.xml><?xml version="1.0" encoding="utf-8"?>
<a:theme xmlns:a="http://schemas.openxmlformats.org/drawingml/2006/main" name="レトロスペクト">
  <a:themeElements>
    <a:clrScheme name="レトロスペクト">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13737</TotalTime>
  <Words>3073</Words>
  <Application>Microsoft Office PowerPoint</Application>
  <PresentationFormat>A4 210 x 297 mm</PresentationFormat>
  <Paragraphs>256</Paragraphs>
  <Slides>19</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19</vt:i4>
      </vt:variant>
    </vt:vector>
  </HeadingPairs>
  <TitlesOfParts>
    <vt:vector size="28" baseType="lpstr">
      <vt:lpstr>UD Digi Kyokasho NP-B</vt:lpstr>
      <vt:lpstr>UD デジタル 教科書体 NK-B</vt:lpstr>
      <vt:lpstr>UD デジタル 教科書体 NP-B</vt:lpstr>
      <vt:lpstr>游ゴシック</vt:lpstr>
      <vt:lpstr>Arial</vt:lpstr>
      <vt:lpstr>Calibri</vt:lpstr>
      <vt:lpstr>Calibri Light</vt:lpstr>
      <vt:lpstr>Times New Roman</vt:lpstr>
      <vt:lpstr>レトロスペクト</vt:lpstr>
      <vt:lpstr>就労移行支援 </vt:lpstr>
      <vt:lpstr>合同会社 　DUG研究所 　法人理念</vt:lpstr>
      <vt:lpstr>役員等及びスタッフ</vt:lpstr>
      <vt:lpstr>PowerPoint プレゼンテーション</vt:lpstr>
      <vt:lpstr>PowerPoint プレゼンテーション</vt:lpstr>
      <vt:lpstr>私たちが２年間の支援の中で目標とする人材像</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井笠地域の医療・看護・介護の 連携に関するアンケート調査事業 　仕様対応報告書</dc:title>
  <dc:creator>Owner</dc:creator>
  <cp:lastModifiedBy>山内 雄司</cp:lastModifiedBy>
  <cp:revision>207</cp:revision>
  <cp:lastPrinted>2021-08-01T23:54:36Z</cp:lastPrinted>
  <dcterms:created xsi:type="dcterms:W3CDTF">2014-05-27T02:11:30Z</dcterms:created>
  <dcterms:modified xsi:type="dcterms:W3CDTF">2021-08-02T14:30:40Z</dcterms:modified>
</cp:coreProperties>
</file>