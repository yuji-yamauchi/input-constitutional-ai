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A6B5E">
              <a:alpha val="70000"/>
            </a:srgbClr>
          </a:solidFill>
          <a:ln/>
        </p:spPr>
      </p:sp>
      <p:sp>
        <p:nvSpPr>
          <p:cNvPr id="3" name="Shape 1"/>
          <p:cNvSpPr/>
          <p:nvPr/>
        </p:nvSpPr>
        <p:spPr>
          <a:xfrm>
            <a:off x="0" y="0"/>
            <a:ext cx="109728" cy="5143500"/>
          </a:xfrm>
          <a:prstGeom prst="rect">
            <a:avLst/>
          </a:prstGeom>
          <a:solidFill>
            <a:srgbClr val="E9C46A"/>
          </a:solidFill>
          <a:ln/>
        </p:spPr>
      </p:sp>
      <p:sp>
        <p:nvSpPr>
          <p:cNvPr id="4" name="Text 2"/>
          <p:cNvSpPr/>
          <p:nvPr/>
        </p:nvSpPr>
        <p:spPr>
          <a:xfrm>
            <a:off x="731520" y="731520"/>
            <a:ext cx="7772400" cy="822960"/>
          </a:xfrm>
          <a:prstGeom prst="rect">
            <a:avLst/>
          </a:prstGeom>
          <a:noFill/>
          <a:ln/>
        </p:spPr>
        <p:txBody>
          <a:bodyPr wrap="square" rtlCol="0" anchor="ctr"/>
          <a:lstStyle/>
          <a:p>
            <a:pPr indent="0" marL="0">
              <a:buNone/>
            </a:pPr>
            <a:r>
              <a:rPr lang="en-US" sz="2000" spc="400" kern="0" dirty="0">
                <a:solidFill>
                  <a:srgbClr val="E9C46A"/>
                </a:solidFill>
                <a:latin typeface="Calibri" pitchFamily="34" charset="0"/>
                <a:ea typeface="Calibri" pitchFamily="34" charset="-122"/>
                <a:cs typeface="Calibri" pitchFamily="34" charset="-120"/>
              </a:rPr>
              <a:t>障害福祉サービス</a:t>
            </a:r>
            <a:endParaRPr lang="en-US" sz="2000" dirty="0"/>
          </a:p>
        </p:txBody>
      </p:sp>
      <p:sp>
        <p:nvSpPr>
          <p:cNvPr id="5" name="Text 3"/>
          <p:cNvSpPr/>
          <p:nvPr/>
        </p:nvSpPr>
        <p:spPr>
          <a:xfrm>
            <a:off x="731520" y="1371600"/>
            <a:ext cx="7772400" cy="201168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就労支援</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教育マニュアル</a:t>
            </a:r>
            <a:endParaRPr lang="en-US" sz="4400" dirty="0"/>
          </a:p>
        </p:txBody>
      </p:sp>
      <p:sp>
        <p:nvSpPr>
          <p:cNvPr id="6" name="Shape 4"/>
          <p:cNvSpPr/>
          <p:nvPr/>
        </p:nvSpPr>
        <p:spPr>
          <a:xfrm>
            <a:off x="731520" y="3474720"/>
            <a:ext cx="2286000" cy="36576"/>
          </a:xfrm>
          <a:prstGeom prst="rect">
            <a:avLst/>
          </a:prstGeom>
          <a:solidFill>
            <a:srgbClr val="E9C46A"/>
          </a:solidFill>
          <a:ln/>
        </p:spPr>
      </p:sp>
      <p:sp>
        <p:nvSpPr>
          <p:cNvPr id="7" name="Shape 5"/>
          <p:cNvSpPr/>
          <p:nvPr/>
        </p:nvSpPr>
        <p:spPr>
          <a:xfrm>
            <a:off x="731520" y="3749040"/>
            <a:ext cx="2194560" cy="411480"/>
          </a:xfrm>
          <a:prstGeom prst="rect">
            <a:avLst/>
          </a:prstGeom>
          <a:solidFill>
            <a:srgbClr val="2A9D8F">
              <a:alpha val="60000"/>
            </a:srgbClr>
          </a:solidFill>
          <a:ln/>
        </p:spPr>
      </p:sp>
      <p:sp>
        <p:nvSpPr>
          <p:cNvPr id="8" name="Text 6"/>
          <p:cNvSpPr/>
          <p:nvPr/>
        </p:nvSpPr>
        <p:spPr>
          <a:xfrm>
            <a:off x="731520" y="3749040"/>
            <a:ext cx="2194560" cy="41148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就労継続支援A型</a:t>
            </a:r>
            <a:endParaRPr lang="en-US" sz="1200" dirty="0"/>
          </a:p>
        </p:txBody>
      </p:sp>
      <p:sp>
        <p:nvSpPr>
          <p:cNvPr id="9" name="Shape 7"/>
          <p:cNvSpPr/>
          <p:nvPr/>
        </p:nvSpPr>
        <p:spPr>
          <a:xfrm>
            <a:off x="3108960" y="3749040"/>
            <a:ext cx="2194560" cy="411480"/>
          </a:xfrm>
          <a:prstGeom prst="rect">
            <a:avLst/>
          </a:prstGeom>
          <a:solidFill>
            <a:srgbClr val="2A9D8F">
              <a:alpha val="60000"/>
            </a:srgbClr>
          </a:solidFill>
          <a:ln/>
        </p:spPr>
      </p:sp>
      <p:sp>
        <p:nvSpPr>
          <p:cNvPr id="10" name="Text 8"/>
          <p:cNvSpPr/>
          <p:nvPr/>
        </p:nvSpPr>
        <p:spPr>
          <a:xfrm>
            <a:off x="3108960" y="3749040"/>
            <a:ext cx="2194560" cy="41148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就労継続支援B型</a:t>
            </a:r>
            <a:endParaRPr lang="en-US" sz="1200" dirty="0"/>
          </a:p>
        </p:txBody>
      </p:sp>
      <p:sp>
        <p:nvSpPr>
          <p:cNvPr id="11" name="Shape 9"/>
          <p:cNvSpPr/>
          <p:nvPr/>
        </p:nvSpPr>
        <p:spPr>
          <a:xfrm>
            <a:off x="5486400" y="3749040"/>
            <a:ext cx="2194560" cy="411480"/>
          </a:xfrm>
          <a:prstGeom prst="rect">
            <a:avLst/>
          </a:prstGeom>
          <a:solidFill>
            <a:srgbClr val="2A9D8F">
              <a:alpha val="60000"/>
            </a:srgbClr>
          </a:solidFill>
          <a:ln/>
        </p:spPr>
      </p:sp>
      <p:sp>
        <p:nvSpPr>
          <p:cNvPr id="12" name="Text 10"/>
          <p:cNvSpPr/>
          <p:nvPr/>
        </p:nvSpPr>
        <p:spPr>
          <a:xfrm>
            <a:off x="5486400" y="3749040"/>
            <a:ext cx="2194560" cy="41148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就労移行支援</a:t>
            </a:r>
            <a:endParaRPr lang="en-US" sz="1200" dirty="0"/>
          </a:p>
        </p:txBody>
      </p:sp>
      <p:sp>
        <p:nvSpPr>
          <p:cNvPr id="13" name="Text 11"/>
          <p:cNvSpPr/>
          <p:nvPr/>
        </p:nvSpPr>
        <p:spPr>
          <a:xfrm>
            <a:off x="731520" y="4389120"/>
            <a:ext cx="7315200" cy="3657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全スタッフ共通（新人〜管理者）  |  2026年3月版  |  2024年度報酬改定対応</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228600"/>
            <a:ext cx="3657600" cy="548640"/>
          </a:xfrm>
          <a:prstGeom prst="rect">
            <a:avLst/>
          </a:prstGeom>
          <a:noFill/>
          <a:ln/>
        </p:spPr>
        <p:txBody>
          <a:bodyPr wrap="square" lIns="0" tIns="0" rIns="0" bIns="0" rtlCol="0" anchor="ctr"/>
          <a:lstStyle/>
          <a:p>
            <a:pPr indent="0" marL="0">
              <a:buNone/>
            </a:pPr>
            <a:r>
              <a:rPr lang="en-US" sz="2800" b="1" dirty="0">
                <a:solidFill>
                  <a:srgbClr val="1B2A3D"/>
                </a:solidFill>
                <a:latin typeface="Calibri" pitchFamily="34" charset="0"/>
                <a:ea typeface="Calibri" pitchFamily="34" charset="-122"/>
                <a:cs typeface="Calibri" pitchFamily="34" charset="-120"/>
              </a:rPr>
              <a:t>目　次</a:t>
            </a:r>
            <a:endParaRPr lang="en-US" sz="2800" dirty="0"/>
          </a:p>
        </p:txBody>
      </p:sp>
      <p:sp>
        <p:nvSpPr>
          <p:cNvPr id="4" name="Shape 2"/>
          <p:cNvSpPr/>
          <p:nvPr/>
        </p:nvSpPr>
        <p:spPr>
          <a:xfrm>
            <a:off x="548640" y="1033272"/>
            <a:ext cx="347472" cy="347472"/>
          </a:xfrm>
          <a:prstGeom prst="oval">
            <a:avLst/>
          </a:prstGeom>
          <a:solidFill>
            <a:srgbClr val="2A9D8F"/>
          </a:solidFill>
          <a:ln/>
        </p:spPr>
      </p:sp>
      <p:pic>
        <p:nvPicPr>
          <p:cNvPr id="5" name="Image 0" descr="preencoded.png">    </p:cNvPr>
          <p:cNvPicPr>
            <a:picLocks noChangeAspect="1"/>
          </p:cNvPicPr>
          <p:nvPr/>
        </p:nvPicPr>
        <p:blipFill>
          <a:blip r:embed="rId1"/>
          <a:stretch>
            <a:fillRect/>
          </a:stretch>
        </p:blipFill>
        <p:spPr>
          <a:xfrm>
            <a:off x="612648" y="1097280"/>
            <a:ext cx="219456" cy="219456"/>
          </a:xfrm>
          <a:prstGeom prst="rect">
            <a:avLst/>
          </a:prstGeom>
        </p:spPr>
      </p:pic>
      <p:sp>
        <p:nvSpPr>
          <p:cNvPr id="6" name="Text 3"/>
          <p:cNvSpPr/>
          <p:nvPr/>
        </p:nvSpPr>
        <p:spPr>
          <a:xfrm>
            <a:off x="1051560" y="1005840"/>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第1章</a:t>
            </a:r>
            <a:endParaRPr lang="en-US" sz="1300" dirty="0"/>
          </a:p>
        </p:txBody>
      </p:sp>
      <p:sp>
        <p:nvSpPr>
          <p:cNvPr id="7" name="Text 4"/>
          <p:cNvSpPr/>
          <p:nvPr/>
        </p:nvSpPr>
        <p:spPr>
          <a:xfrm>
            <a:off x="2103120" y="1005840"/>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就労支援事業の全体像</a:t>
            </a:r>
            <a:endParaRPr lang="en-US" sz="1300" dirty="0"/>
          </a:p>
        </p:txBody>
      </p:sp>
      <p:sp>
        <p:nvSpPr>
          <p:cNvPr id="8" name="Shape 5"/>
          <p:cNvSpPr/>
          <p:nvPr/>
        </p:nvSpPr>
        <p:spPr>
          <a:xfrm>
            <a:off x="1051560" y="1444752"/>
            <a:ext cx="5943600" cy="9144"/>
          </a:xfrm>
          <a:prstGeom prst="rect">
            <a:avLst/>
          </a:prstGeom>
          <a:solidFill>
            <a:srgbClr val="CBD5E1"/>
          </a:solidFill>
          <a:ln/>
        </p:spPr>
      </p:sp>
      <p:sp>
        <p:nvSpPr>
          <p:cNvPr id="9" name="Shape 6"/>
          <p:cNvSpPr/>
          <p:nvPr/>
        </p:nvSpPr>
        <p:spPr>
          <a:xfrm>
            <a:off x="548640" y="1508760"/>
            <a:ext cx="347472" cy="347472"/>
          </a:xfrm>
          <a:prstGeom prst="oval">
            <a:avLst/>
          </a:prstGeom>
          <a:solidFill>
            <a:srgbClr val="2A9D8F"/>
          </a:solidFill>
          <a:ln/>
        </p:spPr>
      </p:sp>
      <p:pic>
        <p:nvPicPr>
          <p:cNvPr id="10" name="Image 1" descr="preencoded.png">    </p:cNvPr>
          <p:cNvPicPr>
            <a:picLocks noChangeAspect="1"/>
          </p:cNvPicPr>
          <p:nvPr/>
        </p:nvPicPr>
        <p:blipFill>
          <a:blip r:embed="rId2"/>
          <a:stretch>
            <a:fillRect/>
          </a:stretch>
        </p:blipFill>
        <p:spPr>
          <a:xfrm>
            <a:off x="612648" y="1572768"/>
            <a:ext cx="219456" cy="219456"/>
          </a:xfrm>
          <a:prstGeom prst="rect">
            <a:avLst/>
          </a:prstGeom>
        </p:spPr>
      </p:pic>
      <p:sp>
        <p:nvSpPr>
          <p:cNvPr id="11" name="Text 7"/>
          <p:cNvSpPr/>
          <p:nvPr/>
        </p:nvSpPr>
        <p:spPr>
          <a:xfrm>
            <a:off x="1051560" y="1481328"/>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第2章</a:t>
            </a:r>
            <a:endParaRPr lang="en-US" sz="1300" dirty="0"/>
          </a:p>
        </p:txBody>
      </p:sp>
      <p:sp>
        <p:nvSpPr>
          <p:cNvPr id="12" name="Text 8"/>
          <p:cNvSpPr/>
          <p:nvPr/>
        </p:nvSpPr>
        <p:spPr>
          <a:xfrm>
            <a:off x="2103120" y="1481328"/>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法令・制度の基礎知識</a:t>
            </a:r>
            <a:endParaRPr lang="en-US" sz="1300" dirty="0"/>
          </a:p>
        </p:txBody>
      </p:sp>
      <p:sp>
        <p:nvSpPr>
          <p:cNvPr id="13" name="Shape 9"/>
          <p:cNvSpPr/>
          <p:nvPr/>
        </p:nvSpPr>
        <p:spPr>
          <a:xfrm>
            <a:off x="1051560" y="1920240"/>
            <a:ext cx="5943600" cy="9144"/>
          </a:xfrm>
          <a:prstGeom prst="rect">
            <a:avLst/>
          </a:prstGeom>
          <a:solidFill>
            <a:srgbClr val="CBD5E1"/>
          </a:solidFill>
          <a:ln/>
        </p:spPr>
      </p:sp>
      <p:sp>
        <p:nvSpPr>
          <p:cNvPr id="14" name="Shape 10"/>
          <p:cNvSpPr/>
          <p:nvPr/>
        </p:nvSpPr>
        <p:spPr>
          <a:xfrm>
            <a:off x="548640" y="1984248"/>
            <a:ext cx="347472" cy="347472"/>
          </a:xfrm>
          <a:prstGeom prst="oval">
            <a:avLst/>
          </a:prstGeom>
          <a:solidFill>
            <a:srgbClr val="2A9D8F"/>
          </a:solidFill>
          <a:ln/>
        </p:spPr>
      </p:sp>
      <p:pic>
        <p:nvPicPr>
          <p:cNvPr id="15" name="Image 2" descr="preencoded.png">    </p:cNvPr>
          <p:cNvPicPr>
            <a:picLocks noChangeAspect="1"/>
          </p:cNvPicPr>
          <p:nvPr/>
        </p:nvPicPr>
        <p:blipFill>
          <a:blip r:embed="rId3"/>
          <a:stretch>
            <a:fillRect/>
          </a:stretch>
        </p:blipFill>
        <p:spPr>
          <a:xfrm>
            <a:off x="612648" y="2048256"/>
            <a:ext cx="219456" cy="219456"/>
          </a:xfrm>
          <a:prstGeom prst="rect">
            <a:avLst/>
          </a:prstGeom>
        </p:spPr>
      </p:pic>
      <p:sp>
        <p:nvSpPr>
          <p:cNvPr id="16" name="Text 11"/>
          <p:cNvSpPr/>
          <p:nvPr/>
        </p:nvSpPr>
        <p:spPr>
          <a:xfrm>
            <a:off x="1051560" y="1956816"/>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第3章</a:t>
            </a:r>
            <a:endParaRPr lang="en-US" sz="1300" dirty="0"/>
          </a:p>
        </p:txBody>
      </p:sp>
      <p:sp>
        <p:nvSpPr>
          <p:cNvPr id="17" name="Text 12"/>
          <p:cNvSpPr/>
          <p:nvPr/>
        </p:nvSpPr>
        <p:spPr>
          <a:xfrm>
            <a:off x="2103120" y="1956816"/>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個別支援計画の作成と運用</a:t>
            </a:r>
            <a:endParaRPr lang="en-US" sz="1300" dirty="0"/>
          </a:p>
        </p:txBody>
      </p:sp>
      <p:sp>
        <p:nvSpPr>
          <p:cNvPr id="18" name="Shape 13"/>
          <p:cNvSpPr/>
          <p:nvPr/>
        </p:nvSpPr>
        <p:spPr>
          <a:xfrm>
            <a:off x="1051560" y="2395728"/>
            <a:ext cx="5943600" cy="9144"/>
          </a:xfrm>
          <a:prstGeom prst="rect">
            <a:avLst/>
          </a:prstGeom>
          <a:solidFill>
            <a:srgbClr val="CBD5E1"/>
          </a:solidFill>
          <a:ln/>
        </p:spPr>
      </p:sp>
      <p:sp>
        <p:nvSpPr>
          <p:cNvPr id="19" name="Shape 14"/>
          <p:cNvSpPr/>
          <p:nvPr/>
        </p:nvSpPr>
        <p:spPr>
          <a:xfrm>
            <a:off x="548640" y="2459736"/>
            <a:ext cx="347472" cy="347472"/>
          </a:xfrm>
          <a:prstGeom prst="oval">
            <a:avLst/>
          </a:prstGeom>
          <a:solidFill>
            <a:srgbClr val="2A9D8F"/>
          </a:solidFill>
          <a:ln/>
        </p:spPr>
      </p:sp>
      <p:pic>
        <p:nvPicPr>
          <p:cNvPr id="20" name="Image 3" descr="preencoded.png">    </p:cNvPr>
          <p:cNvPicPr>
            <a:picLocks noChangeAspect="1"/>
          </p:cNvPicPr>
          <p:nvPr/>
        </p:nvPicPr>
        <p:blipFill>
          <a:blip r:embed="rId4"/>
          <a:stretch>
            <a:fillRect/>
          </a:stretch>
        </p:blipFill>
        <p:spPr>
          <a:xfrm>
            <a:off x="612648" y="2523744"/>
            <a:ext cx="219456" cy="219456"/>
          </a:xfrm>
          <a:prstGeom prst="rect">
            <a:avLst/>
          </a:prstGeom>
        </p:spPr>
      </p:pic>
      <p:sp>
        <p:nvSpPr>
          <p:cNvPr id="21" name="Text 15"/>
          <p:cNvSpPr/>
          <p:nvPr/>
        </p:nvSpPr>
        <p:spPr>
          <a:xfrm>
            <a:off x="1051560" y="2432304"/>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第4章</a:t>
            </a:r>
            <a:endParaRPr lang="en-US" sz="1300" dirty="0"/>
          </a:p>
        </p:txBody>
      </p:sp>
      <p:sp>
        <p:nvSpPr>
          <p:cNvPr id="22" name="Text 16"/>
          <p:cNvSpPr/>
          <p:nvPr/>
        </p:nvSpPr>
        <p:spPr>
          <a:xfrm>
            <a:off x="2103120" y="2432304"/>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日常の支援業務</a:t>
            </a:r>
            <a:endParaRPr lang="en-US" sz="1300" dirty="0"/>
          </a:p>
        </p:txBody>
      </p:sp>
      <p:sp>
        <p:nvSpPr>
          <p:cNvPr id="23" name="Shape 17"/>
          <p:cNvSpPr/>
          <p:nvPr/>
        </p:nvSpPr>
        <p:spPr>
          <a:xfrm>
            <a:off x="1051560" y="2871216"/>
            <a:ext cx="5943600" cy="9144"/>
          </a:xfrm>
          <a:prstGeom prst="rect">
            <a:avLst/>
          </a:prstGeom>
          <a:solidFill>
            <a:srgbClr val="CBD5E1"/>
          </a:solidFill>
          <a:ln/>
        </p:spPr>
      </p:sp>
      <p:sp>
        <p:nvSpPr>
          <p:cNvPr id="24" name="Shape 18"/>
          <p:cNvSpPr/>
          <p:nvPr/>
        </p:nvSpPr>
        <p:spPr>
          <a:xfrm>
            <a:off x="548640" y="2935224"/>
            <a:ext cx="347472" cy="347472"/>
          </a:xfrm>
          <a:prstGeom prst="oval">
            <a:avLst/>
          </a:prstGeom>
          <a:solidFill>
            <a:srgbClr val="2A9D8F"/>
          </a:solidFill>
          <a:ln/>
        </p:spPr>
      </p:sp>
      <p:pic>
        <p:nvPicPr>
          <p:cNvPr id="25" name="Image 4" descr="preencoded.png">    </p:cNvPr>
          <p:cNvPicPr>
            <a:picLocks noChangeAspect="1"/>
          </p:cNvPicPr>
          <p:nvPr/>
        </p:nvPicPr>
        <p:blipFill>
          <a:blip r:embed="rId5"/>
          <a:stretch>
            <a:fillRect/>
          </a:stretch>
        </p:blipFill>
        <p:spPr>
          <a:xfrm>
            <a:off x="612648" y="2999232"/>
            <a:ext cx="219456" cy="219456"/>
          </a:xfrm>
          <a:prstGeom prst="rect">
            <a:avLst/>
          </a:prstGeom>
        </p:spPr>
      </p:pic>
      <p:sp>
        <p:nvSpPr>
          <p:cNvPr id="26" name="Text 19"/>
          <p:cNvSpPr/>
          <p:nvPr/>
        </p:nvSpPr>
        <p:spPr>
          <a:xfrm>
            <a:off x="1051560" y="2907792"/>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第5章</a:t>
            </a:r>
            <a:endParaRPr lang="en-US" sz="1300" dirty="0"/>
          </a:p>
        </p:txBody>
      </p:sp>
      <p:sp>
        <p:nvSpPr>
          <p:cNvPr id="27" name="Text 20"/>
          <p:cNvSpPr/>
          <p:nvPr/>
        </p:nvSpPr>
        <p:spPr>
          <a:xfrm>
            <a:off x="2103120" y="2907792"/>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事業種別ごとの実務ポイント</a:t>
            </a:r>
            <a:endParaRPr lang="en-US" sz="1300" dirty="0"/>
          </a:p>
        </p:txBody>
      </p:sp>
      <p:sp>
        <p:nvSpPr>
          <p:cNvPr id="28" name="Shape 21"/>
          <p:cNvSpPr/>
          <p:nvPr/>
        </p:nvSpPr>
        <p:spPr>
          <a:xfrm>
            <a:off x="1051560" y="3346704"/>
            <a:ext cx="5943600" cy="9144"/>
          </a:xfrm>
          <a:prstGeom prst="rect">
            <a:avLst/>
          </a:prstGeom>
          <a:solidFill>
            <a:srgbClr val="CBD5E1"/>
          </a:solidFill>
          <a:ln/>
        </p:spPr>
      </p:sp>
      <p:sp>
        <p:nvSpPr>
          <p:cNvPr id="29" name="Shape 22"/>
          <p:cNvSpPr/>
          <p:nvPr/>
        </p:nvSpPr>
        <p:spPr>
          <a:xfrm>
            <a:off x="548640" y="3410712"/>
            <a:ext cx="347472" cy="347472"/>
          </a:xfrm>
          <a:prstGeom prst="oval">
            <a:avLst/>
          </a:prstGeom>
          <a:solidFill>
            <a:srgbClr val="2A9D8F"/>
          </a:solidFill>
          <a:ln/>
        </p:spPr>
      </p:sp>
      <p:pic>
        <p:nvPicPr>
          <p:cNvPr id="30" name="Image 5" descr="preencoded.png">    </p:cNvPr>
          <p:cNvPicPr>
            <a:picLocks noChangeAspect="1"/>
          </p:cNvPicPr>
          <p:nvPr/>
        </p:nvPicPr>
        <p:blipFill>
          <a:blip r:embed="rId6"/>
          <a:stretch>
            <a:fillRect/>
          </a:stretch>
        </p:blipFill>
        <p:spPr>
          <a:xfrm>
            <a:off x="612648" y="3474720"/>
            <a:ext cx="219456" cy="219456"/>
          </a:xfrm>
          <a:prstGeom prst="rect">
            <a:avLst/>
          </a:prstGeom>
        </p:spPr>
      </p:pic>
      <p:sp>
        <p:nvSpPr>
          <p:cNvPr id="31" name="Text 23"/>
          <p:cNvSpPr/>
          <p:nvPr/>
        </p:nvSpPr>
        <p:spPr>
          <a:xfrm>
            <a:off x="1051560" y="3383280"/>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第6章</a:t>
            </a:r>
            <a:endParaRPr lang="en-US" sz="1300" dirty="0"/>
          </a:p>
        </p:txBody>
      </p:sp>
      <p:sp>
        <p:nvSpPr>
          <p:cNvPr id="32" name="Text 24"/>
          <p:cNvSpPr/>
          <p:nvPr/>
        </p:nvSpPr>
        <p:spPr>
          <a:xfrm>
            <a:off x="2103120" y="3383280"/>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リスク管理・権利擁護</a:t>
            </a:r>
            <a:endParaRPr lang="en-US" sz="1300" dirty="0"/>
          </a:p>
        </p:txBody>
      </p:sp>
      <p:sp>
        <p:nvSpPr>
          <p:cNvPr id="33" name="Shape 25"/>
          <p:cNvSpPr/>
          <p:nvPr/>
        </p:nvSpPr>
        <p:spPr>
          <a:xfrm>
            <a:off x="1051560" y="3822192"/>
            <a:ext cx="5943600" cy="9144"/>
          </a:xfrm>
          <a:prstGeom prst="rect">
            <a:avLst/>
          </a:prstGeom>
          <a:solidFill>
            <a:srgbClr val="CBD5E1"/>
          </a:solidFill>
          <a:ln/>
        </p:spPr>
      </p:sp>
      <p:sp>
        <p:nvSpPr>
          <p:cNvPr id="34" name="Shape 26"/>
          <p:cNvSpPr/>
          <p:nvPr/>
        </p:nvSpPr>
        <p:spPr>
          <a:xfrm>
            <a:off x="548640" y="3886200"/>
            <a:ext cx="347472" cy="347472"/>
          </a:xfrm>
          <a:prstGeom prst="oval">
            <a:avLst/>
          </a:prstGeom>
          <a:solidFill>
            <a:srgbClr val="2A9D8F"/>
          </a:solidFill>
          <a:ln/>
        </p:spPr>
      </p:sp>
      <p:pic>
        <p:nvPicPr>
          <p:cNvPr id="35" name="Image 6" descr="preencoded.png">    </p:cNvPr>
          <p:cNvPicPr>
            <a:picLocks noChangeAspect="1"/>
          </p:cNvPicPr>
          <p:nvPr/>
        </p:nvPicPr>
        <p:blipFill>
          <a:blip r:embed="rId7"/>
          <a:stretch>
            <a:fillRect/>
          </a:stretch>
        </p:blipFill>
        <p:spPr>
          <a:xfrm>
            <a:off x="612648" y="3950208"/>
            <a:ext cx="219456" cy="219456"/>
          </a:xfrm>
          <a:prstGeom prst="rect">
            <a:avLst/>
          </a:prstGeom>
        </p:spPr>
      </p:pic>
      <p:sp>
        <p:nvSpPr>
          <p:cNvPr id="36" name="Text 27"/>
          <p:cNvSpPr/>
          <p:nvPr/>
        </p:nvSpPr>
        <p:spPr>
          <a:xfrm>
            <a:off x="1051560" y="3858768"/>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第7章</a:t>
            </a:r>
            <a:endParaRPr lang="en-US" sz="1300" dirty="0"/>
          </a:p>
        </p:txBody>
      </p:sp>
      <p:sp>
        <p:nvSpPr>
          <p:cNvPr id="37" name="Text 28"/>
          <p:cNvSpPr/>
          <p:nvPr/>
        </p:nvSpPr>
        <p:spPr>
          <a:xfrm>
            <a:off x="2103120" y="3858768"/>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組織運営と人材育成</a:t>
            </a:r>
            <a:endParaRPr lang="en-US" sz="1300" dirty="0"/>
          </a:p>
        </p:txBody>
      </p:sp>
      <p:sp>
        <p:nvSpPr>
          <p:cNvPr id="38" name="Shape 29"/>
          <p:cNvSpPr/>
          <p:nvPr/>
        </p:nvSpPr>
        <p:spPr>
          <a:xfrm>
            <a:off x="1051560" y="4297680"/>
            <a:ext cx="5943600" cy="9144"/>
          </a:xfrm>
          <a:prstGeom prst="rect">
            <a:avLst/>
          </a:prstGeom>
          <a:solidFill>
            <a:srgbClr val="CBD5E1"/>
          </a:solidFill>
          <a:ln/>
        </p:spPr>
      </p:sp>
      <p:sp>
        <p:nvSpPr>
          <p:cNvPr id="39" name="Shape 30"/>
          <p:cNvSpPr/>
          <p:nvPr/>
        </p:nvSpPr>
        <p:spPr>
          <a:xfrm>
            <a:off x="548640" y="4361688"/>
            <a:ext cx="347472" cy="347472"/>
          </a:xfrm>
          <a:prstGeom prst="oval">
            <a:avLst/>
          </a:prstGeom>
          <a:solidFill>
            <a:srgbClr val="2A9D8F"/>
          </a:solidFill>
          <a:ln/>
        </p:spPr>
      </p:sp>
      <p:pic>
        <p:nvPicPr>
          <p:cNvPr id="40" name="Image 7" descr="preencoded.png">    </p:cNvPr>
          <p:cNvPicPr>
            <a:picLocks noChangeAspect="1"/>
          </p:cNvPicPr>
          <p:nvPr/>
        </p:nvPicPr>
        <p:blipFill>
          <a:blip r:embed="rId8"/>
          <a:stretch>
            <a:fillRect/>
          </a:stretch>
        </p:blipFill>
        <p:spPr>
          <a:xfrm>
            <a:off x="612648" y="4425696"/>
            <a:ext cx="219456" cy="219456"/>
          </a:xfrm>
          <a:prstGeom prst="rect">
            <a:avLst/>
          </a:prstGeom>
        </p:spPr>
      </p:pic>
      <p:sp>
        <p:nvSpPr>
          <p:cNvPr id="41" name="Text 31"/>
          <p:cNvSpPr/>
          <p:nvPr/>
        </p:nvSpPr>
        <p:spPr>
          <a:xfrm>
            <a:off x="1051560" y="4334256"/>
            <a:ext cx="1097280" cy="402336"/>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第8章</a:t>
            </a:r>
            <a:endParaRPr lang="en-US" sz="1300" dirty="0"/>
          </a:p>
        </p:txBody>
      </p:sp>
      <p:sp>
        <p:nvSpPr>
          <p:cNvPr id="42" name="Text 32"/>
          <p:cNvSpPr/>
          <p:nvPr/>
        </p:nvSpPr>
        <p:spPr>
          <a:xfrm>
            <a:off x="2103120" y="4334256"/>
            <a:ext cx="4572000" cy="402336"/>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外部連携</a:t>
            </a:r>
            <a:endParaRPr lang="en-US" sz="1300" dirty="0"/>
          </a:p>
        </p:txBody>
      </p:sp>
      <p:sp>
        <p:nvSpPr>
          <p:cNvPr id="43" name="Text 33"/>
          <p:cNvSpPr/>
          <p:nvPr/>
        </p:nvSpPr>
        <p:spPr>
          <a:xfrm>
            <a:off x="1051560" y="4855464"/>
            <a:ext cx="640080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付録：用語集・関連法令一覧・チェックリスト・様式集</a:t>
            </a:r>
            <a:endParaRPr lang="en-US" sz="1100" dirty="0"/>
          </a:p>
        </p:txBody>
      </p:sp>
      <p:sp>
        <p:nvSpPr>
          <p:cNvPr id="44" name="Text 34"/>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- 1 -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第1章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就労支援事業の全体像</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A型・B型・移行支援の比較</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- 2 -</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914400"/>
        </p:xfrm>
        <a:graphic>
          <a:graphicData uri="http://schemas.openxmlformats.org/drawingml/2006/table">
            <a:tbl>
              <a:tblPr/>
              <a:tblGrid>
                <a:gridCol w="1463040"/>
                <a:gridCol w="2286000"/>
                <a:gridCol w="2286000"/>
                <a:gridCol w="2286000"/>
              </a:tblGrid>
              <a:tr h="320040">
                <a:tc>
                  <a:txBody>
                    <a:bodyPr/>
                    <a:lstStyle/>
                    <a:p>
                      <a:pPr algn="ctr" indent="0" marL="0">
                        <a:buNone/>
                      </a:pP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就労継続支援A型</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就労継続支援B型</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就労移行支援</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r>
              <a:tr h="548640">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目的</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雇用契約に基づく就労機会を提供し、知識・能力の向上を図る</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就労機会を提供し、生産活動を通じて知識・能力の向上を図る</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一般企業等への就労に必要な知識・能力向上のための訓練を行う</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457200">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雇用契約</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あり（労働者としての権利保障）</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なし（利用契約のみ）</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なし（利用契約のみ）</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利用期間</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制限なし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制限なし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原則2年</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賃金/工賃</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最低賃金以上の賃金</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工賃（最低賃金の適用なし）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なし（訓練のため）</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65760">
                <a:tc>
                  <a:txBody>
                    <a:bodyPr/>
                    <a:lstStyle/>
                    <a:p>
                      <a:pPr indent="0" marL="0">
                        <a:buNone/>
                      </a:pPr>
                      <a:r>
                        <a:rPr lang="en-US" sz="900" b="1" dirty="0">
                          <a:solidFill>
                            <a:srgbClr val="1E293B"/>
                          </a:solidFill>
                          <a:latin typeface="Calibri" pitchFamily="34" charset="0"/>
                          <a:ea typeface="Calibri" pitchFamily="34" charset="-122"/>
                          <a:cs typeface="Calibri" pitchFamily="34" charset="-120"/>
                        </a:rPr>
                        <a:t>労働法</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全面適用</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原則として適用なし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原則として適用なし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7" name="Text 4"/>
          <p:cNvSpPr/>
          <p:nvPr/>
        </p:nvSpPr>
        <p:spPr>
          <a:xfrm>
            <a:off x="548640" y="4069080"/>
            <a:ext cx="7315200" cy="27432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出典：障害者総合支援法 第5条第13項〜第15項、指定基準省令</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利用者の流れ</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- 3 -</a:t>
            </a:r>
            <a:endParaRPr lang="en-US" sz="900" dirty="0"/>
          </a:p>
        </p:txBody>
      </p:sp>
      <p:sp>
        <p:nvSpPr>
          <p:cNvPr id="6" name="Shape 4"/>
          <p:cNvSpPr/>
          <p:nvPr/>
        </p:nvSpPr>
        <p:spPr>
          <a:xfrm>
            <a:off x="320040" y="1097280"/>
            <a:ext cx="15544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822960" y="1234440"/>
            <a:ext cx="548640" cy="548640"/>
          </a:xfrm>
          <a:prstGeom prst="oval">
            <a:avLst/>
          </a:prstGeom>
          <a:solidFill>
            <a:srgbClr val="2A9D8F"/>
          </a:solidFill>
          <a:ln/>
        </p:spPr>
      </p:sp>
      <p:sp>
        <p:nvSpPr>
          <p:cNvPr id="8" name="Text 6"/>
          <p:cNvSpPr/>
          <p:nvPr/>
        </p:nvSpPr>
        <p:spPr>
          <a:xfrm>
            <a:off x="82296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411480" y="1920240"/>
            <a:ext cx="1371600" cy="411480"/>
          </a:xfrm>
          <a:prstGeom prst="rect">
            <a:avLst/>
          </a:prstGeom>
          <a:noFill/>
          <a:ln/>
        </p:spPr>
        <p:txBody>
          <a:bodyPr wrap="square" rtlCol="0" anchor="ctr"/>
          <a:lstStyle/>
          <a:p>
            <a:pPr algn="ctr" indent="0" marL="0">
              <a:buNone/>
            </a:pPr>
            <a:r>
              <a:rPr lang="en-US" sz="1300" b="1" dirty="0">
                <a:solidFill>
                  <a:srgbClr val="1A6B5E"/>
                </a:solidFill>
                <a:latin typeface="Calibri" pitchFamily="34" charset="0"/>
                <a:ea typeface="Calibri" pitchFamily="34" charset="-122"/>
                <a:cs typeface="Calibri" pitchFamily="34" charset="-120"/>
              </a:rPr>
              <a:t>相談・申込</a:t>
            </a:r>
            <a:endParaRPr lang="en-US" sz="1300" dirty="0"/>
          </a:p>
        </p:txBody>
      </p:sp>
      <p:sp>
        <p:nvSpPr>
          <p:cNvPr id="10" name="Text 8"/>
          <p:cNvSpPr/>
          <p:nvPr/>
        </p:nvSpPr>
        <p:spPr>
          <a:xfrm>
            <a:off x="411480" y="2377440"/>
            <a:ext cx="1371600" cy="1097280"/>
          </a:xfrm>
          <a:prstGeom prst="rect">
            <a:avLst/>
          </a:prstGeom>
          <a:noFill/>
          <a:ln/>
        </p:spPr>
        <p:txBody>
          <a:bodyPr wrap="square"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市町村の相談支援事業所</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または事業所に直接相談</a:t>
            </a:r>
            <a:endParaRPr lang="en-US" sz="1000" dirty="0"/>
          </a:p>
        </p:txBody>
      </p:sp>
      <p:pic>
        <p:nvPicPr>
          <p:cNvPr id="11" name="Image 0" descr="preencoded.png">    </p:cNvPr>
          <p:cNvPicPr>
            <a:picLocks noChangeAspect="1"/>
          </p:cNvPicPr>
          <p:nvPr/>
        </p:nvPicPr>
        <p:blipFill>
          <a:blip r:embed="rId1"/>
          <a:stretch>
            <a:fillRect/>
          </a:stretch>
        </p:blipFill>
        <p:spPr>
          <a:xfrm>
            <a:off x="1892808" y="2148840"/>
            <a:ext cx="146304" cy="146304"/>
          </a:xfrm>
          <a:prstGeom prst="rect">
            <a:avLst/>
          </a:prstGeom>
        </p:spPr>
      </p:pic>
      <p:sp>
        <p:nvSpPr>
          <p:cNvPr id="12" name="Shape 9"/>
          <p:cNvSpPr/>
          <p:nvPr/>
        </p:nvSpPr>
        <p:spPr>
          <a:xfrm>
            <a:off x="2057400" y="1097280"/>
            <a:ext cx="15544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0"/>
          <p:cNvSpPr/>
          <p:nvPr/>
        </p:nvSpPr>
        <p:spPr>
          <a:xfrm>
            <a:off x="2560320" y="1234440"/>
            <a:ext cx="548640" cy="548640"/>
          </a:xfrm>
          <a:prstGeom prst="oval">
            <a:avLst/>
          </a:prstGeom>
          <a:solidFill>
            <a:srgbClr val="2A9D8F"/>
          </a:solidFill>
          <a:ln/>
        </p:spPr>
      </p:sp>
      <p:sp>
        <p:nvSpPr>
          <p:cNvPr id="14" name="Text 11"/>
          <p:cNvSpPr/>
          <p:nvPr/>
        </p:nvSpPr>
        <p:spPr>
          <a:xfrm>
            <a:off x="256032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2148840" y="1920240"/>
            <a:ext cx="1371600" cy="411480"/>
          </a:xfrm>
          <a:prstGeom prst="rect">
            <a:avLst/>
          </a:prstGeom>
          <a:noFill/>
          <a:ln/>
        </p:spPr>
        <p:txBody>
          <a:bodyPr wrap="square" rtlCol="0" anchor="ctr"/>
          <a:lstStyle/>
          <a:p>
            <a:pPr algn="ctr" indent="0" marL="0">
              <a:buNone/>
            </a:pPr>
            <a:r>
              <a:rPr lang="en-US" sz="1300" b="1" dirty="0">
                <a:solidFill>
                  <a:srgbClr val="1A6B5E"/>
                </a:solidFill>
                <a:latin typeface="Calibri" pitchFamily="34" charset="0"/>
                <a:ea typeface="Calibri" pitchFamily="34" charset="-122"/>
                <a:cs typeface="Calibri" pitchFamily="34" charset="-120"/>
              </a:rPr>
              <a:t>アセスメント</a:t>
            </a:r>
            <a:endParaRPr lang="en-US" sz="1300" dirty="0"/>
          </a:p>
        </p:txBody>
      </p:sp>
      <p:sp>
        <p:nvSpPr>
          <p:cNvPr id="16" name="Text 13"/>
          <p:cNvSpPr/>
          <p:nvPr/>
        </p:nvSpPr>
        <p:spPr>
          <a:xfrm>
            <a:off x="2148840" y="2377440"/>
            <a:ext cx="1371600" cy="1097280"/>
          </a:xfrm>
          <a:prstGeom prst="rect">
            <a:avLst/>
          </a:prstGeom>
          <a:noFill/>
          <a:ln/>
        </p:spPr>
        <p:txBody>
          <a:bodyPr wrap="square"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希望・強み・環境因子を</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含む多面的な情報収集</a:t>
            </a:r>
            <a:endParaRPr lang="en-US" sz="1000" dirty="0"/>
          </a:p>
        </p:txBody>
      </p:sp>
      <p:pic>
        <p:nvPicPr>
          <p:cNvPr id="17" name="Image 1" descr="preencoded.png">    </p:cNvPr>
          <p:cNvPicPr>
            <a:picLocks noChangeAspect="1"/>
          </p:cNvPicPr>
          <p:nvPr/>
        </p:nvPicPr>
        <p:blipFill>
          <a:blip r:embed="rId2"/>
          <a:stretch>
            <a:fillRect/>
          </a:stretch>
        </p:blipFill>
        <p:spPr>
          <a:xfrm>
            <a:off x="3630168" y="2148840"/>
            <a:ext cx="146304" cy="146304"/>
          </a:xfrm>
          <a:prstGeom prst="rect">
            <a:avLst/>
          </a:prstGeom>
        </p:spPr>
      </p:pic>
      <p:sp>
        <p:nvSpPr>
          <p:cNvPr id="18" name="Shape 14"/>
          <p:cNvSpPr/>
          <p:nvPr/>
        </p:nvSpPr>
        <p:spPr>
          <a:xfrm>
            <a:off x="3794760" y="1097280"/>
            <a:ext cx="15544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5"/>
          <p:cNvSpPr/>
          <p:nvPr/>
        </p:nvSpPr>
        <p:spPr>
          <a:xfrm>
            <a:off x="4297680" y="1234440"/>
            <a:ext cx="548640" cy="548640"/>
          </a:xfrm>
          <a:prstGeom prst="oval">
            <a:avLst/>
          </a:prstGeom>
          <a:solidFill>
            <a:srgbClr val="2A9D8F"/>
          </a:solidFill>
          <a:ln/>
        </p:spPr>
      </p:sp>
      <p:sp>
        <p:nvSpPr>
          <p:cNvPr id="20" name="Text 16"/>
          <p:cNvSpPr/>
          <p:nvPr/>
        </p:nvSpPr>
        <p:spPr>
          <a:xfrm>
            <a:off x="429768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7"/>
          <p:cNvSpPr/>
          <p:nvPr/>
        </p:nvSpPr>
        <p:spPr>
          <a:xfrm>
            <a:off x="3886200" y="1920240"/>
            <a:ext cx="1371600" cy="411480"/>
          </a:xfrm>
          <a:prstGeom prst="rect">
            <a:avLst/>
          </a:prstGeom>
          <a:noFill/>
          <a:ln/>
        </p:spPr>
        <p:txBody>
          <a:bodyPr wrap="square" rtlCol="0" anchor="ctr"/>
          <a:lstStyle/>
          <a:p>
            <a:pPr algn="ctr" indent="0" marL="0">
              <a:buNone/>
            </a:pPr>
            <a:r>
              <a:rPr lang="en-US" sz="1300" b="1" dirty="0">
                <a:solidFill>
                  <a:srgbClr val="1A6B5E"/>
                </a:solidFill>
                <a:latin typeface="Calibri" pitchFamily="34" charset="0"/>
                <a:ea typeface="Calibri" pitchFamily="34" charset="-122"/>
                <a:cs typeface="Calibri" pitchFamily="34" charset="-120"/>
              </a:rPr>
              <a:t>利用開始</a:t>
            </a:r>
            <a:endParaRPr lang="en-US" sz="1300" dirty="0"/>
          </a:p>
        </p:txBody>
      </p:sp>
      <p:sp>
        <p:nvSpPr>
          <p:cNvPr id="22" name="Text 18"/>
          <p:cNvSpPr/>
          <p:nvPr/>
        </p:nvSpPr>
        <p:spPr>
          <a:xfrm>
            <a:off x="3886200" y="2377440"/>
            <a:ext cx="1371600" cy="1097280"/>
          </a:xfrm>
          <a:prstGeom prst="rect">
            <a:avLst/>
          </a:prstGeom>
          <a:noFill/>
          <a:ln/>
        </p:spPr>
        <p:txBody>
          <a:bodyPr wrap="square"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受給者証の交付</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利用契約・個別支援計画</a:t>
            </a:r>
            <a:endParaRPr lang="en-US" sz="1000" dirty="0"/>
          </a:p>
        </p:txBody>
      </p:sp>
      <p:pic>
        <p:nvPicPr>
          <p:cNvPr id="23" name="Image 2" descr="preencoded.png">    </p:cNvPr>
          <p:cNvPicPr>
            <a:picLocks noChangeAspect="1"/>
          </p:cNvPicPr>
          <p:nvPr/>
        </p:nvPicPr>
        <p:blipFill>
          <a:blip r:embed="rId3"/>
          <a:stretch>
            <a:fillRect/>
          </a:stretch>
        </p:blipFill>
        <p:spPr>
          <a:xfrm>
            <a:off x="5367528" y="2148840"/>
            <a:ext cx="146304" cy="146304"/>
          </a:xfrm>
          <a:prstGeom prst="rect">
            <a:avLst/>
          </a:prstGeom>
        </p:spPr>
      </p:pic>
      <p:sp>
        <p:nvSpPr>
          <p:cNvPr id="24" name="Shape 19"/>
          <p:cNvSpPr/>
          <p:nvPr/>
        </p:nvSpPr>
        <p:spPr>
          <a:xfrm>
            <a:off x="5532120" y="1097280"/>
            <a:ext cx="15544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5" name="Shape 20"/>
          <p:cNvSpPr/>
          <p:nvPr/>
        </p:nvSpPr>
        <p:spPr>
          <a:xfrm>
            <a:off x="6035040" y="1234440"/>
            <a:ext cx="548640" cy="548640"/>
          </a:xfrm>
          <a:prstGeom prst="oval">
            <a:avLst/>
          </a:prstGeom>
          <a:solidFill>
            <a:srgbClr val="2A9D8F"/>
          </a:solidFill>
          <a:ln/>
        </p:spPr>
      </p:sp>
      <p:sp>
        <p:nvSpPr>
          <p:cNvPr id="26" name="Text 21"/>
          <p:cNvSpPr/>
          <p:nvPr/>
        </p:nvSpPr>
        <p:spPr>
          <a:xfrm>
            <a:off x="603504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2"/>
          <p:cNvSpPr/>
          <p:nvPr/>
        </p:nvSpPr>
        <p:spPr>
          <a:xfrm>
            <a:off x="5623560" y="1920240"/>
            <a:ext cx="1371600" cy="411480"/>
          </a:xfrm>
          <a:prstGeom prst="rect">
            <a:avLst/>
          </a:prstGeom>
          <a:noFill/>
          <a:ln/>
        </p:spPr>
        <p:txBody>
          <a:bodyPr wrap="square" rtlCol="0" anchor="ctr"/>
          <a:lstStyle/>
          <a:p>
            <a:pPr algn="ctr" indent="0" marL="0">
              <a:buNone/>
            </a:pPr>
            <a:r>
              <a:rPr lang="en-US" sz="1300" b="1" dirty="0">
                <a:solidFill>
                  <a:srgbClr val="1A6B5E"/>
                </a:solidFill>
                <a:latin typeface="Calibri" pitchFamily="34" charset="0"/>
                <a:ea typeface="Calibri" pitchFamily="34" charset="-122"/>
                <a:cs typeface="Calibri" pitchFamily="34" charset="-120"/>
              </a:rPr>
              <a:t>支援の実施</a:t>
            </a:r>
            <a:endParaRPr lang="en-US" sz="1300" dirty="0"/>
          </a:p>
        </p:txBody>
      </p:sp>
      <p:sp>
        <p:nvSpPr>
          <p:cNvPr id="28" name="Text 23"/>
          <p:cNvSpPr/>
          <p:nvPr/>
        </p:nvSpPr>
        <p:spPr>
          <a:xfrm>
            <a:off x="5623560" y="2377440"/>
            <a:ext cx="1371600" cy="1097280"/>
          </a:xfrm>
          <a:prstGeom prst="rect">
            <a:avLst/>
          </a:prstGeom>
          <a:noFill/>
          <a:ln/>
        </p:spPr>
        <p:txBody>
          <a:bodyPr wrap="square"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作業支援・訓練・</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環境調整・合理的配慮</a:t>
            </a:r>
            <a:endParaRPr lang="en-US" sz="1000" dirty="0"/>
          </a:p>
        </p:txBody>
      </p:sp>
      <p:pic>
        <p:nvPicPr>
          <p:cNvPr id="29" name="Image 3" descr="preencoded.png">    </p:cNvPr>
          <p:cNvPicPr>
            <a:picLocks noChangeAspect="1"/>
          </p:cNvPicPr>
          <p:nvPr/>
        </p:nvPicPr>
        <p:blipFill>
          <a:blip r:embed="rId4"/>
          <a:stretch>
            <a:fillRect/>
          </a:stretch>
        </p:blipFill>
        <p:spPr>
          <a:xfrm>
            <a:off x="7104888" y="2148840"/>
            <a:ext cx="146304" cy="146304"/>
          </a:xfrm>
          <a:prstGeom prst="rect">
            <a:avLst/>
          </a:prstGeom>
        </p:spPr>
      </p:pic>
      <p:sp>
        <p:nvSpPr>
          <p:cNvPr id="30" name="Shape 24"/>
          <p:cNvSpPr/>
          <p:nvPr/>
        </p:nvSpPr>
        <p:spPr>
          <a:xfrm>
            <a:off x="7269480" y="1097280"/>
            <a:ext cx="15544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31" name="Shape 25"/>
          <p:cNvSpPr/>
          <p:nvPr/>
        </p:nvSpPr>
        <p:spPr>
          <a:xfrm>
            <a:off x="7772400" y="1234440"/>
            <a:ext cx="548640" cy="548640"/>
          </a:xfrm>
          <a:prstGeom prst="oval">
            <a:avLst/>
          </a:prstGeom>
          <a:solidFill>
            <a:srgbClr val="2A9D8F"/>
          </a:solidFill>
          <a:ln/>
        </p:spPr>
      </p:sp>
      <p:sp>
        <p:nvSpPr>
          <p:cNvPr id="32" name="Text 26"/>
          <p:cNvSpPr/>
          <p:nvPr/>
        </p:nvSpPr>
        <p:spPr>
          <a:xfrm>
            <a:off x="7772400" y="123444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3" name="Text 27"/>
          <p:cNvSpPr/>
          <p:nvPr/>
        </p:nvSpPr>
        <p:spPr>
          <a:xfrm>
            <a:off x="7360920" y="1920240"/>
            <a:ext cx="1371600" cy="411480"/>
          </a:xfrm>
          <a:prstGeom prst="rect">
            <a:avLst/>
          </a:prstGeom>
          <a:noFill/>
          <a:ln/>
        </p:spPr>
        <p:txBody>
          <a:bodyPr wrap="square" rtlCol="0" anchor="ctr"/>
          <a:lstStyle/>
          <a:p>
            <a:pPr algn="ctr" indent="0" marL="0">
              <a:buNone/>
            </a:pPr>
            <a:r>
              <a:rPr lang="en-US" sz="1300" b="1" dirty="0">
                <a:solidFill>
                  <a:srgbClr val="1A6B5E"/>
                </a:solidFill>
                <a:latin typeface="Calibri" pitchFamily="34" charset="0"/>
                <a:ea typeface="Calibri" pitchFamily="34" charset="-122"/>
                <a:cs typeface="Calibri" pitchFamily="34" charset="-120"/>
              </a:rPr>
              <a:t>移行・定着</a:t>
            </a:r>
            <a:endParaRPr lang="en-US" sz="1300" dirty="0"/>
          </a:p>
        </p:txBody>
      </p:sp>
      <p:sp>
        <p:nvSpPr>
          <p:cNvPr id="34" name="Text 28"/>
          <p:cNvSpPr/>
          <p:nvPr/>
        </p:nvSpPr>
        <p:spPr>
          <a:xfrm>
            <a:off x="7360920" y="2377440"/>
            <a:ext cx="1371600" cy="1097280"/>
          </a:xfrm>
          <a:prstGeom prst="rect">
            <a:avLst/>
          </a:prstGeom>
          <a:noFill/>
          <a:ln/>
        </p:spPr>
        <p:txBody>
          <a:bodyPr wrap="square"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一般就労への移行</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就労定着支援への接続</a:t>
            </a:r>
            <a:endParaRPr lang="en-US" sz="1000" dirty="0"/>
          </a:p>
        </p:txBody>
      </p:sp>
      <p:sp>
        <p:nvSpPr>
          <p:cNvPr id="35" name="Shape 29"/>
          <p:cNvSpPr/>
          <p:nvPr/>
        </p:nvSpPr>
        <p:spPr>
          <a:xfrm>
            <a:off x="457200" y="3977640"/>
            <a:ext cx="8229600" cy="457200"/>
          </a:xfrm>
          <a:prstGeom prst="rect">
            <a:avLst/>
          </a:prstGeom>
          <a:solidFill>
            <a:srgbClr val="FDE68A"/>
          </a:solidFill>
          <a:ln/>
        </p:spPr>
      </p:sp>
      <p:sp>
        <p:nvSpPr>
          <p:cNvPr id="36" name="Text 30"/>
          <p:cNvSpPr/>
          <p:nvPr/>
        </p:nvSpPr>
        <p:spPr>
          <a:xfrm>
            <a:off x="594360" y="3977640"/>
            <a:ext cx="7955280" cy="457200"/>
          </a:xfrm>
          <a:prstGeom prst="rect">
            <a:avLst/>
          </a:prstGeom>
          <a:noFill/>
          <a:ln/>
        </p:spPr>
        <p:txBody>
          <a:bodyPr wrap="square" rtlCol="0" anchor="ctr"/>
          <a:lstStyle/>
          <a:p>
            <a:pPr indent="0" marL="0">
              <a:buNone/>
            </a:pPr>
            <a:r>
              <a:rPr lang="en-US" sz="1000" b="1" dirty="0">
                <a:solidFill>
                  <a:srgbClr val="78350F"/>
                </a:solidFill>
                <a:latin typeface="Calibri" pitchFamily="34" charset="0"/>
                <a:ea typeface="Calibri" pitchFamily="34" charset="-122"/>
                <a:cs typeface="Calibri" pitchFamily="34" charset="-120"/>
              </a:rPr>
              <a:t>※「意欲がない」ように見える場合でも、参加意欲に影響する要因（体調・環境・過去の経験等）を多面的にアセスメントすること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第2章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法令・制度の基礎知識</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障害者総合支援法の基本理念</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- 4 -</a:t>
            </a:r>
            <a:endParaRPr lang="en-US" sz="900" dirty="0"/>
          </a:p>
        </p:txBody>
      </p:sp>
      <p:sp>
        <p:nvSpPr>
          <p:cNvPr id="6" name="Shape 4"/>
          <p:cNvSpPr/>
          <p:nvPr/>
        </p:nvSpPr>
        <p:spPr>
          <a:xfrm>
            <a:off x="457200" y="1097280"/>
            <a:ext cx="2606040" cy="2377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97280"/>
            <a:ext cx="2606040" cy="54864"/>
          </a:xfrm>
          <a:prstGeom prst="rect">
            <a:avLst/>
          </a:prstGeom>
          <a:solidFill>
            <a:srgbClr val="2A9D8F"/>
          </a:solidFill>
          <a:ln/>
        </p:spPr>
      </p:sp>
      <p:sp>
        <p:nvSpPr>
          <p:cNvPr id="8" name="Text 6"/>
          <p:cNvSpPr/>
          <p:nvPr/>
        </p:nvSpPr>
        <p:spPr>
          <a:xfrm>
            <a:off x="594360" y="1280160"/>
            <a:ext cx="2331720" cy="411480"/>
          </a:xfrm>
          <a:prstGeom prst="rect">
            <a:avLst/>
          </a:prstGeom>
          <a:noFill/>
          <a:ln/>
        </p:spPr>
        <p:txBody>
          <a:bodyPr wrap="square" rtlCol="0" anchor="ctr"/>
          <a:lstStyle/>
          <a:p>
            <a:pPr indent="0" marL="0">
              <a:buNone/>
            </a:pPr>
            <a:r>
              <a:rPr lang="en-US" sz="1400" b="1" dirty="0">
                <a:solidFill>
                  <a:srgbClr val="1A6B5E"/>
                </a:solidFill>
                <a:latin typeface="Calibri" pitchFamily="34" charset="0"/>
                <a:ea typeface="Calibri" pitchFamily="34" charset="-122"/>
                <a:cs typeface="Calibri" pitchFamily="34" charset="-120"/>
              </a:rPr>
              <a:t>基本的人権の尊厳</a:t>
            </a:r>
            <a:endParaRPr lang="en-US" sz="1400" dirty="0"/>
          </a:p>
        </p:txBody>
      </p:sp>
      <p:sp>
        <p:nvSpPr>
          <p:cNvPr id="9" name="Text 7"/>
          <p:cNvSpPr/>
          <p:nvPr/>
        </p:nvSpPr>
        <p:spPr>
          <a:xfrm>
            <a:off x="594360" y="1737360"/>
            <a:ext cx="2331720" cy="15544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全ての障害者が、基本的人権を享有する個人としての尊厳にふさわしい日常生活又は社会生活を営むことができること</a:t>
            </a:r>
            <a:endParaRPr lang="en-US" sz="1100" dirty="0"/>
          </a:p>
        </p:txBody>
      </p:sp>
      <p:sp>
        <p:nvSpPr>
          <p:cNvPr id="10" name="Shape 8"/>
          <p:cNvSpPr/>
          <p:nvPr/>
        </p:nvSpPr>
        <p:spPr>
          <a:xfrm>
            <a:off x="3246120" y="1097280"/>
            <a:ext cx="2606040" cy="2377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3246120" y="1097280"/>
            <a:ext cx="2606040" cy="54864"/>
          </a:xfrm>
          <a:prstGeom prst="rect">
            <a:avLst/>
          </a:prstGeom>
          <a:solidFill>
            <a:srgbClr val="2A9D8F"/>
          </a:solidFill>
          <a:ln/>
        </p:spPr>
      </p:sp>
      <p:sp>
        <p:nvSpPr>
          <p:cNvPr id="12" name="Text 10"/>
          <p:cNvSpPr/>
          <p:nvPr/>
        </p:nvSpPr>
        <p:spPr>
          <a:xfrm>
            <a:off x="3383280" y="1280160"/>
            <a:ext cx="2331720" cy="411480"/>
          </a:xfrm>
          <a:prstGeom prst="rect">
            <a:avLst/>
          </a:prstGeom>
          <a:noFill/>
          <a:ln/>
        </p:spPr>
        <p:txBody>
          <a:bodyPr wrap="square" rtlCol="0" anchor="ctr"/>
          <a:lstStyle/>
          <a:p>
            <a:pPr indent="0" marL="0">
              <a:buNone/>
            </a:pPr>
            <a:r>
              <a:rPr lang="en-US" sz="1400" b="1" dirty="0">
                <a:solidFill>
                  <a:srgbClr val="1A6B5E"/>
                </a:solidFill>
                <a:latin typeface="Calibri" pitchFamily="34" charset="0"/>
                <a:ea typeface="Calibri" pitchFamily="34" charset="-122"/>
                <a:cs typeface="Calibri" pitchFamily="34" charset="-120"/>
              </a:rPr>
              <a:t>社会参加・共生</a:t>
            </a:r>
            <a:endParaRPr lang="en-US" sz="1400" dirty="0"/>
          </a:p>
        </p:txBody>
      </p:sp>
      <p:sp>
        <p:nvSpPr>
          <p:cNvPr id="13" name="Text 11"/>
          <p:cNvSpPr/>
          <p:nvPr/>
        </p:nvSpPr>
        <p:spPr>
          <a:xfrm>
            <a:off x="3383280" y="1737360"/>
            <a:ext cx="2331720" cy="15544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社会参加の機会の確保、地域社会における共生、社会的障壁の除去に資すること</a:t>
            </a:r>
            <a:endParaRPr lang="en-US" sz="1100" dirty="0"/>
          </a:p>
        </p:txBody>
      </p:sp>
      <p:sp>
        <p:nvSpPr>
          <p:cNvPr id="14" name="Shape 12"/>
          <p:cNvSpPr/>
          <p:nvPr/>
        </p:nvSpPr>
        <p:spPr>
          <a:xfrm>
            <a:off x="6035040" y="1097280"/>
            <a:ext cx="2606040" cy="2377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6035040" y="1097280"/>
            <a:ext cx="2606040" cy="54864"/>
          </a:xfrm>
          <a:prstGeom prst="rect">
            <a:avLst/>
          </a:prstGeom>
          <a:solidFill>
            <a:srgbClr val="2A9D8F"/>
          </a:solidFill>
          <a:ln/>
        </p:spPr>
      </p:sp>
      <p:sp>
        <p:nvSpPr>
          <p:cNvPr id="16" name="Text 14"/>
          <p:cNvSpPr/>
          <p:nvPr/>
        </p:nvSpPr>
        <p:spPr>
          <a:xfrm>
            <a:off x="6172200" y="1280160"/>
            <a:ext cx="2331720" cy="411480"/>
          </a:xfrm>
          <a:prstGeom prst="rect">
            <a:avLst/>
          </a:prstGeom>
          <a:noFill/>
          <a:ln/>
        </p:spPr>
        <p:txBody>
          <a:bodyPr wrap="square" rtlCol="0" anchor="ctr"/>
          <a:lstStyle/>
          <a:p>
            <a:pPr indent="0" marL="0">
              <a:buNone/>
            </a:pPr>
            <a:r>
              <a:rPr lang="en-US" sz="1400" b="1" dirty="0">
                <a:solidFill>
                  <a:srgbClr val="1A6B5E"/>
                </a:solidFill>
                <a:latin typeface="Calibri" pitchFamily="34" charset="0"/>
                <a:ea typeface="Calibri" pitchFamily="34" charset="-122"/>
                <a:cs typeface="Calibri" pitchFamily="34" charset="-120"/>
              </a:rPr>
              <a:t>意思決定支援</a:t>
            </a:r>
            <a:endParaRPr lang="en-US" sz="1400" dirty="0"/>
          </a:p>
        </p:txBody>
      </p:sp>
      <p:sp>
        <p:nvSpPr>
          <p:cNvPr id="17" name="Text 15"/>
          <p:cNvSpPr/>
          <p:nvPr/>
        </p:nvSpPr>
        <p:spPr>
          <a:xfrm>
            <a:off x="6172200" y="1737360"/>
            <a:ext cx="2331720" cy="1554480"/>
          </a:xfrm>
          <a:prstGeom prst="rect">
            <a:avLst/>
          </a:prstGeom>
          <a:noFill/>
          <a:ln/>
        </p:spPr>
        <p:txBody>
          <a:bodyPr wrap="square" rtlCol="0" anchor="t"/>
          <a:lstStyle/>
          <a:p>
            <a:pPr indent="0" marL="0">
              <a:buNone/>
            </a:pPr>
            <a:r>
              <a:rPr lang="en-US" sz="1100" dirty="0">
                <a:solidFill>
                  <a:srgbClr val="1E293B"/>
                </a:solidFill>
                <a:latin typeface="Calibri" pitchFamily="34" charset="0"/>
                <a:ea typeface="Calibri" pitchFamily="34" charset="-122"/>
                <a:cs typeface="Calibri" pitchFamily="34" charset="-120"/>
              </a:rPr>
              <a:t>障害者等の意思決定の支援に配慮すること — 本人の意思・選好を起点とした支援</a:t>
            </a:r>
            <a:endParaRPr lang="en-US" sz="1100" dirty="0"/>
          </a:p>
        </p:txBody>
      </p:sp>
      <p:sp>
        <p:nvSpPr>
          <p:cNvPr id="18" name="Text 16"/>
          <p:cNvSpPr/>
          <p:nvPr/>
        </p:nvSpPr>
        <p:spPr>
          <a:xfrm>
            <a:off x="548640" y="3657600"/>
            <a:ext cx="7315200" cy="27432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出典：障害者総合支援法 第1条の2</a:t>
            </a:r>
            <a:endParaRPr lang="en-US" sz="800" dirty="0"/>
          </a:p>
        </p:txBody>
      </p:sp>
      <p:sp>
        <p:nvSpPr>
          <p:cNvPr id="19" name="Shape 17"/>
          <p:cNvSpPr/>
          <p:nvPr/>
        </p:nvSpPr>
        <p:spPr>
          <a:xfrm>
            <a:off x="457200" y="4023360"/>
            <a:ext cx="8229600" cy="457200"/>
          </a:xfrm>
          <a:prstGeom prst="rect">
            <a:avLst/>
          </a:prstGeom>
          <a:solidFill>
            <a:srgbClr val="F0F7F5"/>
          </a:solidFill>
          <a:ln/>
        </p:spPr>
      </p:sp>
      <p:sp>
        <p:nvSpPr>
          <p:cNvPr id="20" name="Text 18"/>
          <p:cNvSpPr/>
          <p:nvPr/>
        </p:nvSpPr>
        <p:spPr>
          <a:xfrm>
            <a:off x="594360" y="4023360"/>
            <a:ext cx="7955280" cy="457200"/>
          </a:xfrm>
          <a:prstGeom prst="rect">
            <a:avLst/>
          </a:prstGeom>
          <a:noFill/>
          <a:ln/>
        </p:spPr>
        <p:txBody>
          <a:bodyPr wrap="square" rtlCol="0" anchor="ctr"/>
          <a:lstStyle/>
          <a:p>
            <a:pPr indent="0" marL="0">
              <a:buNone/>
            </a:pPr>
            <a:r>
              <a:rPr lang="en-US" sz="1100" b="1" dirty="0">
                <a:solidFill>
                  <a:srgbClr val="1A6B5E"/>
                </a:solidFill>
                <a:latin typeface="Calibri" pitchFamily="34" charset="0"/>
                <a:ea typeface="Calibri" pitchFamily="34" charset="-122"/>
                <a:cs typeface="Calibri" pitchFamily="34" charset="-120"/>
              </a:rPr>
              <a:t>2024年4月〜 障害者差別解消法改正：民間事業者にも合理的配慮の提供が法的義務化</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報酬の仕組み：事業種別ごとの算定方式</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- 5 -</a:t>
            </a:r>
            <a:endParaRPr lang="en-US" sz="900" dirty="0"/>
          </a:p>
        </p:txBody>
      </p:sp>
      <p:sp>
        <p:nvSpPr>
          <p:cNvPr id="6" name="Shape 4"/>
          <p:cNvSpPr/>
          <p:nvPr/>
        </p:nvSpPr>
        <p:spPr>
          <a:xfrm>
            <a:off x="457200" y="1051560"/>
            <a:ext cx="2606040" cy="3017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51560"/>
            <a:ext cx="2606040" cy="640080"/>
          </a:xfrm>
          <a:prstGeom prst="rect">
            <a:avLst/>
          </a:prstGeom>
          <a:solidFill>
            <a:srgbClr val="1A6B5E"/>
          </a:solidFill>
          <a:ln/>
        </p:spPr>
      </p:sp>
      <p:sp>
        <p:nvSpPr>
          <p:cNvPr id="8" name="Text 6"/>
          <p:cNvSpPr/>
          <p:nvPr/>
        </p:nvSpPr>
        <p:spPr>
          <a:xfrm>
            <a:off x="457200" y="1051560"/>
            <a:ext cx="2606040" cy="3474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A型</a:t>
            </a:r>
            <a:endParaRPr lang="en-US" sz="1800" dirty="0"/>
          </a:p>
        </p:txBody>
      </p:sp>
      <p:sp>
        <p:nvSpPr>
          <p:cNvPr id="9" name="Text 7"/>
          <p:cNvSpPr/>
          <p:nvPr/>
        </p:nvSpPr>
        <p:spPr>
          <a:xfrm>
            <a:off x="457200" y="1399032"/>
            <a:ext cx="2606040" cy="29260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スコア方式</a:t>
            </a:r>
            <a:endParaRPr lang="en-US" sz="1000" dirty="0"/>
          </a:p>
        </p:txBody>
      </p:sp>
      <p:sp>
        <p:nvSpPr>
          <p:cNvPr id="10" name="Text 8"/>
          <p:cNvSpPr/>
          <p:nvPr/>
        </p:nvSpPr>
        <p:spPr>
          <a:xfrm>
            <a:off x="56692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「労働時間」「生産活動」「多様な働き方」「支援力向上」「地域連携活動」の5項目</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スコアに基づき報酬単価が決定</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2021年度〜導入、2024年度改定で見直し</a:t>
            </a:r>
            <a:endParaRPr lang="en-US" sz="1000" dirty="0"/>
          </a:p>
        </p:txBody>
      </p:sp>
      <p:sp>
        <p:nvSpPr>
          <p:cNvPr id="11" name="Shape 9"/>
          <p:cNvSpPr/>
          <p:nvPr/>
        </p:nvSpPr>
        <p:spPr>
          <a:xfrm>
            <a:off x="3246120" y="1051560"/>
            <a:ext cx="2606040" cy="3017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2" name="Shape 10"/>
          <p:cNvSpPr/>
          <p:nvPr/>
        </p:nvSpPr>
        <p:spPr>
          <a:xfrm>
            <a:off x="3246120" y="1051560"/>
            <a:ext cx="2606040" cy="640080"/>
          </a:xfrm>
          <a:prstGeom prst="rect">
            <a:avLst/>
          </a:prstGeom>
          <a:solidFill>
            <a:srgbClr val="2A9D8F"/>
          </a:solidFill>
          <a:ln/>
        </p:spPr>
      </p:sp>
      <p:sp>
        <p:nvSpPr>
          <p:cNvPr id="13" name="Text 11"/>
          <p:cNvSpPr/>
          <p:nvPr/>
        </p:nvSpPr>
        <p:spPr>
          <a:xfrm>
            <a:off x="3246120" y="1051560"/>
            <a:ext cx="2606040" cy="3474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B型</a:t>
            </a:r>
            <a:endParaRPr lang="en-US" sz="1800" dirty="0"/>
          </a:p>
        </p:txBody>
      </p:sp>
      <p:sp>
        <p:nvSpPr>
          <p:cNvPr id="14" name="Text 12"/>
          <p:cNvSpPr/>
          <p:nvPr/>
        </p:nvSpPr>
        <p:spPr>
          <a:xfrm>
            <a:off x="3246120" y="1399032"/>
            <a:ext cx="2606040" cy="29260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平均工賃月額連動</a:t>
            </a:r>
            <a:endParaRPr lang="en-US" sz="1000" dirty="0"/>
          </a:p>
        </p:txBody>
      </p:sp>
      <p:sp>
        <p:nvSpPr>
          <p:cNvPr id="15" name="Text 13"/>
          <p:cNvSpPr/>
          <p:nvPr/>
        </p:nvSpPr>
        <p:spPr>
          <a:xfrm>
            <a:off x="335584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利用者に支払う工賃水準が高いほど基本報酬が高い</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工賃向上計画の策定が必要</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工賃のみの目的化に注意</a:t>
            </a:r>
            <a:endParaRPr lang="en-US" sz="1000" dirty="0"/>
          </a:p>
        </p:txBody>
      </p:sp>
      <p:sp>
        <p:nvSpPr>
          <p:cNvPr id="16" name="Shape 14"/>
          <p:cNvSpPr/>
          <p:nvPr/>
        </p:nvSpPr>
        <p:spPr>
          <a:xfrm>
            <a:off x="6035040" y="1051560"/>
            <a:ext cx="2606040" cy="30175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035040" y="1051560"/>
            <a:ext cx="2606040" cy="640080"/>
          </a:xfrm>
          <a:prstGeom prst="rect">
            <a:avLst/>
          </a:prstGeom>
          <a:solidFill>
            <a:srgbClr val="3B82F6"/>
          </a:solidFill>
          <a:ln/>
        </p:spPr>
      </p:sp>
      <p:sp>
        <p:nvSpPr>
          <p:cNvPr id="18" name="Text 16"/>
          <p:cNvSpPr/>
          <p:nvPr/>
        </p:nvSpPr>
        <p:spPr>
          <a:xfrm>
            <a:off x="6035040" y="1051560"/>
            <a:ext cx="2606040" cy="34747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移行支援</a:t>
            </a:r>
            <a:endParaRPr lang="en-US" sz="1800" dirty="0"/>
          </a:p>
        </p:txBody>
      </p:sp>
      <p:sp>
        <p:nvSpPr>
          <p:cNvPr id="19" name="Text 17"/>
          <p:cNvSpPr/>
          <p:nvPr/>
        </p:nvSpPr>
        <p:spPr>
          <a:xfrm>
            <a:off x="6035040" y="1399032"/>
            <a:ext cx="2606040" cy="292608"/>
          </a:xfrm>
          <a:prstGeom prst="rect">
            <a:avLst/>
          </a:prstGeom>
          <a:noFill/>
          <a:ln/>
        </p:spPr>
        <p:txBody>
          <a:bodyPr wrap="square"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移行実績連動</a:t>
            </a:r>
            <a:endParaRPr lang="en-US" sz="1000" dirty="0"/>
          </a:p>
        </p:txBody>
      </p:sp>
      <p:sp>
        <p:nvSpPr>
          <p:cNvPr id="20" name="Text 18"/>
          <p:cNvSpPr/>
          <p:nvPr/>
        </p:nvSpPr>
        <p:spPr>
          <a:xfrm>
            <a:off x="614476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定員規模に応じた基本報酬</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就労移行率が高いほど高報酬</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移行率に応じた加算・減算</a:t>
            </a:r>
            <a:endParaRPr lang="en-US" sz="1000" dirty="0"/>
          </a:p>
        </p:txBody>
      </p:sp>
      <p:sp>
        <p:nvSpPr>
          <p:cNvPr id="21" name="Text 19"/>
          <p:cNvSpPr/>
          <p:nvPr/>
        </p:nvSpPr>
        <p:spPr>
          <a:xfrm>
            <a:off x="548640" y="4206240"/>
            <a:ext cx="7315200" cy="27432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出典：障害福祉サービス等報酬告示、留意事項通知（2024年度報酬改定時点）</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第3章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個別支援計画の作成と運用</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個別支援計画の意義とアセスメント</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- 6 -</a:t>
            </a:r>
            <a:endParaRPr lang="en-US" sz="900" dirty="0"/>
          </a:p>
        </p:txBody>
      </p:sp>
      <p:sp>
        <p:nvSpPr>
          <p:cNvPr id="6" name="Shape 4"/>
          <p:cNvSpPr/>
          <p:nvPr/>
        </p:nvSpPr>
        <p:spPr>
          <a:xfrm>
            <a:off x="457200" y="105156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51560"/>
            <a:ext cx="54864" cy="1463040"/>
          </a:xfrm>
          <a:prstGeom prst="rect">
            <a:avLst/>
          </a:prstGeom>
          <a:solidFill>
            <a:srgbClr val="E9C46A"/>
          </a:solidFill>
          <a:ln/>
        </p:spPr>
      </p:sp>
      <p:sp>
        <p:nvSpPr>
          <p:cNvPr id="8" name="Text 6"/>
          <p:cNvSpPr/>
          <p:nvPr/>
        </p:nvSpPr>
        <p:spPr>
          <a:xfrm>
            <a:off x="640080" y="1097280"/>
            <a:ext cx="3474720" cy="365760"/>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個別支援計画は行政書類ではない</a:t>
            </a:r>
            <a:endParaRPr lang="en-US" sz="1300" dirty="0"/>
          </a:p>
        </p:txBody>
      </p:sp>
      <p:sp>
        <p:nvSpPr>
          <p:cNvPr id="9" name="Text 7"/>
          <p:cNvSpPr/>
          <p:nvPr/>
        </p:nvSpPr>
        <p:spPr>
          <a:xfrm>
            <a:off x="685800" y="1508760"/>
            <a:ext cx="3474720" cy="9144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利用者との合意形成プロセスとして位置づける</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本人の意思・希望を起点とした支援目標の明確化</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本人が自らの支援内容を確認・同意する文書</a:t>
            </a:r>
            <a:endParaRPr lang="en-US" sz="1000" dirty="0"/>
          </a:p>
        </p:txBody>
      </p:sp>
      <p:sp>
        <p:nvSpPr>
          <p:cNvPr id="10" name="Shape 8"/>
          <p:cNvSpPr/>
          <p:nvPr/>
        </p:nvSpPr>
        <p:spPr>
          <a:xfrm>
            <a:off x="4846320" y="105156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4846320" y="1051560"/>
            <a:ext cx="54864" cy="1463040"/>
          </a:xfrm>
          <a:prstGeom prst="rect">
            <a:avLst/>
          </a:prstGeom>
          <a:solidFill>
            <a:srgbClr val="2A9D8F"/>
          </a:solidFill>
          <a:ln/>
        </p:spPr>
      </p:sp>
      <p:sp>
        <p:nvSpPr>
          <p:cNvPr id="12" name="Text 10"/>
          <p:cNvSpPr/>
          <p:nvPr/>
        </p:nvSpPr>
        <p:spPr>
          <a:xfrm>
            <a:off x="5029200" y="1097280"/>
            <a:ext cx="3474720" cy="365760"/>
          </a:xfrm>
          <a:prstGeom prst="rect">
            <a:avLst/>
          </a:prstGeom>
          <a:noFill/>
          <a:ln/>
        </p:spPr>
        <p:txBody>
          <a:bodyPr wrap="square" lIns="0" tIns="0" rIns="0" bIns="0" rtlCol="0" anchor="ctr"/>
          <a:lstStyle/>
          <a:p>
            <a:pPr indent="0" marL="0">
              <a:buNone/>
            </a:pPr>
            <a:r>
              <a:rPr lang="en-US" sz="1300" b="1" dirty="0">
                <a:solidFill>
                  <a:srgbClr val="1A6B5E"/>
                </a:solidFill>
                <a:latin typeface="Calibri" pitchFamily="34" charset="0"/>
                <a:ea typeface="Calibri" pitchFamily="34" charset="-122"/>
                <a:cs typeface="Calibri" pitchFamily="34" charset="-120"/>
              </a:rPr>
              <a:t>ICFに基づく多面的アセスメント</a:t>
            </a:r>
            <a:endParaRPr lang="en-US" sz="1300" dirty="0"/>
          </a:p>
        </p:txBody>
      </p:sp>
      <p:sp>
        <p:nvSpPr>
          <p:cNvPr id="13" name="Text 11"/>
          <p:cNvSpPr/>
          <p:nvPr/>
        </p:nvSpPr>
        <p:spPr>
          <a:xfrm>
            <a:off x="5074920" y="1508760"/>
            <a:ext cx="3474720" cy="9144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心身機能 / 活動 / 参加</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環境因子（家族・サービス・物理的環境）</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個人因子（希望・価値観・生活歴）</a:t>
            </a:r>
            <a:endParaRPr lang="en-US" sz="1000" dirty="0"/>
          </a:p>
        </p:txBody>
      </p:sp>
      <p:sp>
        <p:nvSpPr>
          <p:cNvPr id="14" name="Text 12"/>
          <p:cNvSpPr/>
          <p:nvPr/>
        </p:nvSpPr>
        <p:spPr>
          <a:xfrm>
            <a:off x="548640" y="2743200"/>
            <a:ext cx="3657600" cy="365760"/>
          </a:xfrm>
          <a:prstGeom prst="rect">
            <a:avLst/>
          </a:prstGeom>
          <a:noFill/>
          <a:ln/>
        </p:spPr>
        <p:txBody>
          <a:bodyPr wrap="square" lIns="0" tIns="0" rIns="0" bIns="0" rtlCol="0" anchor="ctr"/>
          <a:lstStyle/>
          <a:p>
            <a:pPr indent="0" marL="0">
              <a:buNone/>
            </a:pPr>
            <a:r>
              <a:rPr lang="en-US" sz="1400" b="1" dirty="0">
                <a:solidFill>
                  <a:srgbClr val="1A6B5E"/>
                </a:solidFill>
                <a:latin typeface="Calibri" pitchFamily="34" charset="0"/>
                <a:ea typeface="Calibri" pitchFamily="34" charset="-122"/>
                <a:cs typeface="Calibri" pitchFamily="34" charset="-120"/>
              </a:rPr>
              <a:t>モニタリング頻度</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3840480" cy="914400"/>
        </p:xfrm>
        <a:graphic>
          <a:graphicData uri="http://schemas.openxmlformats.org/drawingml/2006/table">
            <a:tbl>
              <a:tblPr/>
              <a:tblGrid>
                <a:gridCol w="1920240"/>
                <a:gridCol w="192024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事業種別</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頻度</a:t>
                      </a:r>
                      <a:endParaRPr lang="en-US" sz="10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r>
              <a:tr h="29260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就労移行支援</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少なくとも3か月に1回以上</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260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就労継続支援A型</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少なくとも6か月に1回以上</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2608">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就労継続支援B型</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少なくとも6か月に1回以上</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16" name="Shape 13"/>
          <p:cNvSpPr/>
          <p:nvPr/>
        </p:nvSpPr>
        <p:spPr>
          <a:xfrm>
            <a:off x="4846320" y="2834640"/>
            <a:ext cx="3840480" cy="1371600"/>
          </a:xfrm>
          <a:prstGeom prst="rect">
            <a:avLst/>
          </a:prstGeom>
          <a:solidFill>
            <a:srgbClr val="FDE68A"/>
          </a:solidFill>
          <a:ln/>
        </p:spPr>
      </p:sp>
      <p:sp>
        <p:nvSpPr>
          <p:cNvPr id="17" name="Text 14"/>
          <p:cNvSpPr/>
          <p:nvPr/>
        </p:nvSpPr>
        <p:spPr>
          <a:xfrm>
            <a:off x="5029200" y="2880360"/>
            <a:ext cx="3474720" cy="320040"/>
          </a:xfrm>
          <a:prstGeom prst="rect">
            <a:avLst/>
          </a:prstGeom>
          <a:noFill/>
          <a:ln/>
        </p:spPr>
        <p:txBody>
          <a:bodyPr wrap="square" lIns="0" tIns="0" rIns="0" bIns="0" rtlCol="0" anchor="ctr"/>
          <a:lstStyle/>
          <a:p>
            <a:pPr indent="0" marL="0">
              <a:buNone/>
            </a:pPr>
            <a:r>
              <a:rPr lang="en-US" sz="1200" b="1" dirty="0">
                <a:solidFill>
                  <a:srgbClr val="78350F"/>
                </a:solidFill>
                <a:latin typeface="Calibri" pitchFamily="34" charset="0"/>
                <a:ea typeface="Calibri" pitchFamily="34" charset="-122"/>
                <a:cs typeface="Calibri" pitchFamily="34" charset="-120"/>
              </a:rPr>
              <a:t>重要な禁止事項</a:t>
            </a:r>
            <a:endParaRPr lang="en-US" sz="1200" dirty="0"/>
          </a:p>
        </p:txBody>
      </p:sp>
      <p:sp>
        <p:nvSpPr>
          <p:cNvPr id="18" name="Text 15"/>
          <p:cNvSpPr/>
          <p:nvPr/>
        </p:nvSpPr>
        <p:spPr>
          <a:xfrm>
            <a:off x="5029200" y="3246120"/>
            <a:ext cx="3520440" cy="868680"/>
          </a:xfrm>
          <a:prstGeom prst="rect">
            <a:avLst/>
          </a:prstGeom>
          <a:noFill/>
          <a:ln/>
        </p:spPr>
        <p:txBody>
          <a:bodyPr wrap="square" rtlCol="0" anchor="ctr"/>
          <a:lstStyle/>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「能力不足が原因」等の個人帰属型評価は行わない</a:t>
            </a:r>
            <a:endParaRPr lang="en-US" sz="1000" dirty="0"/>
          </a:p>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環境調整・合理的配慮の提供状況を含めて要因分析する</a:t>
            </a:r>
            <a:endParaRPr lang="en-US" sz="1000" dirty="0"/>
          </a:p>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「障害の受容」を外部から促さない</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第4章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日常の支援業務</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利用者対応の基本姿勢</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- 7 -</a:t>
            </a:r>
            <a:endParaRPr lang="en-US" sz="900" dirty="0"/>
          </a:p>
        </p:txBody>
      </p:sp>
      <p:sp>
        <p:nvSpPr>
          <p:cNvPr id="6" name="Shape 4"/>
          <p:cNvSpPr/>
          <p:nvPr/>
        </p:nvSpPr>
        <p:spPr>
          <a:xfrm>
            <a:off x="457200" y="1051560"/>
            <a:ext cx="3840480" cy="18288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51560"/>
            <a:ext cx="54864" cy="1828800"/>
          </a:xfrm>
          <a:prstGeom prst="rect">
            <a:avLst/>
          </a:prstGeom>
          <a:solidFill>
            <a:srgbClr val="2A9D8F"/>
          </a:solidFill>
          <a:ln/>
        </p:spPr>
      </p:sp>
      <p:sp>
        <p:nvSpPr>
          <p:cNvPr id="8" name="Text 6"/>
          <p:cNvSpPr/>
          <p:nvPr/>
        </p:nvSpPr>
        <p:spPr>
          <a:xfrm>
            <a:off x="64008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意思決定支援の原則</a:t>
            </a:r>
            <a:endParaRPr lang="en-US" sz="1300" dirty="0"/>
          </a:p>
        </p:txBody>
      </p:sp>
      <p:sp>
        <p:nvSpPr>
          <p:cNvPr id="9" name="Text 7"/>
          <p:cNvSpPr/>
          <p:nvPr/>
        </p:nvSpPr>
        <p:spPr>
          <a:xfrm>
            <a:off x="640080" y="1463040"/>
            <a:ext cx="3520440" cy="13258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本人に情報を分かりやすく提供し、選択肢を示す</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意思を表明できる環境を整える（時間・場所・手段）</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本人の意思を最大限尊重する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意思決定のプロセスを記録に残す</a:t>
            </a:r>
            <a:endParaRPr lang="en-US" sz="1100" dirty="0"/>
          </a:p>
        </p:txBody>
      </p:sp>
      <p:sp>
        <p:nvSpPr>
          <p:cNvPr id="10" name="Shape 8"/>
          <p:cNvSpPr/>
          <p:nvPr/>
        </p:nvSpPr>
        <p:spPr>
          <a:xfrm>
            <a:off x="4846320" y="1051560"/>
            <a:ext cx="3840480" cy="18288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4846320" y="1051560"/>
            <a:ext cx="54864" cy="1828800"/>
          </a:xfrm>
          <a:prstGeom prst="rect">
            <a:avLst/>
          </a:prstGeom>
          <a:solidFill>
            <a:srgbClr val="1A6B5E"/>
          </a:solidFill>
          <a:ln/>
        </p:spPr>
      </p:sp>
      <p:sp>
        <p:nvSpPr>
          <p:cNvPr id="12" name="Text 10"/>
          <p:cNvSpPr/>
          <p:nvPr/>
        </p:nvSpPr>
        <p:spPr>
          <a:xfrm>
            <a:off x="502920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エンパワメントの視点</a:t>
            </a:r>
            <a:endParaRPr lang="en-US" sz="1300" dirty="0"/>
          </a:p>
        </p:txBody>
      </p:sp>
      <p:sp>
        <p:nvSpPr>
          <p:cNvPr id="13" name="Text 11"/>
          <p:cNvSpPr/>
          <p:nvPr/>
        </p:nvSpPr>
        <p:spPr>
          <a:xfrm>
            <a:off x="5029200" y="1463040"/>
            <a:ext cx="3520440" cy="13258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利用者の「強み」に着目する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「どのような環境調整があれば可能か」を考える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小さな成功体験の積み重ね</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契約に基づく対等な関係性が基盤</a:t>
            </a:r>
            <a:endParaRPr lang="en-US" sz="1100" dirty="0"/>
          </a:p>
        </p:txBody>
      </p:sp>
      <p:sp>
        <p:nvSpPr>
          <p:cNvPr id="14" name="Shape 12"/>
          <p:cNvSpPr/>
          <p:nvPr/>
        </p:nvSpPr>
        <p:spPr>
          <a:xfrm>
            <a:off x="457200" y="3200400"/>
            <a:ext cx="8229600" cy="54864"/>
          </a:xfrm>
          <a:prstGeom prst="rect">
            <a:avLst/>
          </a:prstGeom>
          <a:solidFill>
            <a:srgbClr val="CBD5E1"/>
          </a:solidFill>
          <a:ln/>
        </p:spPr>
      </p:sp>
      <p:sp>
        <p:nvSpPr>
          <p:cNvPr id="15" name="Text 13"/>
          <p:cNvSpPr/>
          <p:nvPr/>
        </p:nvSpPr>
        <p:spPr>
          <a:xfrm>
            <a:off x="548640" y="3383280"/>
            <a:ext cx="3657600" cy="320040"/>
          </a:xfrm>
          <a:prstGeom prst="rect">
            <a:avLst/>
          </a:prstGeom>
          <a:noFill/>
          <a:ln/>
        </p:spPr>
        <p:txBody>
          <a:bodyPr wrap="square" lIns="0" tIns="0" rIns="0" bIns="0" rtlCol="0" anchor="ctr"/>
          <a:lstStyle/>
          <a:p>
            <a:pPr indent="0" marL="0">
              <a:buNone/>
            </a:pPr>
            <a:r>
              <a:rPr lang="en-US" sz="1300" b="1" dirty="0">
                <a:solidFill>
                  <a:srgbClr val="DC2626"/>
                </a:solidFill>
                <a:latin typeface="Calibri" pitchFamily="34" charset="0"/>
                <a:ea typeface="Calibri" pitchFamily="34" charset="-122"/>
                <a:cs typeface="Calibri" pitchFamily="34" charset="-120"/>
              </a:rPr>
              <a:t>禁止される姿勢・表現</a:t>
            </a:r>
            <a:endParaRPr lang="en-US" sz="1300" dirty="0"/>
          </a:p>
        </p:txBody>
      </p:sp>
      <p:sp>
        <p:nvSpPr>
          <p:cNvPr id="16" name="Shape 14"/>
          <p:cNvSpPr/>
          <p:nvPr/>
        </p:nvSpPr>
        <p:spPr>
          <a:xfrm>
            <a:off x="457200" y="3749040"/>
            <a:ext cx="3931920" cy="384048"/>
          </a:xfrm>
          <a:prstGeom prst="rect">
            <a:avLst/>
          </a:prstGeom>
          <a:solidFill>
            <a:srgbClr val="FEE2E2"/>
          </a:solidFill>
          <a:ln/>
        </p:spPr>
      </p:sp>
      <p:sp>
        <p:nvSpPr>
          <p:cNvPr id="17" name="Text 15"/>
          <p:cNvSpPr/>
          <p:nvPr/>
        </p:nvSpPr>
        <p:spPr>
          <a:xfrm>
            <a:off x="594360" y="3749040"/>
            <a:ext cx="3657600" cy="384048"/>
          </a:xfrm>
          <a:prstGeom prst="rect">
            <a:avLst/>
          </a:prstGeom>
          <a:noFill/>
          <a:ln/>
        </p:spPr>
        <p:txBody>
          <a:bodyPr wrap="square" rtlCol="0" anchor="ctr"/>
          <a:lstStyle/>
          <a:p>
            <a:pPr indent="0" marL="0">
              <a:buNone/>
            </a:pPr>
            <a:r>
              <a:rPr lang="en-US" sz="900" dirty="0">
                <a:solidFill>
                  <a:srgbClr val="DC2626"/>
                </a:solidFill>
                <a:latin typeface="Calibri" pitchFamily="34" charset="0"/>
                <a:ea typeface="Calibri" pitchFamily="34" charset="-122"/>
                <a:cs typeface="Calibri" pitchFamily="34" charset="-120"/>
              </a:rPr>
              <a:t>"支援してあげる""面倒をみる"等の保護的・恩恵的表現</a:t>
            </a:r>
            <a:endParaRPr lang="en-US" sz="900" dirty="0"/>
          </a:p>
        </p:txBody>
      </p:sp>
      <p:sp>
        <p:nvSpPr>
          <p:cNvPr id="18" name="Shape 16"/>
          <p:cNvSpPr/>
          <p:nvPr/>
        </p:nvSpPr>
        <p:spPr>
          <a:xfrm>
            <a:off x="4754880" y="3749040"/>
            <a:ext cx="3931920" cy="384048"/>
          </a:xfrm>
          <a:prstGeom prst="rect">
            <a:avLst/>
          </a:prstGeom>
          <a:solidFill>
            <a:srgbClr val="DCFCE7"/>
          </a:solidFill>
          <a:ln/>
        </p:spPr>
      </p:sp>
      <p:sp>
        <p:nvSpPr>
          <p:cNvPr id="19" name="Text 17"/>
          <p:cNvSpPr/>
          <p:nvPr/>
        </p:nvSpPr>
        <p:spPr>
          <a:xfrm>
            <a:off x="4892040" y="3749040"/>
            <a:ext cx="3657600" cy="384048"/>
          </a:xfrm>
          <a:prstGeom prst="rect">
            <a:avLst/>
          </a:prstGeom>
          <a:noFill/>
          <a:ln/>
        </p:spPr>
        <p:txBody>
          <a:bodyPr wrap="square" rtlCol="0" anchor="ctr"/>
          <a:lstStyle/>
          <a:p>
            <a:pPr indent="0" marL="0">
              <a:buNone/>
            </a:pPr>
            <a:r>
              <a:rPr lang="en-US" sz="900" dirty="0">
                <a:solidFill>
                  <a:srgbClr val="166534"/>
                </a:solidFill>
                <a:latin typeface="Calibri" pitchFamily="34" charset="0"/>
                <a:ea typeface="Calibri" pitchFamily="34" charset="-122"/>
                <a:cs typeface="Calibri" pitchFamily="34" charset="-120"/>
              </a:rPr>
              <a:t>→ "契約に基づくサービスを提供する"</a:t>
            </a:r>
            <a:endParaRPr lang="en-US" sz="900" dirty="0"/>
          </a:p>
        </p:txBody>
      </p:sp>
      <p:sp>
        <p:nvSpPr>
          <p:cNvPr id="20" name="Shape 18"/>
          <p:cNvSpPr/>
          <p:nvPr/>
        </p:nvSpPr>
        <p:spPr>
          <a:xfrm>
            <a:off x="457200" y="4206240"/>
            <a:ext cx="3931920" cy="384048"/>
          </a:xfrm>
          <a:prstGeom prst="rect">
            <a:avLst/>
          </a:prstGeom>
          <a:solidFill>
            <a:srgbClr val="FEE2E2"/>
          </a:solidFill>
          <a:ln/>
        </p:spPr>
      </p:sp>
      <p:sp>
        <p:nvSpPr>
          <p:cNvPr id="21" name="Text 19"/>
          <p:cNvSpPr/>
          <p:nvPr/>
        </p:nvSpPr>
        <p:spPr>
          <a:xfrm>
            <a:off x="594360" y="4206240"/>
            <a:ext cx="3657600" cy="384048"/>
          </a:xfrm>
          <a:prstGeom prst="rect">
            <a:avLst/>
          </a:prstGeom>
          <a:noFill/>
          <a:ln/>
        </p:spPr>
        <p:txBody>
          <a:bodyPr wrap="square" rtlCol="0" anchor="ctr"/>
          <a:lstStyle/>
          <a:p>
            <a:pPr indent="0" marL="0">
              <a:buNone/>
            </a:pPr>
            <a:r>
              <a:rPr lang="en-US" sz="900" dirty="0">
                <a:solidFill>
                  <a:srgbClr val="DC2626"/>
                </a:solidFill>
                <a:latin typeface="Calibri" pitchFamily="34" charset="0"/>
                <a:ea typeface="Calibri" pitchFamily="34" charset="-122"/>
                <a:cs typeface="Calibri" pitchFamily="34" charset="-120"/>
              </a:rPr>
              <a:t>"本人のやる気がない"等の表面的な動機評価</a:t>
            </a:r>
            <a:endParaRPr lang="en-US" sz="900" dirty="0"/>
          </a:p>
        </p:txBody>
      </p:sp>
      <p:sp>
        <p:nvSpPr>
          <p:cNvPr id="22" name="Shape 20"/>
          <p:cNvSpPr/>
          <p:nvPr/>
        </p:nvSpPr>
        <p:spPr>
          <a:xfrm>
            <a:off x="4754880" y="4206240"/>
            <a:ext cx="3931920" cy="384048"/>
          </a:xfrm>
          <a:prstGeom prst="rect">
            <a:avLst/>
          </a:prstGeom>
          <a:solidFill>
            <a:srgbClr val="DCFCE7"/>
          </a:solidFill>
          <a:ln/>
        </p:spPr>
      </p:sp>
      <p:sp>
        <p:nvSpPr>
          <p:cNvPr id="23" name="Text 21"/>
          <p:cNvSpPr/>
          <p:nvPr/>
        </p:nvSpPr>
        <p:spPr>
          <a:xfrm>
            <a:off x="4892040" y="4206240"/>
            <a:ext cx="3657600" cy="384048"/>
          </a:xfrm>
          <a:prstGeom prst="rect">
            <a:avLst/>
          </a:prstGeom>
          <a:noFill/>
          <a:ln/>
        </p:spPr>
        <p:txBody>
          <a:bodyPr wrap="square" rtlCol="0" anchor="ctr"/>
          <a:lstStyle/>
          <a:p>
            <a:pPr indent="0" marL="0">
              <a:buNone/>
            </a:pPr>
            <a:r>
              <a:rPr lang="en-US" sz="900" dirty="0">
                <a:solidFill>
                  <a:srgbClr val="166534"/>
                </a:solidFill>
                <a:latin typeface="Calibri" pitchFamily="34" charset="0"/>
                <a:ea typeface="Calibri" pitchFamily="34" charset="-122"/>
                <a:cs typeface="Calibri" pitchFamily="34" charset="-120"/>
              </a:rPr>
              <a:t>→ "参加意欲に影響する要因をアセスメントする"</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第5章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事業種別ごとの実務ポイント</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事業種別ごとの重点項目</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- 8 -</a:t>
            </a:r>
            <a:endParaRPr lang="en-US" sz="900" dirty="0"/>
          </a:p>
        </p:txBody>
      </p:sp>
      <p:sp>
        <p:nvSpPr>
          <p:cNvPr id="6" name="Shape 4"/>
          <p:cNvSpPr/>
          <p:nvPr/>
        </p:nvSpPr>
        <p:spPr>
          <a:xfrm>
            <a:off x="320040" y="1051560"/>
            <a:ext cx="2697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320040" y="1051560"/>
            <a:ext cx="54864" cy="3200400"/>
          </a:xfrm>
          <a:prstGeom prst="rect">
            <a:avLst/>
          </a:prstGeom>
          <a:solidFill>
            <a:srgbClr val="1A6B5E"/>
          </a:solidFill>
          <a:ln/>
        </p:spPr>
      </p:sp>
      <p:sp>
        <p:nvSpPr>
          <p:cNvPr id="8" name="Text 6"/>
          <p:cNvSpPr/>
          <p:nvPr/>
        </p:nvSpPr>
        <p:spPr>
          <a:xfrm>
            <a:off x="502920" y="1051560"/>
            <a:ext cx="2423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A型：雇用契約＋スコア方式</a:t>
            </a:r>
            <a:endParaRPr lang="en-US" sz="1300" dirty="0"/>
          </a:p>
        </p:txBody>
      </p:sp>
      <p:sp>
        <p:nvSpPr>
          <p:cNvPr id="9" name="Text 7"/>
          <p:cNvSpPr/>
          <p:nvPr/>
        </p:nvSpPr>
        <p:spPr>
          <a:xfrm>
            <a:off x="502920"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労働基準法・最低賃金法が全面適用</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都道府県別の最低賃金を必ず確認</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スコア方式：5項目で報酬単価決定</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経営改善計画の作成義務（赤字時）</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雇用保険・社会保険の適用確認</a:t>
            </a:r>
            <a:endParaRPr lang="en-US" sz="1100" dirty="0"/>
          </a:p>
        </p:txBody>
      </p:sp>
      <p:sp>
        <p:nvSpPr>
          <p:cNvPr id="10" name="Shape 8"/>
          <p:cNvSpPr/>
          <p:nvPr/>
        </p:nvSpPr>
        <p:spPr>
          <a:xfrm>
            <a:off x="3218688" y="1051560"/>
            <a:ext cx="2697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3218688" y="1051560"/>
            <a:ext cx="54864" cy="3200400"/>
          </a:xfrm>
          <a:prstGeom prst="rect">
            <a:avLst/>
          </a:prstGeom>
          <a:solidFill>
            <a:srgbClr val="2A9D8F"/>
          </a:solidFill>
          <a:ln/>
        </p:spPr>
      </p:sp>
      <p:sp>
        <p:nvSpPr>
          <p:cNvPr id="12" name="Text 10"/>
          <p:cNvSpPr/>
          <p:nvPr/>
        </p:nvSpPr>
        <p:spPr>
          <a:xfrm>
            <a:off x="3401568" y="1051560"/>
            <a:ext cx="2423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B型：工賃向上＋生産活動</a:t>
            </a:r>
            <a:endParaRPr lang="en-US" sz="1300" dirty="0"/>
          </a:p>
        </p:txBody>
      </p:sp>
      <p:sp>
        <p:nvSpPr>
          <p:cNvPr id="13" name="Text 11"/>
          <p:cNvSpPr/>
          <p:nvPr/>
        </p:nvSpPr>
        <p:spPr>
          <a:xfrm>
            <a:off x="3401568"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工賃向上計画の策定・実行</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生産活動の品質管理体制構築</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新規受注先の開拓・販路拡大</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利用者の作業参加は本人の意思</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安全な作業環境の確保</a:t>
            </a:r>
            <a:endParaRPr lang="en-US" sz="1100" dirty="0"/>
          </a:p>
        </p:txBody>
      </p:sp>
      <p:sp>
        <p:nvSpPr>
          <p:cNvPr id="14" name="Shape 12"/>
          <p:cNvSpPr/>
          <p:nvPr/>
        </p:nvSpPr>
        <p:spPr>
          <a:xfrm>
            <a:off x="6126480" y="1051560"/>
            <a:ext cx="2697480" cy="32004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6126480" y="1051560"/>
            <a:ext cx="54864" cy="3200400"/>
          </a:xfrm>
          <a:prstGeom prst="rect">
            <a:avLst/>
          </a:prstGeom>
          <a:solidFill>
            <a:srgbClr val="3B82F6"/>
          </a:solidFill>
          <a:ln/>
        </p:spPr>
      </p:sp>
      <p:sp>
        <p:nvSpPr>
          <p:cNvPr id="16" name="Text 14"/>
          <p:cNvSpPr/>
          <p:nvPr/>
        </p:nvSpPr>
        <p:spPr>
          <a:xfrm>
            <a:off x="6309360" y="1051560"/>
            <a:ext cx="2423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移行支援：企業開拓＋定着</a:t>
            </a:r>
            <a:endParaRPr lang="en-US" sz="1300" dirty="0"/>
          </a:p>
        </p:txBody>
      </p:sp>
      <p:sp>
        <p:nvSpPr>
          <p:cNvPr id="17" name="Text 15"/>
          <p:cNvSpPr/>
          <p:nvPr/>
        </p:nvSpPr>
        <p:spPr>
          <a:xfrm>
            <a:off x="6309360"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企業訪問による求人開拓</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マッチング（本人希望×企業ニーズ）</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職場実習の調整・巡回支援</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就労定着支援事業への引き継ぎ</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原則2年（延長は市町村判断）</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第6章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リスク管理・権利擁護</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虐待防止・苦情解決・個人情報保護</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- 9 -</a:t>
            </a:r>
            <a:endParaRPr lang="en-US" sz="900" dirty="0"/>
          </a:p>
        </p:txBody>
      </p:sp>
      <p:sp>
        <p:nvSpPr>
          <p:cNvPr id="6" name="Shape 4"/>
          <p:cNvSpPr/>
          <p:nvPr/>
        </p:nvSpPr>
        <p:spPr>
          <a:xfrm>
            <a:off x="457200" y="105156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51560"/>
            <a:ext cx="54864" cy="1463040"/>
          </a:xfrm>
          <a:prstGeom prst="rect">
            <a:avLst/>
          </a:prstGeom>
          <a:solidFill>
            <a:srgbClr val="DC2626"/>
          </a:solidFill>
          <a:ln/>
        </p:spPr>
      </p:sp>
      <p:sp>
        <p:nvSpPr>
          <p:cNvPr id="8" name="Text 6"/>
          <p:cNvSpPr/>
          <p:nvPr/>
        </p:nvSpPr>
        <p:spPr>
          <a:xfrm>
            <a:off x="64008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虐待防止（2022年度〜義務化）</a:t>
            </a:r>
            <a:endParaRPr lang="en-US" sz="1300" dirty="0"/>
          </a:p>
        </p:txBody>
      </p:sp>
      <p:sp>
        <p:nvSpPr>
          <p:cNvPr id="9" name="Text 7"/>
          <p:cNvSpPr/>
          <p:nvPr/>
        </p:nvSpPr>
        <p:spPr>
          <a:xfrm>
            <a:off x="640080" y="146304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虐待防止委員会の設置・定期開催</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年1回以上の虐待防止研修</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通報義務：守秘義務に優先する</a:t>
            </a:r>
            <a:endParaRPr lang="en-US" sz="1100" dirty="0"/>
          </a:p>
        </p:txBody>
      </p:sp>
      <p:sp>
        <p:nvSpPr>
          <p:cNvPr id="10" name="Shape 8"/>
          <p:cNvSpPr/>
          <p:nvPr/>
        </p:nvSpPr>
        <p:spPr>
          <a:xfrm>
            <a:off x="4846320" y="105156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4846320" y="1051560"/>
            <a:ext cx="54864" cy="1463040"/>
          </a:xfrm>
          <a:prstGeom prst="rect">
            <a:avLst/>
          </a:prstGeom>
          <a:solidFill>
            <a:srgbClr val="D97706"/>
          </a:solidFill>
          <a:ln/>
        </p:spPr>
      </p:sp>
      <p:sp>
        <p:nvSpPr>
          <p:cNvPr id="12" name="Text 10"/>
          <p:cNvSpPr/>
          <p:nvPr/>
        </p:nvSpPr>
        <p:spPr>
          <a:xfrm>
            <a:off x="502920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ヒヤリハット・事故報告</a:t>
            </a:r>
            <a:endParaRPr lang="en-US" sz="1300" dirty="0"/>
          </a:p>
        </p:txBody>
      </p:sp>
      <p:sp>
        <p:nvSpPr>
          <p:cNvPr id="13" name="Text 11"/>
          <p:cNvSpPr/>
          <p:nvPr/>
        </p:nvSpPr>
        <p:spPr>
          <a:xfrm>
            <a:off x="5029200" y="146304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「誰が悪いか」ではなく環境改善</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重大事故は市町村への報告義務</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定期的な事例集約・分析</a:t>
            </a:r>
            <a:endParaRPr lang="en-US" sz="1100" dirty="0"/>
          </a:p>
        </p:txBody>
      </p:sp>
      <p:sp>
        <p:nvSpPr>
          <p:cNvPr id="14" name="Shape 12"/>
          <p:cNvSpPr/>
          <p:nvPr/>
        </p:nvSpPr>
        <p:spPr>
          <a:xfrm>
            <a:off x="457200" y="278892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457200" y="2788920"/>
            <a:ext cx="54864" cy="1463040"/>
          </a:xfrm>
          <a:prstGeom prst="rect">
            <a:avLst/>
          </a:prstGeom>
          <a:solidFill>
            <a:srgbClr val="2A9D8F"/>
          </a:solidFill>
          <a:ln/>
        </p:spPr>
      </p:sp>
      <p:sp>
        <p:nvSpPr>
          <p:cNvPr id="16" name="Text 14"/>
          <p:cNvSpPr/>
          <p:nvPr/>
        </p:nvSpPr>
        <p:spPr>
          <a:xfrm>
            <a:off x="640080" y="278892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苦情解決の仕組み</a:t>
            </a:r>
            <a:endParaRPr lang="en-US" sz="1300" dirty="0"/>
          </a:p>
        </p:txBody>
      </p:sp>
      <p:sp>
        <p:nvSpPr>
          <p:cNvPr id="17" name="Text 15"/>
          <p:cNvSpPr/>
          <p:nvPr/>
        </p:nvSpPr>
        <p:spPr>
          <a:xfrm>
            <a:off x="640080" y="320040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苦情受付担当者・解決責任者・第三者委員</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利用者への申立て方法の周知</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都道府県運営適正化委員会への申立てルート</a:t>
            </a:r>
            <a:endParaRPr lang="en-US" sz="1100" dirty="0"/>
          </a:p>
        </p:txBody>
      </p:sp>
      <p:sp>
        <p:nvSpPr>
          <p:cNvPr id="18" name="Shape 16"/>
          <p:cNvSpPr/>
          <p:nvPr/>
        </p:nvSpPr>
        <p:spPr>
          <a:xfrm>
            <a:off x="4846320" y="2788920"/>
            <a:ext cx="384048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4846320" y="2788920"/>
            <a:ext cx="54864" cy="1463040"/>
          </a:xfrm>
          <a:prstGeom prst="rect">
            <a:avLst/>
          </a:prstGeom>
          <a:solidFill>
            <a:srgbClr val="1A6B5E"/>
          </a:solidFill>
          <a:ln/>
        </p:spPr>
      </p:sp>
      <p:sp>
        <p:nvSpPr>
          <p:cNvPr id="20" name="Text 18"/>
          <p:cNvSpPr/>
          <p:nvPr/>
        </p:nvSpPr>
        <p:spPr>
          <a:xfrm>
            <a:off x="5029200" y="278892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個人情報保護</a:t>
            </a:r>
            <a:endParaRPr lang="en-US" sz="1300" dirty="0"/>
          </a:p>
        </p:txBody>
      </p:sp>
      <p:sp>
        <p:nvSpPr>
          <p:cNvPr id="21" name="Text 19"/>
          <p:cNvSpPr/>
          <p:nvPr/>
        </p:nvSpPr>
        <p:spPr>
          <a:xfrm>
            <a:off x="5029200" y="320040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利用者本人による記録の確認・閲覧は権利</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関係機関への情報提供は本人同意のうえ</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退所後の取扱いルールも明確に</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第7章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組織運営と人材育成</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サービス管理責任者の役割と人材育成</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- 10 -</a:t>
            </a:r>
            <a:endParaRPr lang="en-US" sz="900" dirty="0"/>
          </a:p>
        </p:txBody>
      </p:sp>
      <p:sp>
        <p:nvSpPr>
          <p:cNvPr id="6" name="Shape 4"/>
          <p:cNvSpPr/>
          <p:nvPr/>
        </p:nvSpPr>
        <p:spPr>
          <a:xfrm>
            <a:off x="457200" y="1051560"/>
            <a:ext cx="3840480" cy="21945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457200" y="1051560"/>
            <a:ext cx="54864" cy="2194560"/>
          </a:xfrm>
          <a:prstGeom prst="rect">
            <a:avLst/>
          </a:prstGeom>
          <a:solidFill>
            <a:srgbClr val="1A6B5E"/>
          </a:solidFill>
          <a:ln/>
        </p:spPr>
      </p:sp>
      <p:sp>
        <p:nvSpPr>
          <p:cNvPr id="8" name="Text 6"/>
          <p:cNvSpPr/>
          <p:nvPr/>
        </p:nvSpPr>
        <p:spPr>
          <a:xfrm>
            <a:off x="64008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サービス管理責任者（サビ管）の役割</a:t>
            </a:r>
            <a:endParaRPr lang="en-US" sz="1300" dirty="0"/>
          </a:p>
        </p:txBody>
      </p:sp>
      <p:sp>
        <p:nvSpPr>
          <p:cNvPr id="9" name="Text 7"/>
          <p:cNvSpPr/>
          <p:nvPr/>
        </p:nvSpPr>
        <p:spPr>
          <a:xfrm>
            <a:off x="640080" y="1463040"/>
            <a:ext cx="3520440" cy="169164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個別支援計画の作成・モニタリング統括</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アセスメントの実施・管理</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支援会議の運営</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スタッフへの技術的指導・助言</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サービスの質の管理・改善</a:t>
            </a:r>
            <a:endParaRPr lang="en-US" sz="1100" dirty="0"/>
          </a:p>
        </p:txBody>
      </p:sp>
      <p:sp>
        <p:nvSpPr>
          <p:cNvPr id="10" name="Shape 8"/>
          <p:cNvSpPr/>
          <p:nvPr/>
        </p:nvSpPr>
        <p:spPr>
          <a:xfrm>
            <a:off x="4846320" y="1051560"/>
            <a:ext cx="384048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9"/>
          <p:cNvSpPr/>
          <p:nvPr/>
        </p:nvSpPr>
        <p:spPr>
          <a:xfrm>
            <a:off x="4846320" y="1051560"/>
            <a:ext cx="54864" cy="1005840"/>
          </a:xfrm>
          <a:prstGeom prst="rect">
            <a:avLst/>
          </a:prstGeom>
          <a:solidFill>
            <a:srgbClr val="2A9D8F"/>
          </a:solidFill>
          <a:ln/>
        </p:spPr>
      </p:sp>
      <p:sp>
        <p:nvSpPr>
          <p:cNvPr id="12" name="Text 10"/>
          <p:cNvSpPr/>
          <p:nvPr/>
        </p:nvSpPr>
        <p:spPr>
          <a:xfrm>
            <a:off x="5029200" y="105156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OJT（職場内研修）</a:t>
            </a:r>
            <a:endParaRPr lang="en-US" sz="1300" dirty="0"/>
          </a:p>
        </p:txBody>
      </p:sp>
      <p:sp>
        <p:nvSpPr>
          <p:cNvPr id="13" name="Text 11"/>
          <p:cNvSpPr/>
          <p:nvPr/>
        </p:nvSpPr>
        <p:spPr>
          <a:xfrm>
            <a:off x="5029200" y="1463040"/>
            <a:ext cx="3520440" cy="5029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チェックリスト活用の計画的指導</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先輩メンタリング・同行支援・ロールプレイ</a:t>
            </a:r>
            <a:endParaRPr lang="en-US" sz="1100" dirty="0"/>
          </a:p>
        </p:txBody>
      </p:sp>
      <p:sp>
        <p:nvSpPr>
          <p:cNvPr id="14" name="Shape 12"/>
          <p:cNvSpPr/>
          <p:nvPr/>
        </p:nvSpPr>
        <p:spPr>
          <a:xfrm>
            <a:off x="4846320" y="2240280"/>
            <a:ext cx="384048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4846320" y="2240280"/>
            <a:ext cx="54864" cy="1005840"/>
          </a:xfrm>
          <a:prstGeom prst="rect">
            <a:avLst/>
          </a:prstGeom>
          <a:solidFill>
            <a:srgbClr val="E9C46A"/>
          </a:solidFill>
          <a:ln/>
        </p:spPr>
      </p:sp>
      <p:sp>
        <p:nvSpPr>
          <p:cNvPr id="16" name="Text 14"/>
          <p:cNvSpPr/>
          <p:nvPr/>
        </p:nvSpPr>
        <p:spPr>
          <a:xfrm>
            <a:off x="5029200" y="2240280"/>
            <a:ext cx="3566160" cy="411480"/>
          </a:xfrm>
          <a:prstGeom prst="rect">
            <a:avLst/>
          </a:prstGeom>
          <a:noFill/>
          <a:ln/>
        </p:spPr>
        <p:txBody>
          <a:bodyPr wrap="square" lIns="0" tIns="0" rIns="0" bIns="0" rtlCol="0" anchor="b"/>
          <a:lstStyle/>
          <a:p>
            <a:pPr indent="0" marL="0">
              <a:buNone/>
            </a:pPr>
            <a:r>
              <a:rPr lang="en-US" sz="1300" b="1" dirty="0">
                <a:solidFill>
                  <a:srgbClr val="1A6B5E"/>
                </a:solidFill>
                <a:latin typeface="Calibri" pitchFamily="34" charset="0"/>
                <a:ea typeface="Calibri" pitchFamily="34" charset="-122"/>
                <a:cs typeface="Calibri" pitchFamily="34" charset="-120"/>
              </a:rPr>
              <a:t>Off-JT（職場外研修）</a:t>
            </a:r>
            <a:endParaRPr lang="en-US" sz="1300" dirty="0"/>
          </a:p>
        </p:txBody>
      </p:sp>
      <p:sp>
        <p:nvSpPr>
          <p:cNvPr id="17" name="Text 15"/>
          <p:cNvSpPr/>
          <p:nvPr/>
        </p:nvSpPr>
        <p:spPr>
          <a:xfrm>
            <a:off x="5029200" y="2651760"/>
            <a:ext cx="3520440" cy="5029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法定研修（サビ管研修・虐待防止研修等）</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外部研修参加→職場内共有</a:t>
            </a:r>
            <a:endParaRPr lang="en-US" sz="1100" dirty="0"/>
          </a:p>
        </p:txBody>
      </p:sp>
      <p:sp>
        <p:nvSpPr>
          <p:cNvPr id="18" name="Shape 16"/>
          <p:cNvSpPr/>
          <p:nvPr/>
        </p:nvSpPr>
        <p:spPr>
          <a:xfrm>
            <a:off x="457200" y="3566160"/>
            <a:ext cx="8229600" cy="731520"/>
          </a:xfrm>
          <a:prstGeom prst="rect">
            <a:avLst/>
          </a:prstGeom>
          <a:solidFill>
            <a:srgbClr val="E0F2F1"/>
          </a:solidFill>
          <a:ln/>
        </p:spPr>
      </p:sp>
      <p:sp>
        <p:nvSpPr>
          <p:cNvPr id="19" name="Text 17"/>
          <p:cNvSpPr/>
          <p:nvPr/>
        </p:nvSpPr>
        <p:spPr>
          <a:xfrm>
            <a:off x="640080" y="3611880"/>
            <a:ext cx="7863840" cy="640080"/>
          </a:xfrm>
          <a:prstGeom prst="rect">
            <a:avLst/>
          </a:prstGeom>
          <a:noFill/>
          <a:ln/>
        </p:spPr>
        <p:txBody>
          <a:bodyPr wrap="square" rtlCol="0" anchor="ctr"/>
          <a:lstStyle/>
          <a:p>
            <a:pPr indent="0" marL="0">
              <a:buNone/>
            </a:pPr>
            <a:r>
              <a:rPr lang="en-US" sz="1100" b="1" dirty="0">
                <a:solidFill>
                  <a:srgbClr val="1A6B5E"/>
                </a:solidFill>
                <a:latin typeface="Calibri" pitchFamily="34" charset="0"/>
                <a:ea typeface="Calibri" pitchFamily="34" charset="-122"/>
                <a:cs typeface="Calibri" pitchFamily="34" charset="-120"/>
              </a:rPr>
              <a:t>行政監査への対応：</a:t>
            </a:r>
            <a:pPr indent="0" marL="0">
              <a:buNone/>
            </a:pPr>
            <a:r>
              <a:rPr lang="en-US" sz="1100" dirty="0">
                <a:solidFill>
                  <a:srgbClr val="1E293B"/>
                </a:solidFill>
                <a:latin typeface="Calibri" pitchFamily="34" charset="0"/>
                <a:ea typeface="Calibri" pitchFamily="34" charset="-122"/>
                <a:cs typeface="Calibri" pitchFamily="34" charset="-120"/>
              </a:rPr>
              <a:t>必要な記録・書類は日常業務の延長として整備する。日々の支援の質が適切であれば、監査対応は自然と整う。指定更新（6年ごと）、実地指導に向けた準備を常時行う。</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第8章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外部連携</a:t>
            </a:r>
            <a:endParaRPr lang="en-US" sz="36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外部連携の全体像</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- 11 -</a:t>
            </a:r>
            <a:endParaRPr lang="en-US" sz="900" dirty="0"/>
          </a:p>
        </p:txBody>
      </p:sp>
      <p:sp>
        <p:nvSpPr>
          <p:cNvPr id="6" name="Shape 4"/>
          <p:cNvSpPr/>
          <p:nvPr/>
        </p:nvSpPr>
        <p:spPr>
          <a:xfrm>
            <a:off x="320040" y="1051560"/>
            <a:ext cx="20116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320040" y="1051560"/>
            <a:ext cx="2011680" cy="54864"/>
          </a:xfrm>
          <a:prstGeom prst="rect">
            <a:avLst/>
          </a:prstGeom>
          <a:solidFill>
            <a:srgbClr val="1A6B5E"/>
          </a:solidFill>
          <a:ln/>
        </p:spPr>
      </p:sp>
      <p:sp>
        <p:nvSpPr>
          <p:cNvPr id="8" name="Text 6"/>
          <p:cNvSpPr/>
          <p:nvPr/>
        </p:nvSpPr>
        <p:spPr>
          <a:xfrm>
            <a:off x="320040" y="1188720"/>
            <a:ext cx="2011680" cy="365760"/>
          </a:xfrm>
          <a:prstGeom prst="rect">
            <a:avLst/>
          </a:prstGeom>
          <a:noFill/>
          <a:ln/>
        </p:spPr>
        <p:txBody>
          <a:bodyPr wrap="square" rtlCol="0" anchor="ctr"/>
          <a:lstStyle/>
          <a:p>
            <a:pPr algn="ctr" indent="0" marL="0">
              <a:buNone/>
            </a:pPr>
            <a:r>
              <a:rPr lang="en-US" sz="1600" b="1" dirty="0">
                <a:solidFill>
                  <a:srgbClr val="1A6B5E"/>
                </a:solidFill>
                <a:latin typeface="Calibri" pitchFamily="34" charset="0"/>
                <a:ea typeface="Calibri" pitchFamily="34" charset="-122"/>
                <a:cs typeface="Calibri" pitchFamily="34" charset="-120"/>
              </a:rPr>
              <a:t>なかぽつ</a:t>
            </a:r>
            <a:endParaRPr lang="en-US" sz="1600" dirty="0"/>
          </a:p>
        </p:txBody>
      </p:sp>
      <p:sp>
        <p:nvSpPr>
          <p:cNvPr id="9" name="Text 7"/>
          <p:cNvSpPr/>
          <p:nvPr/>
        </p:nvSpPr>
        <p:spPr>
          <a:xfrm>
            <a:off x="320040" y="1554480"/>
            <a:ext cx="20116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障害者就業・生活支援センター</a:t>
            </a:r>
            <a:endParaRPr lang="en-US" sz="800" dirty="0"/>
          </a:p>
        </p:txBody>
      </p:sp>
      <p:sp>
        <p:nvSpPr>
          <p:cNvPr id="10" name="Text 8"/>
          <p:cNvSpPr/>
          <p:nvPr/>
        </p:nvSpPr>
        <p:spPr>
          <a:xfrm>
            <a:off x="41148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就業面＋生活面の一体的支援</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就職活動支援・職場定着支援</a:t>
            </a:r>
            <a:endParaRPr lang="en-US" sz="1000" dirty="0"/>
          </a:p>
        </p:txBody>
      </p:sp>
      <p:sp>
        <p:nvSpPr>
          <p:cNvPr id="11" name="Shape 9"/>
          <p:cNvSpPr/>
          <p:nvPr/>
        </p:nvSpPr>
        <p:spPr>
          <a:xfrm>
            <a:off x="2468880" y="1051560"/>
            <a:ext cx="20116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2" name="Shape 10"/>
          <p:cNvSpPr/>
          <p:nvPr/>
        </p:nvSpPr>
        <p:spPr>
          <a:xfrm>
            <a:off x="2468880" y="1051560"/>
            <a:ext cx="2011680" cy="54864"/>
          </a:xfrm>
          <a:prstGeom prst="rect">
            <a:avLst/>
          </a:prstGeom>
          <a:solidFill>
            <a:srgbClr val="2A9D8F"/>
          </a:solidFill>
          <a:ln/>
        </p:spPr>
      </p:sp>
      <p:sp>
        <p:nvSpPr>
          <p:cNvPr id="13" name="Text 11"/>
          <p:cNvSpPr/>
          <p:nvPr/>
        </p:nvSpPr>
        <p:spPr>
          <a:xfrm>
            <a:off x="2468880" y="1188720"/>
            <a:ext cx="2011680" cy="365760"/>
          </a:xfrm>
          <a:prstGeom prst="rect">
            <a:avLst/>
          </a:prstGeom>
          <a:noFill/>
          <a:ln/>
        </p:spPr>
        <p:txBody>
          <a:bodyPr wrap="square" rtlCol="0" anchor="ctr"/>
          <a:lstStyle/>
          <a:p>
            <a:pPr algn="ctr" indent="0" marL="0">
              <a:buNone/>
            </a:pPr>
            <a:r>
              <a:rPr lang="en-US" sz="1600" b="1" dirty="0">
                <a:solidFill>
                  <a:srgbClr val="2A9D8F"/>
                </a:solidFill>
                <a:latin typeface="Calibri" pitchFamily="34" charset="0"/>
                <a:ea typeface="Calibri" pitchFamily="34" charset="-122"/>
                <a:cs typeface="Calibri" pitchFamily="34" charset="-120"/>
              </a:rPr>
              <a:t>ハローワーク</a:t>
            </a:r>
            <a:endParaRPr lang="en-US" sz="1600" dirty="0"/>
          </a:p>
        </p:txBody>
      </p:sp>
      <p:sp>
        <p:nvSpPr>
          <p:cNvPr id="14" name="Text 12"/>
          <p:cNvSpPr/>
          <p:nvPr/>
        </p:nvSpPr>
        <p:spPr>
          <a:xfrm>
            <a:off x="2468880" y="1554480"/>
            <a:ext cx="20116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公共職業安定所</a:t>
            </a:r>
            <a:endParaRPr lang="en-US" sz="800" dirty="0"/>
          </a:p>
        </p:txBody>
      </p:sp>
      <p:sp>
        <p:nvSpPr>
          <p:cNvPr id="15" name="Text 13"/>
          <p:cNvSpPr/>
          <p:nvPr/>
        </p:nvSpPr>
        <p:spPr>
          <a:xfrm>
            <a:off x="256032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障害者求人情報の提供</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トライアル雇用事業等</a:t>
            </a:r>
            <a:endParaRPr lang="en-US" sz="1000" dirty="0"/>
          </a:p>
        </p:txBody>
      </p:sp>
      <p:sp>
        <p:nvSpPr>
          <p:cNvPr id="16" name="Shape 14"/>
          <p:cNvSpPr/>
          <p:nvPr/>
        </p:nvSpPr>
        <p:spPr>
          <a:xfrm>
            <a:off x="4617720" y="1051560"/>
            <a:ext cx="20116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4617720" y="1051560"/>
            <a:ext cx="2011680" cy="54864"/>
          </a:xfrm>
          <a:prstGeom prst="rect">
            <a:avLst/>
          </a:prstGeom>
          <a:solidFill>
            <a:srgbClr val="3B82F6"/>
          </a:solidFill>
          <a:ln/>
        </p:spPr>
      </p:sp>
      <p:sp>
        <p:nvSpPr>
          <p:cNvPr id="18" name="Text 16"/>
          <p:cNvSpPr/>
          <p:nvPr/>
        </p:nvSpPr>
        <p:spPr>
          <a:xfrm>
            <a:off x="4617720" y="1188720"/>
            <a:ext cx="2011680" cy="365760"/>
          </a:xfrm>
          <a:prstGeom prst="rect">
            <a:avLst/>
          </a:prstGeom>
          <a:noFill/>
          <a:ln/>
        </p:spPr>
        <p:txBody>
          <a:bodyPr wrap="square" rtlCol="0" anchor="ctr"/>
          <a:lstStyle/>
          <a:p>
            <a:pPr algn="ctr" indent="0" marL="0">
              <a:buNone/>
            </a:pPr>
            <a:r>
              <a:rPr lang="en-US" sz="1600" b="1" dirty="0">
                <a:solidFill>
                  <a:srgbClr val="3B82F6"/>
                </a:solidFill>
                <a:latin typeface="Calibri" pitchFamily="34" charset="0"/>
                <a:ea typeface="Calibri" pitchFamily="34" charset="-122"/>
                <a:cs typeface="Calibri" pitchFamily="34" charset="-120"/>
              </a:rPr>
              <a:t>JEED</a:t>
            </a:r>
            <a:endParaRPr lang="en-US" sz="1600" dirty="0"/>
          </a:p>
        </p:txBody>
      </p:sp>
      <p:sp>
        <p:nvSpPr>
          <p:cNvPr id="19" name="Text 17"/>
          <p:cNvSpPr/>
          <p:nvPr/>
        </p:nvSpPr>
        <p:spPr>
          <a:xfrm>
            <a:off x="4617720" y="1554480"/>
            <a:ext cx="2011680"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高齢・障害・求職者雇用支援機構</a:t>
            </a:r>
            <a:endParaRPr lang="en-US" sz="800" dirty="0"/>
          </a:p>
        </p:txBody>
      </p:sp>
      <p:sp>
        <p:nvSpPr>
          <p:cNvPr id="20" name="Text 18"/>
          <p:cNvSpPr/>
          <p:nvPr/>
        </p:nvSpPr>
        <p:spPr>
          <a:xfrm>
            <a:off x="470916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職業評価・職業リハビリテーション</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ジョブコーチ支援事業</a:t>
            </a:r>
            <a:endParaRPr lang="en-US" sz="1000" dirty="0"/>
          </a:p>
        </p:txBody>
      </p:sp>
      <p:sp>
        <p:nvSpPr>
          <p:cNvPr id="21" name="Shape 19"/>
          <p:cNvSpPr/>
          <p:nvPr/>
        </p:nvSpPr>
        <p:spPr>
          <a:xfrm>
            <a:off x="6766560" y="1051560"/>
            <a:ext cx="201168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2" name="Shape 20"/>
          <p:cNvSpPr/>
          <p:nvPr/>
        </p:nvSpPr>
        <p:spPr>
          <a:xfrm>
            <a:off x="6766560" y="1051560"/>
            <a:ext cx="2011680" cy="54864"/>
          </a:xfrm>
          <a:prstGeom prst="rect">
            <a:avLst/>
          </a:prstGeom>
          <a:solidFill>
            <a:srgbClr val="7C3AED"/>
          </a:solidFill>
          <a:ln/>
        </p:spPr>
      </p:sp>
      <p:sp>
        <p:nvSpPr>
          <p:cNvPr id="23" name="Text 21"/>
          <p:cNvSpPr/>
          <p:nvPr/>
        </p:nvSpPr>
        <p:spPr>
          <a:xfrm>
            <a:off x="6766560" y="1188720"/>
            <a:ext cx="2011680" cy="365760"/>
          </a:xfrm>
          <a:prstGeom prst="rect">
            <a:avLst/>
          </a:prstGeom>
          <a:noFill/>
          <a:ln/>
        </p:spPr>
        <p:txBody>
          <a:bodyPr wrap="square" rtlCol="0" anchor="ctr"/>
          <a:lstStyle/>
          <a:p>
            <a:pPr algn="ctr" indent="0" marL="0">
              <a:buNone/>
            </a:pPr>
            <a:r>
              <a:rPr lang="en-US" sz="1600" b="1" dirty="0">
                <a:solidFill>
                  <a:srgbClr val="7C3AED"/>
                </a:solidFill>
                <a:latin typeface="Calibri" pitchFamily="34" charset="0"/>
                <a:ea typeface="Calibri" pitchFamily="34" charset="-122"/>
                <a:cs typeface="Calibri" pitchFamily="34" charset="-120"/>
              </a:rPr>
              <a:t>医療機関・相談支援</a:t>
            </a:r>
            <a:endParaRPr lang="en-US" sz="1600" dirty="0"/>
          </a:p>
        </p:txBody>
      </p:sp>
      <p:sp>
        <p:nvSpPr>
          <p:cNvPr id="24" name="Text 22"/>
          <p:cNvSpPr/>
          <p:nvPr/>
        </p:nvSpPr>
        <p:spPr>
          <a:xfrm>
            <a:off x="685800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主治医との連携（本人同意のもと）</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サービス等利用計画との整合性</a:t>
            </a:r>
            <a:endParaRPr lang="en-US" sz="1000" dirty="0"/>
          </a:p>
        </p:txBody>
      </p:sp>
      <p:sp>
        <p:nvSpPr>
          <p:cNvPr id="25" name="Shape 23"/>
          <p:cNvSpPr/>
          <p:nvPr/>
        </p:nvSpPr>
        <p:spPr>
          <a:xfrm>
            <a:off x="457200" y="3840480"/>
            <a:ext cx="8229600" cy="640080"/>
          </a:xfrm>
          <a:prstGeom prst="rect">
            <a:avLst/>
          </a:prstGeom>
          <a:solidFill>
            <a:srgbClr val="F0F7F5"/>
          </a:solidFill>
          <a:ln/>
        </p:spPr>
      </p:sp>
      <p:sp>
        <p:nvSpPr>
          <p:cNvPr id="26" name="Text 24"/>
          <p:cNvSpPr/>
          <p:nvPr/>
        </p:nvSpPr>
        <p:spPr>
          <a:xfrm>
            <a:off x="640080" y="3840480"/>
            <a:ext cx="7863840" cy="640080"/>
          </a:xfrm>
          <a:prstGeom prst="rect">
            <a:avLst/>
          </a:prstGeom>
          <a:noFill/>
          <a:ln/>
        </p:spPr>
        <p:txBody>
          <a:bodyPr wrap="square" rtlCol="0" anchor="ctr"/>
          <a:lstStyle/>
          <a:p>
            <a:pPr indent="0" marL="0">
              <a:buNone/>
            </a:pPr>
            <a:r>
              <a:rPr lang="en-US" sz="1100" b="1" dirty="0">
                <a:solidFill>
                  <a:srgbClr val="1A6B5E"/>
                </a:solidFill>
                <a:latin typeface="Calibri" pitchFamily="34" charset="0"/>
                <a:ea typeface="Calibri" pitchFamily="34" charset="-122"/>
                <a:cs typeface="Calibri" pitchFamily="34" charset="-120"/>
              </a:rPr>
              <a:t>企業との関係構築：</a:t>
            </a:r>
            <a:pPr indent="0" marL="0">
              <a:buNone/>
            </a:pPr>
            <a:r>
              <a:rPr lang="en-US" sz="1100" dirty="0">
                <a:solidFill>
                  <a:srgbClr val="1E293B"/>
                </a:solidFill>
                <a:latin typeface="Calibri" pitchFamily="34" charset="0"/>
                <a:ea typeface="Calibri" pitchFamily="34" charset="-122"/>
                <a:cs typeface="Calibri" pitchFamily="34" charset="-120"/>
              </a:rPr>
              <a:t>障害理解の促進 → 職場実習の受入れ調整 → 採用後のフォローアップ → 企業同士のネットワーク構築</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oval">
            <a:avLst/>
          </a:prstGeom>
          <a:solidFill>
            <a:srgbClr val="2A9D8F">
              <a:alpha val="80000"/>
            </a:srgbClr>
          </a:solidFill>
          <a:ln/>
        </p:spPr>
      </p:sp>
      <p:sp>
        <p:nvSpPr>
          <p:cNvPr id="3" name="Shape 1"/>
          <p:cNvSpPr/>
          <p:nvPr/>
        </p:nvSpPr>
        <p:spPr>
          <a:xfrm>
            <a:off x="3886200" y="960120"/>
            <a:ext cx="1371600" cy="1371600"/>
          </a:xfrm>
          <a:prstGeom prst="oval">
            <a:avLst/>
          </a:prstGeom>
          <a:solidFill>
            <a:srgbClr val="2A9D8F"/>
          </a:solidFill>
          <a:ln/>
        </p:spPr>
      </p:sp>
      <p:pic>
        <p:nvPicPr>
          <p:cNvPr id="4" name="Image 0" descr="preencoded.png">    </p:cNvPr>
          <p:cNvPicPr>
            <a:picLocks noChangeAspect="1"/>
          </p:cNvPicPr>
          <p:nvPr/>
        </p:nvPicPr>
        <p:blipFill>
          <a:blip r:embed="rId1"/>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algn="ctr" indent="0" marL="0">
              <a:buNone/>
            </a:pPr>
            <a:r>
              <a:rPr lang="en-US" sz="1800" spc="600" kern="0" dirty="0">
                <a:solidFill>
                  <a:srgbClr val="E9C46A"/>
                </a:solidFill>
                <a:latin typeface="Calibri" pitchFamily="34" charset="0"/>
                <a:ea typeface="Calibri" pitchFamily="34" charset="-122"/>
                <a:cs typeface="Calibri" pitchFamily="34" charset="-120"/>
              </a:rPr>
              <a:t>付録</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用語集・関連法令一覧・チェックリスト・様式集</a:t>
            </a:r>
            <a:endParaRPr lang="en-US" sz="3000" dirty="0"/>
          </a:p>
        </p:txBody>
      </p:sp>
      <p:sp>
        <p:nvSpPr>
          <p:cNvPr id="7" name="Shape 4"/>
          <p:cNvSpPr/>
          <p:nvPr/>
        </p:nvSpPr>
        <p:spPr>
          <a:xfrm>
            <a:off x="3657600" y="4434840"/>
            <a:ext cx="1828800" cy="36576"/>
          </a:xfrm>
          <a:prstGeom prst="rect">
            <a:avLst/>
          </a:prstGeom>
          <a:solidFill>
            <a:srgbClr val="E9C46A"/>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200" b="1" dirty="0">
                <a:solidFill>
                  <a:srgbClr val="1A6B5E"/>
                </a:solidFill>
                <a:latin typeface="Calibri" pitchFamily="34" charset="0"/>
                <a:ea typeface="Calibri" pitchFamily="34" charset="-122"/>
                <a:cs typeface="Calibri" pitchFamily="34" charset="-120"/>
              </a:rPr>
              <a:t>付録C　新人教育到達度チェックリスト</a:t>
            </a:r>
            <a:endParaRPr lang="en-US" sz="2200" dirty="0"/>
          </a:p>
        </p:txBody>
      </p:sp>
      <p:sp>
        <p:nvSpPr>
          <p:cNvPr id="4" name="Shape 2"/>
          <p:cNvSpPr/>
          <p:nvPr/>
        </p:nvSpPr>
        <p:spPr>
          <a:xfrm>
            <a:off x="548640" y="749808"/>
            <a:ext cx="1097280" cy="27432"/>
          </a:xfrm>
          <a:prstGeom prst="rect">
            <a:avLst/>
          </a:prstGeom>
          <a:solidFill>
            <a:srgbClr val="E9C46A"/>
          </a:solidFill>
          <a:ln/>
        </p:spPr>
      </p:sp>
      <p:sp>
        <p:nvSpPr>
          <p:cNvPr id="5" name="Text 3"/>
          <p:cNvSpPr/>
          <p:nvPr/>
        </p:nvSpPr>
        <p:spPr>
          <a:xfrm>
            <a:off x="0" y="4709160"/>
            <a:ext cx="9144000" cy="36576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- 12 -</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3474720"/>
                <a:gridCol w="3291840"/>
                <a:gridCol w="164592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確認項目</a:t>
                      </a:r>
                      <a:endParaRPr lang="en-US" sz="9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到達基準</a:t>
                      </a:r>
                      <a:endParaRPr lang="en-US" sz="9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確認日</a:t>
                      </a:r>
                      <a:endParaRPr lang="en-US" sz="9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A6B5E"/>
                    </a:solidFill>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A型・B型・移行支援の違いを説明できる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第1章の内容を正確に理解</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基本的な法令名と関連義務を説明できる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総合支援法・差別解消法・虐待防止法</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個別支援計画の意義と構成要素を説明できる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合意形成プロセスとして理解</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意思決定支援の基本原則を実践できる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本人の意思を起点とした対応</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合理的配慮の概念を説明・実践できる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機会提供＋環境調整の一体的理解</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虐待の種類と通報義務を説明できる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5種類の虐待と通報先を正確に</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ヒヤリハットの報告ができる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報告の意義を理解し実践</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r>
              <a:tr h="347472">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記録の基本的な書き方ができる</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事実と意見を区別した記録</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3D"/>
        </a:solidFill>
      </p:bgPr>
    </p:bg>
    <p:spTree>
      <p:nvGrpSpPr>
        <p:cNvPr id="1" name=""/>
        <p:cNvGrpSpPr/>
        <p:nvPr/>
      </p:nvGrpSpPr>
      <p:grpSpPr>
        <a:xfrm>
          <a:off x="0" y="0"/>
          <a:ext cx="0" cy="0"/>
          <a:chOff x="0" y="0"/>
          <a:chExt cx="0" cy="0"/>
        </a:xfrm>
      </p:grpSpPr>
      <p:sp>
        <p:nvSpPr>
          <p:cNvPr id="2" name="Text 0"/>
          <p:cNvSpPr/>
          <p:nvPr/>
        </p:nvSpPr>
        <p:spPr>
          <a:xfrm>
            <a:off x="457200" y="1097280"/>
            <a:ext cx="8229600" cy="164592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障害福祉サービス</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就労支援 教育マニュアル</a:t>
            </a:r>
            <a:endParaRPr lang="en-US" sz="3200" dirty="0"/>
          </a:p>
        </p:txBody>
      </p:sp>
      <p:sp>
        <p:nvSpPr>
          <p:cNvPr id="3" name="Shape 1"/>
          <p:cNvSpPr/>
          <p:nvPr/>
        </p:nvSpPr>
        <p:spPr>
          <a:xfrm>
            <a:off x="3200400" y="2834640"/>
            <a:ext cx="2743200" cy="36576"/>
          </a:xfrm>
          <a:prstGeom prst="rect">
            <a:avLst/>
          </a:prstGeom>
          <a:solidFill>
            <a:srgbClr val="E9C46A"/>
          </a:solidFill>
          <a:ln/>
        </p:spPr>
      </p:sp>
      <p:sp>
        <p:nvSpPr>
          <p:cNvPr id="4" name="Text 2"/>
          <p:cNvSpPr/>
          <p:nvPr/>
        </p:nvSpPr>
        <p:spPr>
          <a:xfrm>
            <a:off x="457200" y="3108960"/>
            <a:ext cx="8229600" cy="45720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2026年3月版（2024年度報酬改定対応）</a:t>
            </a:r>
            <a:endParaRPr lang="en-US" sz="1400" dirty="0"/>
          </a:p>
        </p:txBody>
      </p:sp>
      <p:sp>
        <p:nvSpPr>
          <p:cNvPr id="5" name="Text 3"/>
          <p:cNvSpPr/>
          <p:nvPr/>
        </p:nvSpPr>
        <p:spPr>
          <a:xfrm>
            <a:off x="914400" y="3840480"/>
            <a:ext cx="7315200" cy="7315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※本マニュアルは制度の概要を解説するものです。</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自治体ごとのローカルルールが存在するため、詳細は所管行政に確認してください。</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障害福祉サービス 就労支援 教育マニュアル</dc:title>
  <dc:subject>PptxGenJS Presentation</dc:subject>
  <dc:creator>Yuji Yamauchi</dc:creator>
  <cp:lastModifiedBy>Yuji Yamauchi</cp:lastModifiedBy>
  <cp:revision>1</cp:revision>
  <dcterms:created xsi:type="dcterms:W3CDTF">2026-03-04T07:08:56Z</dcterms:created>
  <dcterms:modified xsi:type="dcterms:W3CDTF">2026-03-04T07:08:56Z</dcterms:modified>
</cp:coreProperties>
</file>