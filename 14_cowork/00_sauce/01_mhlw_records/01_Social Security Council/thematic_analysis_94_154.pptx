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A型事業所 平均賃金月額の推移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A型平均賃金月額（円）</c:v>
                </c:pt>
              </c:strCache>
            </c:strRef>
          </c:tx>
          <c:spPr>
            <a:solidFill>
              <a:srgbClr val="0D7377"/>
            </a:solidFill>
            <a:ln w="38100" cap="flat">
              <a:solidFill>
                <a:srgbClr val="0D73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H24</c:v>
                  </c:pt>
                  <c:pt idx="1">
                    <c:v>H26</c:v>
                  </c:pt>
                  <c:pt idx="2">
                    <c:v>H28</c:v>
                  </c:pt>
                  <c:pt idx="3">
                    <c:v>H30</c:v>
                  </c:pt>
                  <c:pt idx="4">
                    <c:v>R2</c:v>
                  </c:pt>
                  <c:pt idx="5">
                    <c:v>R4</c:v>
                  </c:pt>
                  <c:pt idx="6">
                    <c:v>R6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68691</c:v>
                </c:pt>
                <c:pt idx="1">
                  <c:v>66412</c:v>
                </c:pt>
                <c:pt idx="2">
                  <c:v>70720</c:v>
                </c:pt>
                <c:pt idx="3">
                  <c:v>76887</c:v>
                </c:pt>
                <c:pt idx="4">
                  <c:v>79625</c:v>
                </c:pt>
                <c:pt idx="5">
                  <c:v>83551</c:v>
                </c:pt>
                <c:pt idx="6">
                  <c:v>91451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虐待 相談・通報件数の推移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養護者虐待（通報件数）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R2</c:v>
                  </c:pt>
                  <c:pt idx="1">
                    <c:v>R3</c:v>
                  </c:pt>
                  <c:pt idx="2">
                    <c:v>R4</c:v>
                  </c:pt>
                  <c:pt idx="3">
                    <c:v>R5</c:v>
                  </c:pt>
                  <c:pt idx="4">
                    <c:v>R6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5758</c:v>
                </c:pt>
                <c:pt idx="1">
                  <c:v>6556</c:v>
                </c:pt>
                <c:pt idx="2">
                  <c:v>7337</c:v>
                </c:pt>
                <c:pt idx="3">
                  <c:v>9972</c:v>
                </c:pt>
                <c:pt idx="4">
                  <c:v>11656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施設虐待（通報件数）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R2</c:v>
                  </c:pt>
                  <c:pt idx="1">
                    <c:v>R3</c:v>
                  </c:pt>
                  <c:pt idx="2">
                    <c:v>R4</c:v>
                  </c:pt>
                  <c:pt idx="3">
                    <c:v>R5</c:v>
                  </c:pt>
                  <c:pt idx="4">
                    <c:v>R6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2865</c:v>
                </c:pt>
                <c:pt idx="1">
                  <c:v>3208</c:v>
                </c:pt>
                <c:pt idx="2">
                  <c:v>3782</c:v>
                </c:pt>
                <c:pt idx="3">
                  <c:v>5618</c:v>
                </c:pt>
                <c:pt idx="4">
                  <c:v>5870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施設虐待の発生要因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発生要因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E8A838"/>
              </a:solidFill>
              <a:effectLst/>
            </c:spPr>
          </c:dPt>
          <c:dPt>
            <c:idx val="2"/>
            <c:bubble3D val="0"/>
            <c:spPr>
              <a:solidFill>
                <a:srgbClr val="2E86AB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教育・知識</c:v>
                </c:pt>
                <c:pt idx="1">
                  <c:v>倫理観の欠如</c:v>
                </c:pt>
                <c:pt idx="2">
                  <c:v>ストレス</c:v>
                </c:pt>
                <c:pt idx="3">
                  <c:v>その他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67.5</c:v>
                </c:pt>
                <c:pt idx="1">
                  <c:v>60.2</c:v>
                </c:pt>
                <c:pt idx="2">
                  <c:v>58.7</c:v>
                </c:pt>
                <c:pt idx="3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社会保障審議会 障害者部会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テーマ別政策動向解説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第94回（2019.6）〜 第154回（2026.1）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3200400" cy="0"/>
          </a:xfrm>
          <a:prstGeom prst="line">
            <a:avLst/>
          </a:prstGeom>
          <a:noFill/>
          <a:ln w="25400">
            <a:solidFill>
              <a:srgbClr val="E8A8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291840"/>
            <a:ext cx="2286000" cy="457200"/>
          </a:xfrm>
          <a:prstGeom prst="rect">
            <a:avLst>
              <a:gd name="adj" fmla="val 10000"/>
            </a:avLst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就労支援サービス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3291840"/>
            <a:ext cx="2286000" cy="457200"/>
          </a:xfrm>
          <a:prstGeom prst="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虐待防止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3291840"/>
            <a:ext cx="2286000" cy="457200"/>
          </a:xfrm>
          <a:prstGeom prst="rect">
            <a:avLst>
              <a:gd name="adj" fmla="val 10000"/>
            </a:avLst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意思決定支援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約560件のPDFから自動抽出・分析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分析概要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全63回の会議資料から3テーマの政策動向を横断的に抽出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737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63回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対象会議数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280160"/>
            <a:ext cx="1737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~560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6888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対象PDF数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280160"/>
            <a:ext cx="1371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0" y="1353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389120" y="1737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就労支援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1280160"/>
            <a:ext cx="1371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52160" y="1353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943600" y="1737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虐待防止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06640" y="1280160"/>
            <a:ext cx="1371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06640" y="1353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98080" y="1737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時系列フェーズ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26517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880360"/>
            <a:ext cx="265176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953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2019〜2020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2953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#94〜104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制度見直し前期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基本指針改定、雇用・福祉連携PT設置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2880360"/>
            <a:ext cx="26517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2880360"/>
            <a:ext cx="265176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2953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前半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2953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#105〜118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総合支援法改正検討期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8328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就労選択支援新設、意思決定支援ガイドライン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2880360"/>
            <a:ext cx="26517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2880360"/>
            <a:ext cx="265176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2953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2021後半〜2022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98080" y="2953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#119〜132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報告書取りまとめ期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虐待防止措置義務化、成年後見制度見直し議論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977640"/>
            <a:ext cx="26517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3977640"/>
            <a:ext cx="265176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050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28800" y="40507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#133〜139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法改正後・施行準備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4526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報酬改定議論、通報義務強化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91840" y="3977640"/>
            <a:ext cx="26517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91840" y="3977640"/>
            <a:ext cx="265176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9" name="Text 47"/>
          <p:cNvSpPr/>
          <p:nvPr/>
        </p:nvSpPr>
        <p:spPr>
          <a:xfrm>
            <a:off x="3383280" y="4050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63440" y="40507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#140〜144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38328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報酬改定・制度運用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83280" y="4526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R6年度報酬改定(+1.12%)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26480" y="3977640"/>
            <a:ext cx="26517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26480" y="3977640"/>
            <a:ext cx="265176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5" name="Text 53"/>
          <p:cNvSpPr/>
          <p:nvPr/>
        </p:nvSpPr>
        <p:spPr>
          <a:xfrm>
            <a:off x="6217920" y="4050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2025〜2026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98080" y="40507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#145〜154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1792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次期計画策定期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17920" y="4526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第8期計画、高次脳機能障害支援法成立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109728" cy="1645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459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就労支援サービス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障害者雇用・就労継続支援・工賃向上・就労選択支援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264件の関連記述を抽出（第94〜154回）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就労支援: 政策の変遷（2019〜2026）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雇用・福祉連携から就労選択支援の創設へ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54864" cy="1783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07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2019: A型経営改善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58191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A型事業所の経営改善計画書提出状況調査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就労継続支援A型の質の確保が課題に浮上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34440"/>
            <a:ext cx="54864" cy="1783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307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2020: 雇用・福祉連携PT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58191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障害者雇用・福祉連携強化PT設置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通勤支援・職場支援の在り方検討開始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34440"/>
            <a:ext cx="54864" cy="1783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307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就労選択支援の提案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58191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就労アセスメントの制度化議論（第109〜113回）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「就労選択支援」の新サービス創設を提案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一般就労と福祉的就労の選択を支援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54680"/>
            <a:ext cx="54864" cy="1783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2022: 報告書取りまとめ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5021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障害者部会報告書に就労支援改革を明記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就労選択支援のサービス設計の具体化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A型・B型の目標工賃達成指導の強化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31546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154680"/>
            <a:ext cx="54864" cy="1783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2023-24: 報酬改定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35021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R6年度報酬改定(+1.12%)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就労移行支援の成果主義見直し議論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処遇改善加算の拡充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1546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3154680"/>
            <a:ext cx="54864" cy="1783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2025-26: 次期計画策定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5021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A型平均賃金91,451円（R6）達成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第8期計画の就労関連目標設定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就労選択支援の施行・運用開始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就労支援: 主要データ・成果指標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A型賃金推移・一般就労移行目標・工賃向上の軌跡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23444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280160"/>
            <a:ext cx="3017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69280" y="13533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91,451円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760720" y="16916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R6年度 A型平均賃金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2286000"/>
            <a:ext cx="3017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0" y="23591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+33.1%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760720" y="26974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H24年度比増加率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0" y="3291840"/>
            <a:ext cx="3017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0" y="3291840"/>
            <a:ext cx="54864" cy="13716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3649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今後の政策方向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52160" y="3639312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就労選択支援の本格運用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準委任契約的評価の検討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ICT活用による生産性向上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人材紹介手数料の適正化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就労支援: 制度の全体構造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就労選択支援を中心とした新たな支援フロー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828800" cy="82296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アセスメント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1828800" cy="822960"/>
          </a:xfrm>
          <a:prstGeom prst="rect">
            <a:avLst/>
          </a:prstGeom>
          <a:solidFill>
            <a:srgbClr val="E8A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就労選択支援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（R7新設）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097280"/>
            <a:ext cx="1828800" cy="82296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097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一般就労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（就労移行支援）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2286000"/>
            <a:ext cx="1828800" cy="82296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福祉的就労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（A型・B型）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097280"/>
            <a:ext cx="1828800" cy="82296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097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就労定着支援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2286000"/>
            <a:ext cx="1828800" cy="82296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工賃向上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賃金改善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0624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0624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383280"/>
            <a:ext cx="54864" cy="13716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456432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Puuの研究との接点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730752"/>
            <a:ext cx="7909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就労選択支援は「本人主権型アセスメント（SoE）」の制度的実装と解釈可能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就労アセスメントの標準化は、Input Constitutional AIの評価基盤と接続する可能性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A型の工賃水準は、社会的インフラとしての制度のアウトカム指標（PL的評価）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109728" cy="1645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459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虐待防止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養護者虐待・施設従事者虐待・精神科病院虐待・身体拘束廃止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171件の関連記述を抽出（第94〜154回）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虐待防止: 政策の変遷（2019〜2026）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通報義務の強化・第三者評価の導入・精神科病院への拡大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54864" cy="1783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07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2019-20: 実態調査と課題認識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58191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虐待事例対応状況調査の継続実施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養護者虐待の相談通報件数が年々増加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身体拘束廃止への取組強化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34440"/>
            <a:ext cx="54864" cy="1783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307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虐待防止措置の義務化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58191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R4.4〜虐待防止措置の義務化（R3法改正）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身体拘束廃止未実施減算の導入検討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第三者評価（外部の目）の制度化議論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34440"/>
            <a:ext cx="54864" cy="1783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307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2022: 報告書への反映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58191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障害者部会報告書に虐待防止強化を明記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グループホーム・支援施設の重点対策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権利擁護・意思決定支援との連動強化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54680"/>
            <a:ext cx="54864" cy="1783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2023: 法改正後の運用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5021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虐待防止措置の実施状況モニタリング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精神保健福祉法改正（R4）→通報制度義務化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減算措置の本格運用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31546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154680"/>
            <a:ext cx="54864" cy="1783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2024: 報酬改定での対応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35021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虐待防止未実施の場合の減算措置強化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身体拘束廃止未実施減算の引上げ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地域連携推進会議での第三者評価義務化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1546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3154680"/>
            <a:ext cx="54864" cy="1783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2025-26: 最新調査結果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5021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養護者虐待: 通報11,656件(+16.9%)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精神科病院: 初の集計（認定260件）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被虐待者の精神障害が47.6%で最多に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虐待防止: 最新調査データ（R6年度）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養護者虐待・施設従事者虐待・精神科病院虐待の実態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188720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5486400" y="1188720"/>
          <a:ext cx="33832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3822192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Puuの研究との接点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4096512"/>
            <a:ext cx="7909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「教育・知識の問題67.5%」「倫理観の欠如60.2%」→「善意に依存しない支援評価」（SoE）の実証的根拠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通報義務・第三者評価はSoEにおけるgage（測定装置）としてのモニタリング機構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身体拘束廃止はICF環境因子の質を測定する指標として活用可能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虐待防止: 3つの虐待カテゴリと対策体系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養護者・施設従事者・精神科病院の包括的防止体制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26974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25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養護者虐待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通報11,656件 / 認定2,503件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警察55.9%が通報の主体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精神障害が47.6%で最多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家庭内人間関係45%が主因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34440"/>
            <a:ext cx="269748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325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施設従事者虐待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645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通報5,870件 / 認定1,267件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共同生活援助31.6%が最多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教育・知識の問題67.5%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虐待防止措置未実施で減算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234440"/>
            <a:ext cx="269748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325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精神科病院虐待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1645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通報6,258件 / 認定260件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0116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R6.4施行の通報制度で初集計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看護師202人が最多の加害者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管理者に防止措置義務化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109728" cy="1645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459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意思決定支援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意思決定支援ガイドライン・成年後見制度改革・合理的配慮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181件の関連記述を抽出（第94〜154回）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意思決定支援: 政策の変遷（2019〜2026）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ガイドライン策定から成年後見制度の抜本的見直しへ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54864" cy="1783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07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2019-20: 基盤整備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58191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障害福祉計画基本指針に意思決定支援を位置づけ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合理的配慮の推進と理解促進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34440"/>
            <a:ext cx="54864" cy="1783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307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2021前半: ガイドライン検討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58191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意思決定支援ガイドラインの運用状況確認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本人の意思を最大限尊重する支援のあり方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エンパワメントの観点からの見直し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34440"/>
            <a:ext cx="54864" cy="1783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307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2021後半〜22: 報告書反映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58191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成年後見制度利用促進基本計画との連動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障害者権利条約対日審査への対応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後見・保佐・補助の一元化検討開始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54680"/>
            <a:ext cx="54864" cy="1783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2023: 制度改革の具体化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5021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法制審議会で成年後見制度見直し本格化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補助への一元化案が中間試案に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障害者権利委員会の総括所見への対応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31546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154680"/>
            <a:ext cx="54864" cy="1783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2024: 法改正準備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35021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成年後見制度の見直しが障害者部会で報告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障害保健福祉関係法令への波及検討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合理的配慮の社会的浸透状況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1546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3154680"/>
            <a:ext cx="54864" cy="1783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2025-26: 制度改革の到達点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5021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後見・保佐廃止→補助一元化案の明確化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本人の自己決定権の実質的保障へ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第8期計画に意思決定支援を明記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意思決定支援: 成年後見制度改革の構造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現行3類型から「補助」一元化への抜本的見直し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80160"/>
            <a:ext cx="54864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533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現行制度の課題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3611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後見・保佐・補助の3類型は能力に応じた画一的分類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判断能力が回復しない限り利用を終了できない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後見人に包括的代理権 → 本人の自己決定が過度に制限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状況変化に応じた後見人の交代が困難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280160"/>
            <a:ext cx="54864" cy="18288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533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見直し後の制度設計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627632"/>
            <a:ext cx="3611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後見・保佐を廃止し「補助」に一元化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代理・取消し・取消しの特則を柔軟に選択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必要な支援内容に応じた制度利用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本人の自己決定権の実質的保障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83280"/>
            <a:ext cx="54864" cy="13716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56432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Puuの研究との接点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30752"/>
            <a:ext cx="8092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「本人が必要な支援を選択する」設計 → ケイパビリティ・アプローチにおける「選択の自由」の制度的保障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意思決定支援ガイドラインは、SoE（Service of Empowerment）の直接的な先行制度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「本人の意思の尊重」と「支援の必要性」の均衡は、準委任契約的な支援評価枠組みと接続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3テーマの交差点と相互関係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就労支援・虐待防止・意思決定支援の構造的連関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29000" y="1645920"/>
            <a:ext cx="2286000" cy="2286000"/>
          </a:xfrm>
          <a:prstGeom prst="ellipse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0116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本人主権型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支援の実現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2743200" cy="91440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就労支援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就労選択支援 → 本人が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働き方を選択する権利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743200" cy="91440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意思決定支援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成年後見改革 → 自己決定権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の実質的保障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虐待防止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構造的モニタリング → 善意に依存しない質の保証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Puuの研究フレームワークとの接続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SoE / Input Constitutional AI / ICF環境因子 × ケイパビリティ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54864" cy="1783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07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SoE（Service of Empowerment）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就労選択支援・意思決定支援ガイドラインは、SoEの「支援の質をgage（測定装置）で評価する」フレームワークの制度的先行例。虐待防止措置の義務化は、構造的モニタリングの実装。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54864" cy="1783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07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Constitutional 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就労アセスメントの標準化は、AIによる支援評価の基盤となり得る。障害者部会での議論は、「制度のinput側の質」を問う思想と整合する。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54680"/>
            <a:ext cx="54864" cy="1783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27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ICF環境因子 × ケイパビリティ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高次脳機能障害支援法の「社会的障壁の除去」、合理的配慮の推進は、ICFの環境因子をケイパビリティの前提条件として位置づける動向。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15468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54680"/>
            <a:ext cx="54864" cy="17830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227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社会構造の可視化（PL/BS/CF）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5661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A型の工賃推移はPL的指標、虐待防止体制はBS的インフラ、通報・改善のサイクルはCF的フローとして解釈可能。「自己責任＝社会側の簿外債務」の実証データ。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時系列まとめ: 主要マイルストーン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2019〜2026年の政策展開を一覧で整理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560320"/>
                <a:gridCol w="256032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年度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就労支援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虐待防止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意思決定支援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雇用・福祉連携PT設置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虐待対応状況調査の継続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基本指針に意思決定支援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通勤支援・職場支援検討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身体拘束廃止取組強化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合理的配慮の推進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就労選択支援の提案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虐待防止措置の義務化（R4〜）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意思決定支援GL検討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報告書に就労改革明記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第三者評価の制度化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成年後見改革の本格化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報酬改定議論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精神科病院の通報制度施行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法制審議会で中間試案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R6報酬改定(+1.12%)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減算措置強化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障害保健福祉法令改正検討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2025-26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A型賃金91,451円達成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精神科虐待初集計(260件)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補助一元化案の明確化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データソースと注意事項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13716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53312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データソース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627632"/>
            <a:ext cx="7909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厚生労働省 社会保障審議会 障害者部会 第94回〜第154回の全配布資料PDF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こども家庭審議会 障害児支援部会（合同開催分を含む）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対象期間: 2019年6月24日〜2026年1月19日（約6年半）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834640"/>
            <a:ext cx="54864" cy="13716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07792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抽出方法と留意事項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182112"/>
            <a:ext cx="7909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pdftotext による自動テキスト抽出 → キーワードマッチングで関連段落を抽出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PDFの構造（表・図）によりテキスト化の精度にばらつきあり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4フォルダ（第97, 98, 108, 129回）はMHLW側で404 → 抽出対象外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文脈の正確な解釈には原資料の参照を推奨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障害者部会 テーマ別政策動向解説（第94〜154回）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254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原資料: 厚生労働省 社会保障審議会 障害者部会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分析・作成: Claude（Cowork Session）/ 2026-03-04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4114800"/>
            <a:ext cx="1920240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就労支援サービス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4114800"/>
            <a:ext cx="192024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虐待防止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4114800"/>
            <a:ext cx="1920240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意思決定支援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障害者部会（第94〜154回）テーマ別政策動向解説</dc:title>
  <dc:subject>PptxGenJS Presentation</dc:subject>
  <dc:creator>Claude (Cowork)</dc:creator>
  <cp:lastModifiedBy>Claude (Cowork)</cp:lastModifiedBy>
  <cp:revision>1</cp:revision>
  <dcterms:created xsi:type="dcterms:W3CDTF">2026-03-04T10:25:36Z</dcterms:created>
  <dcterms:modified xsi:type="dcterms:W3CDTF">2026-03-04T10:25:36Z</dcterms:modified>
</cp:coreProperties>
</file>